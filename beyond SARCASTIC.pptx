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80" r:id="rId4"/>
    <p:sldId id="285" r:id="rId5"/>
    <p:sldId id="263" r:id="rId6"/>
    <p:sldId id="289" r:id="rId7"/>
    <p:sldId id="291" r:id="rId8"/>
    <p:sldId id="286" r:id="rId9"/>
    <p:sldId id="264" r:id="rId10"/>
    <p:sldId id="267" r:id="rId11"/>
    <p:sldId id="284" r:id="rId12"/>
    <p:sldId id="266" r:id="rId13"/>
    <p:sldId id="268" r:id="rId14"/>
    <p:sldId id="269" r:id="rId15"/>
    <p:sldId id="282" r:id="rId16"/>
    <p:sldId id="283" r:id="rId17"/>
    <p:sldId id="270" r:id="rId18"/>
    <p:sldId id="259" r:id="rId19"/>
    <p:sldId id="290" r:id="rId20"/>
    <p:sldId id="274" r:id="rId21"/>
    <p:sldId id="275" r:id="rId22"/>
    <p:sldId id="276" r:id="rId23"/>
    <p:sldId id="277" r:id="rId24"/>
    <p:sldId id="278" r:id="rId25"/>
    <p:sldId id="279" r:id="rId26"/>
    <p:sldId id="288" r:id="rId27"/>
    <p:sldId id="260" r:id="rId28"/>
    <p:sldId id="261" r:id="rId29"/>
    <p:sldId id="262" r:id="rId30"/>
    <p:sldId id="271" r:id="rId31"/>
    <p:sldId id="272" r:id="rId32"/>
    <p:sldId id="273" r:id="rId33"/>
    <p:sldId id="287" r:id="rId34"/>
    <p:sldId id="265"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7B4CF"/>
    <a:srgbClr val="ACCBDE"/>
    <a:srgbClr val="C3D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09" autoAdjust="0"/>
  </p:normalViewPr>
  <p:slideViewPr>
    <p:cSldViewPr snapToGrid="0" snapToObjects="1">
      <p:cViewPr varScale="1">
        <p:scale>
          <a:sx n="120" d="100"/>
          <a:sy n="120" d="100"/>
        </p:scale>
        <p:origin x="12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5512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State the goal in one sentence -- generate physically-grounded SAR raw data (and images) from an authored 3D scene, for algorithm testing / training data / detector development, without needing a real collection.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motivates the whole pipeline -- it’s not "make pretty radar pictures," it’s "generate raw phase history with known, controllable ground truth."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Landscape slide -- positions everything discussed so far (SBR substrate, ASC, Sinclair-matrix polarimetry, empirical clutter) against the broader field, including tools not otherwise mentioned (XPatch, MoM solvers). Sets up the gap-analysis slide immediately following.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direct pressure-test: does Ansys SBR+ already do full polarimetric multi-bounce with dense rays? Yes, confirmed against Ansys documentation (MBRDC ray density control, PO/GO hybrid with PTD/UTD diffraction). The honest answer is this pipeline is not novel relative to commercial SOTA -- it is a lower-cost, amortized-compute approximation of it, with a specific and measurable gap. State this plainly rather than let an interviewer who knows HFSS catch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pause on -- it’s the most likely place a first implementation silently produces wrong-looking results (dim buildings) without erroring. Sets up the speedup slide that follows directly.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Model: resolution held FIXED at 2m across all three scales (not re-tuned per scene -- that was an earlier, physically wrong draft: a 4m trihedral imaged at 20m GSD would be lost in clutter, since clutter power scales with resolution-cell area while target RCS is fixed). Pulse count instead scales with imaged footprint, assuming uniform structure density so footprint linear extent ~ sqrt(N); grounded at the real TerraSAR-X anchor (~4,497 pulses for the full 10km x 10km city at 2m). Build cost uses the worst-case B=2 sec/structure (blended ray-trace+classify+ML-fallback). n* is independent of platform/orbit choice given these assumptions -- it is NOT independent of the footprint-scaling assumption itself, which is the weakest-grounded piece here and worth saying so if asked.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 not measured. Range deliberately clipped to 100km^2 down to 0.1km^2 to stay inside the TerraSAR-X-anchored structure-density assumption (20,000 structures / 100km^2, held constant); extrapolating the same flat density up to 1000km^2 (~200,000 structures, roughly Tokyo-23-wards scale) pushes ASC-cached time to ~24 minutes vs ~59 hours for Ansys SBR+, but that's beyond the grounded anchor and worth flagging as extrapolation if it comes up. Per-pulse cost is T_FIXED (2ms, fixed overhead independent of scene content) plus N times the per-structure ray cost -- ASC's 0.5us/structure vs Ansys's 75us/structure. At small N the fixed overhead dominates for both methods and the gap between them closes; the advantage is entirely in the N-dependent term, which only matters once N gets large. This is phase-history generation only, not image formation, and it is a STEADY-STATE per-collect number -- a moving-target/moving-sensor sequence pays this cost again every frame unless a frame-differencing cache (reusing the static background's phase sum, recomputing only the moved geometry) is built, which is not reflected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generalization of Slide 8’s dihedral fix and Slide 10’s WINS column, now applied as the primary city-scale build strategy rather than a special case. The named prior art is "forward parametric scattering center modeling" (Hua et al. 2014 IEEE TAP; Huang et al. 2020 GPU-accelerated version, Microwave and Optical Technology Letters) -- ray-trace + geometric cluster + directly determine parameters, no inverse optimization. The fallback number (0.06s/scattering-center) is from Yue &amp; Xu, JEIT 2024, a physics-informed ML inversion method -- caveat clearly that this is inference cost for an already-trained network, not raw optimization-from-scratch, and training that network is a separate cost not covered 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this as amortizing the Slide 8 cost, not avoiding physics -- the expensive step still happens, just once per structure instead of once per pulse.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Correction/refinement to the earlier scalar-reflectivity description -- worth explicitly noting that this replaces the simpler version once polarimetry is in scope.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made concrete: an H-polarized wave hitting a trihedral whose first face is a V-oriented dipole grid has zero projection onto that face’s axis -- the field is nulled at the very first bounce, before Faces 2/3 ever see anything. A scalar/PEC model (what SARCASTIC does today) has no per-face polarization state, so it cannot represent this -- it would predict the opposite: a trihedral is the textbook maximum-RCS, aspect-insensitive calibration target. This is the concrete payoff of Slide 12’s Sinclair-matrix treatment -- it is not a fidelity nicety, it changes the predicted answer from strong to zero.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"cross-pol from rotation" (predictable) vs "cross-pol from depolarization" (statistical) is worth dwelling on -- easy to conflate and it matters for interpreting/validating simulated output.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cost-control decision -- ray tracing (or ASC) buys you the deterministic bright returns that matter for detection; empirical models handle the diffuse background cheaply and realistically.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claim comes up in Q&amp;A, this is the correction: neither ASC nor SBR alone determines whether you get Doppler. What’s missing for weather is a moving, distributed, stochastic scatterer population -- a different problem from picking a scattering representation for rigid structures.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reuse Step 6’s forward model unchanged -- just make position time-varying. Maneuvering contacts are where ASC earns its keep: its aspect-angle parameterization means a hard turn is just a different closed-form evaluation, not a re-trace. Contrast with raw SBR, which would need a full re-trace at the target’s new pose every pulse -- worst case of the Slide 8 gotcha, now driven by target rotation instead of platform motion.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scope-setting slide for this extension: GMTI is a sensor-architecture change (multiple coherent phase centers + clutter cancellation + a detection/track backend), not an add-on scatterer type. The bonus card captures the "fly JSTARS over a game-engine scene with actors" idea -- the key implementation gotcha is decoupling actor kinematics from the engine’s live tick rate.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genuinely new model layer, not a re-use of ASC or SBR machinery -- say so plainly. Doviak &amp; Zrnić is the standard citation for the Doppler spectrum treatment if asked for a reference.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map of everything that follows. Come back to this between sections if useful.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"gap is measured, not assumed" line from the Positioning slide and the "this is also where the pipeline is falsifiable" line from Step 7 -- both promised a validation section, this is it. Ordering is deliberate: cheap/diagnostic first, expensive/holistic last. A failure at tier 1 or 2 pinpoints the bug (forward model vs. ASC compression); a failure only visible at tier 4 is much harder to localize, which is exactly why it should not be the first or only check run. Tier 4 is grounded in existing public reference data (MSTAR/SAMPLE) rather than a hypothetical "real SAR imagery" placeholder -- per explicit request, the validation approach should leverage existing reference datasets rather than assume a bespoke real collection. Note MSTAR/SAMPLE targets are ground vehicles, not idealized canonical shapes, so they enter at Tier 4 (scene/target-level statistics) rather than Tier 1 (which stays a synthetic trihedral/dihedral/sphere check against closed-form theory). Tier 2 gotcha worth saying out loud if asked: SSIM has to be computed with the SAME noise realization (or noiseless) in both the dense-SBR and ASC-cached branches -- SAR speckle is multiplicative, so two structurally identical images with independent speckle draws will show a depressed SSIM that has nothing to do with the compression being tested. Tier 2.5 gotcha, worth being precise about if asked: the ASC model's x_k/y_k(/z_k) are aperture-relative down-range/cross-range coordinates for the fitted sector, not free-standing world-frame Cartesian positions -- they are only well-determined along whatever dimensions the aperture has real diversity in (bandwidth gives range, integration angle gives cross-range; out-of-plane/height needs actual elevation-angle diversity, e.g. multi-pass or circular SAR, or it is ill-conditioned even though the model formally carries a z_k term). This pipeline's own build stage reads position directly from the mesh rather than inverting it from data, so comparing THAT number to the mesh is circular -- the real test extracts position from the phase history via CLEAN/matrix-pencil as if it were unknown, the same way the SARCASTIC integration's "Fit" stage would, and checks whether that recovers the true mesh position, with the expected anisotropy reported rather than hidden in a single combined error number.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instance of Tier 1 from the previous slide, chosen because it directly exercises the Sinclair-matrix/Gotcha content from the Polarization slide -- a basis-convention bug is exactly the kind of thing that produces a plausible-looking but wrong image rather than an obvious crash, which is why it needs a check that can actually distinguish right from wrong rather than a glance.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for the case-study section. This grounds the last several slides’ concepts (SBR substrate, ASC speedup, Sinclair-matrix polarimetry) against a real, publicly-available codebase rather than leaving them abstract.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442264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load-bearing fact for the whole case study: PEC-only, scalar, geometric-cross-pol-only. Everything on the next two slides is a consequence of this baseline.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4193144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is a days-scale sanity check that validates the CPHD multi-channel plumbing end to end. B is the one that actually matches this deck’s Sinclair-matrix treatment (Slide 12) and gives correct material-dependent polarimetry, not just geometric dihedral cross-pol.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015174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needs zero new code. Stage 2 is a one-time offline job, fine in Python even though the core is C/C++. Stage 3 is the only part that touches the hot per-pulse loop, and it’s deliberately much cheaper than the ray-traced path it’s replacing.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806039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Landing slide -- restate the core reframe (radar problem, not rendering problem) and give a concrete "what to build first" recommendation.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80603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a re-tagging step, not something you get from existing game assets -- you’re throwing away the visual material and keeping only geometry.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engineering decision point. Staying inside Unity/Unreal buys procedural terrain, asset libraries, trajectory scripting, and batch scene automation for dataset generation -- worth it if generating many diverse scenes, less so for one careful scene.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heart of "how do buildings show up correctly." Flag clearly: single-bounce-only tracing will silently miss the brightest returns in any urban scene.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point-scatterer forward model developed earlier for target injection -- the whole scene now flows through that one mechanism, regardless of whether a given contribution came from ray tracing or an ASC evaluation.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closing-the-loop slide -- ties back to the earlier RDA/ω-k material if this deck follows that content, or stands alone as "and then you image it normally."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for setting expectations with an audience about scope/timeline. Tier 2.5 is the practical sweet spot once Tier 2 is working and per-pulse re-tracing shows up as the bottleneck. Weather is a separate axis -- call that out explicitly if asked "which tier includes rain."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Slide 11’s "the win only shows up at scale" claim concrete with worked numbers. Sources: RT-core Gigarays/s benchmarks (Turing 10+, Ampere ~2x, Ada 3rd-gen); Willis &amp; Hossain, "Hardware-Accelerated SAR Simulation with NVIDIA-RTX Technology," arXiv:2005.09736 (OptiX-based SAR phase history, orders-of-magnitude speedup, additional order of magnitude specifically from RT cores); Auer/Hinz/Bamler DLR lineage (RaySAR) for the 9,950-building/100ms city-scale benchmark, flagged explicitly as a coarser fidelity treatment, not directly comparable fidelity to the Ansys-class numbers above. H100/A100 explicitly excluded from this estimate -- confirmed via search to lack RT cores entirely; RTX-class hardware is architecturally correct here.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bonus point ties this back to the model-based/template-matching detection discussion earlier in the series, if this deck follows that thread -- reuse, not a new concept.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692640" y="2331720"/>
            <a:ext cx="1920240" cy="1920240"/>
          </a:xfrm>
          <a:prstGeom prst="ellipse">
            <a:avLst/>
          </a:prstGeom>
          <a:solidFill>
            <a:srgbClr val="FF9E2C"/>
          </a:solidFill>
          <a:ln/>
        </p:spPr>
      </p:sp>
      <p:pic>
        <p:nvPicPr>
          <p:cNvPr id="3" name="Image 0" descr="/sessions/sweet-friendly-mayer/mnt/outputs/presentation/icons/FaSatelliteDish_dark.png"/>
          <p:cNvPicPr>
            <a:picLocks noChangeAspect="1"/>
          </p:cNvPicPr>
          <p:nvPr/>
        </p:nvPicPr>
        <p:blipFill>
          <a:blip r:embed="rId3"/>
          <a:stretch>
            <a:fillRect/>
          </a:stretch>
        </p:blipFill>
        <p:spPr>
          <a:xfrm>
            <a:off x="10211105" y="2850185"/>
            <a:ext cx="883310" cy="883310"/>
          </a:xfrm>
          <a:prstGeom prst="rect">
            <a:avLst/>
          </a:prstGeom>
        </p:spPr>
      </p:pic>
      <p:sp>
        <p:nvSpPr>
          <p:cNvPr id="5" name="Text 2"/>
          <p:cNvSpPr/>
          <p:nvPr/>
        </p:nvSpPr>
        <p:spPr>
          <a:xfrm>
            <a:off x="594360" y="2651760"/>
            <a:ext cx="8686800" cy="1463040"/>
          </a:xfrm>
          <a:prstGeom prst="rect">
            <a:avLst/>
          </a:prstGeom>
          <a:noFill/>
          <a:ln/>
        </p:spPr>
        <p:txBody>
          <a:bodyPr wrap="square" lIns="0" tIns="0" rIns="0" bIns="0" rtlCol="0" anchor="ctr"/>
          <a:lstStyle/>
          <a:p>
            <a:r>
              <a:rPr lang="en-US" sz="4400" b="1" dirty="0"/>
              <a:t>Beyond SARCASTIC: </a:t>
            </a:r>
          </a:p>
          <a:p>
            <a:r>
              <a:rPr lang="en-US" sz="4400" dirty="0"/>
              <a:t>Closing the Gap to Ansys SAR Simulation</a:t>
            </a:r>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simulate Synthetic Aperture Radar (SAR) from a 3D scene?</a:t>
            </a:r>
            <a:endParaRPr lang="en-US" sz="2800" dirty="0"/>
          </a:p>
        </p:txBody>
      </p:sp>
      <p:sp>
        <p:nvSpPr>
          <p:cNvPr id="4" name="Shape 2"/>
          <p:cNvSpPr/>
          <p:nvPr/>
        </p:nvSpPr>
        <p:spPr>
          <a:xfrm>
            <a:off x="54864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148840"/>
            <a:ext cx="685800" cy="685800"/>
          </a:xfrm>
          <a:prstGeom prst="ellipse">
            <a:avLst/>
          </a:prstGeom>
          <a:solidFill>
            <a:srgbClr val="FF9E2C"/>
          </a:solidFill>
          <a:ln/>
        </p:spPr>
      </p:sp>
      <p:pic>
        <p:nvPicPr>
          <p:cNvPr id="6" name="Image 0" descr="/sessions/sweet-friendly-mayer/mnt/outputs/presentation/icons/FaTools_dark.png"/>
          <p:cNvPicPr>
            <a:picLocks noChangeAspect="1"/>
          </p:cNvPicPr>
          <p:nvPr/>
        </p:nvPicPr>
        <p:blipFill>
          <a:blip r:embed="rId3"/>
          <a:stretch>
            <a:fillRect/>
          </a:stretch>
        </p:blipFill>
        <p:spPr>
          <a:xfrm>
            <a:off x="1008126" y="2334006"/>
            <a:ext cx="315468" cy="315468"/>
          </a:xfrm>
          <a:prstGeom prst="rect">
            <a:avLst/>
          </a:prstGeom>
        </p:spPr>
      </p:pic>
      <p:sp>
        <p:nvSpPr>
          <p:cNvPr id="7" name="Text 4"/>
          <p:cNvSpPr/>
          <p:nvPr/>
        </p:nvSpPr>
        <p:spPr>
          <a:xfrm>
            <a:off x="169164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Real collections are expensive and access-restricted</a:t>
            </a:r>
            <a:endParaRPr lang="en-US" sz="1450" dirty="0"/>
          </a:p>
        </p:txBody>
      </p:sp>
      <p:sp>
        <p:nvSpPr>
          <p:cNvPr id="8" name="Text 5"/>
          <p:cNvSpPr/>
          <p:nvPr/>
        </p:nvSpPr>
        <p:spPr>
          <a:xfrm>
            <a:off x="82296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Sparse in target diversity; hard to get controlled variety</a:t>
            </a:r>
            <a:endParaRPr lang="en-US" sz="1200" dirty="0"/>
          </a:p>
        </p:txBody>
      </p:sp>
      <p:sp>
        <p:nvSpPr>
          <p:cNvPr id="9" name="Shape 6"/>
          <p:cNvSpPr/>
          <p:nvPr/>
        </p:nvSpPr>
        <p:spPr>
          <a:xfrm>
            <a:off x="617220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148840"/>
            <a:ext cx="685800" cy="685800"/>
          </a:xfrm>
          <a:prstGeom prst="ellipse">
            <a:avLst/>
          </a:prstGeom>
          <a:solidFill>
            <a:srgbClr val="FF9E2C"/>
          </a:solidFill>
          <a:ln/>
        </p:spPr>
      </p:sp>
      <p:pic>
        <p:nvPicPr>
          <p:cNvPr id="11" name="Image 1" descr="/sessions/sweet-friendly-mayer/mnt/outputs/presentation/icons/FaCheckCircle_dark.png"/>
          <p:cNvPicPr>
            <a:picLocks noChangeAspect="1"/>
          </p:cNvPicPr>
          <p:nvPr/>
        </p:nvPicPr>
        <p:blipFill>
          <a:blip r:embed="rId4"/>
          <a:stretch>
            <a:fillRect/>
          </a:stretch>
        </p:blipFill>
        <p:spPr>
          <a:xfrm>
            <a:off x="6631686" y="2334006"/>
            <a:ext cx="315468" cy="315468"/>
          </a:xfrm>
          <a:prstGeom prst="rect">
            <a:avLst/>
          </a:prstGeom>
        </p:spPr>
      </p:pic>
      <p:sp>
        <p:nvSpPr>
          <p:cNvPr id="12" name="Text 8"/>
          <p:cNvSpPr/>
          <p:nvPr/>
        </p:nvSpPr>
        <p:spPr>
          <a:xfrm>
            <a:off x="731520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Ground truth you can’t get from real data</a:t>
            </a:r>
            <a:endParaRPr lang="en-US" sz="1450" dirty="0"/>
          </a:p>
        </p:txBody>
      </p:sp>
      <p:sp>
        <p:nvSpPr>
          <p:cNvPr id="13" name="Text 9"/>
          <p:cNvSpPr/>
          <p:nvPr/>
        </p:nvSpPr>
        <p:spPr>
          <a:xfrm>
            <a:off x="644652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Exact target pose, position, and material -- known, not estimated</a:t>
            </a:r>
            <a:endParaRPr lang="en-US" sz="1200" dirty="0"/>
          </a:p>
        </p:txBody>
      </p:sp>
      <p:sp>
        <p:nvSpPr>
          <p:cNvPr id="14" name="Shape 10"/>
          <p:cNvSpPr/>
          <p:nvPr/>
        </p:nvSpPr>
        <p:spPr>
          <a:xfrm>
            <a:off x="54864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85800" cy="685800"/>
          </a:xfrm>
          <a:prstGeom prst="ellipse">
            <a:avLst/>
          </a:prstGeom>
          <a:solidFill>
            <a:srgbClr val="FF9E2C"/>
          </a:solidFill>
          <a:ln/>
        </p:spPr>
      </p:sp>
      <p:pic>
        <p:nvPicPr>
          <p:cNvPr id="16" name="Image 2" descr="/sessions/sweet-friendly-mayer/mnt/outputs/presentation/icons/FaLayerGroup_dark.png"/>
          <p:cNvPicPr>
            <a:picLocks noChangeAspect="1"/>
          </p:cNvPicPr>
          <p:nvPr/>
        </p:nvPicPr>
        <p:blipFill>
          <a:blip r:embed="rId5"/>
          <a:stretch>
            <a:fillRect/>
          </a:stretch>
        </p:blipFill>
        <p:spPr>
          <a:xfrm>
            <a:off x="1008126" y="4620006"/>
            <a:ext cx="315468" cy="315468"/>
          </a:xfrm>
          <a:prstGeom prst="rect">
            <a:avLst/>
          </a:prstGeom>
        </p:spPr>
      </p:pic>
      <p:sp>
        <p:nvSpPr>
          <p:cNvPr id="17" name="Text 12"/>
          <p:cNvSpPr/>
          <p:nvPr/>
        </p:nvSpPr>
        <p:spPr>
          <a:xfrm>
            <a:off x="169164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Controlled experiments</a:t>
            </a:r>
            <a:endParaRPr lang="en-US" sz="1450" dirty="0"/>
          </a:p>
        </p:txBody>
      </p:sp>
      <p:sp>
        <p:nvSpPr>
          <p:cNvPr id="18" name="Text 13"/>
          <p:cNvSpPr/>
          <p:nvPr/>
        </p:nvSpPr>
        <p:spPr>
          <a:xfrm>
            <a:off x="82296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Vary geometry, aspect angle, material, and clutter independently</a:t>
            </a:r>
            <a:endParaRPr lang="en-US" sz="1200" dirty="0"/>
          </a:p>
        </p:txBody>
      </p:sp>
      <p:sp>
        <p:nvSpPr>
          <p:cNvPr id="19" name="Shape 14"/>
          <p:cNvSpPr/>
          <p:nvPr/>
        </p:nvSpPr>
        <p:spPr>
          <a:xfrm>
            <a:off x="617220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85800" cy="685800"/>
          </a:xfrm>
          <a:prstGeom prst="ellipse">
            <a:avLst/>
          </a:prstGeom>
          <a:solidFill>
            <a:srgbClr val="FF9E2C"/>
          </a:solidFill>
          <a:ln/>
        </p:spPr>
      </p:sp>
      <p:pic>
        <p:nvPicPr>
          <p:cNvPr id="21" name="Image 3" descr="/sessions/sweet-friendly-mayer/mnt/outputs/presentation/icons/FaCube_dark.png"/>
          <p:cNvPicPr>
            <a:picLocks noChangeAspect="1"/>
          </p:cNvPicPr>
          <p:nvPr/>
        </p:nvPicPr>
        <p:blipFill>
          <a:blip r:embed="rId6"/>
          <a:stretch>
            <a:fillRect/>
          </a:stretch>
        </p:blipFill>
        <p:spPr>
          <a:xfrm>
            <a:off x="6631686" y="4620006"/>
            <a:ext cx="315468" cy="315468"/>
          </a:xfrm>
          <a:prstGeom prst="rect">
            <a:avLst/>
          </a:prstGeom>
        </p:spPr>
      </p:pic>
      <p:sp>
        <p:nvSpPr>
          <p:cNvPr id="22" name="Text 16"/>
          <p:cNvSpPr/>
          <p:nvPr/>
        </p:nvSpPr>
        <p:spPr>
          <a:xfrm>
            <a:off x="731520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Feeds detector / Automatic Target Recognition (ATR) development</a:t>
            </a:r>
            <a:endParaRPr lang="en-US" sz="1450" dirty="0"/>
          </a:p>
        </p:txBody>
      </p:sp>
      <p:sp>
        <p:nvSpPr>
          <p:cNvPr id="23" name="Text 17"/>
          <p:cNvSpPr/>
          <p:nvPr/>
        </p:nvSpPr>
        <p:spPr>
          <a:xfrm>
            <a:off x="644652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Synthetic training data augmentation, e.g. target injection into real clutter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LANDSCAPE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Simulation Classes &amp; Gap Analysis</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662709930"/>
              </p:ext>
            </p:extLst>
          </p:nvPr>
        </p:nvGraphicFramePr>
        <p:xfrm>
          <a:off x="457200" y="1203568"/>
          <a:ext cx="11247120" cy="4578508"/>
        </p:xfrm>
        <a:graphic>
          <a:graphicData uri="http://schemas.openxmlformats.org/drawingml/2006/table">
            <a:tbl>
              <a:tblPr/>
              <a:tblGrid>
                <a:gridCol w="19202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51693">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Physics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Scene scale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Polarization / examples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Full-wave (Method of Moments / Finite Element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Exact numerical Maxwell solve on the meshed surface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Electrically small objects only (a few λ)</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exact — FEKO MoM, HFSS FEM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Discrete-target Shooting/Bouncing Rays (SBR) + PTD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physical theory of diffraction (PTD)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One target at a time — cost explodes with object count / scene size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per-material — XPatch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Scene-scale SBR</a:t>
                      </a:r>
                      <a:br>
                        <a:rPr lang="en-US" sz="1050" dirty="0">
                          <a:solidFill>
                            <a:srgbClr val="141A22"/>
                          </a:solidFill>
                          <a:latin typeface="Calibri" pitchFamily="34" charset="0"/>
                          <a:ea typeface="Calibri" pitchFamily="34" charset="-122"/>
                          <a:cs typeface="Calibri" pitchFamily="34" charset="-120"/>
                        </a:rPr>
                      </a:br>
                      <a:r>
                        <a:rPr lang="en-US" sz="1050" dirty="0">
                          <a:solidFill>
                            <a:srgbClr val="141A22"/>
                          </a:solidFill>
                          <a:latin typeface="Calibri" pitchFamily="34" charset="0"/>
                          <a:ea typeface="Calibri" pitchFamily="34" charset="-122"/>
                          <a:cs typeface="Calibri" pitchFamily="34" charset="-120"/>
                        </a:rPr>
                        <a:t>(Gaming Engine World Creation)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Same ray-tracing core, relaxed: coarser mesh, PO only, PTD usually dropped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Whole environments — terrain + many objects, tractable runtime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Usually scalar / single real vector — SARCASTIC, </a:t>
                      </a:r>
                      <a:r>
                        <a:rPr lang="en-US" sz="1050" dirty="0" err="1">
                          <a:solidFill>
                            <a:srgbClr val="141A22"/>
                          </a:solidFill>
                          <a:latin typeface="Calibri" pitchFamily="34" charset="0"/>
                          <a:ea typeface="Calibri" pitchFamily="34" charset="-122"/>
                          <a:cs typeface="Calibri" pitchFamily="34" charset="-120"/>
                        </a:rPr>
                        <a:t>RaySAR</a:t>
                      </a:r>
                      <a:r>
                        <a:rPr lang="en-US" sz="1050" dirty="0">
                          <a:solidFill>
                            <a:srgbClr val="141A22"/>
                          </a:solidFill>
                          <a:latin typeface="Calibri" pitchFamily="34" charset="0"/>
                          <a:ea typeface="Calibri" pitchFamily="34" charset="-122"/>
                          <a:cs typeface="Calibri" pitchFamily="34" charset="-120"/>
                        </a:rPr>
                        <a:t>, MATLAB</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3"/>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Parametric / Attributed Scattering Center (ASC) – Geometric Theory of Diffraction (GTD)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fit to scattering-center parameters — not a first-principles solve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Wherever it was fit (bounded aspect / frequency sector)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Inherits whatever generated the fit — Potter &amp; Moses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4"/>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Empirical / statistical clutter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Measured or regression backscatter statistics, no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Any area, cheaply — no scene-specific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Per-channel σ⁰ only, no coherent phase — Barton, GIT, Billingsley, Oh/IEM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5"/>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Dense SBR + UTD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Uniform Theory of Diffraction (UTD)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Open world with moving actors (current Gold Standard)</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Ansys Perceive EM/SBR+</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extLst>
                  <a:ext uri="{0D108BD9-81ED-4DB2-BD59-A6C34878D82A}">
                    <a16:rowId xmlns:a16="http://schemas.microsoft.com/office/drawing/2014/main" val="888267518"/>
                  </a:ext>
                </a:extLst>
              </a:tr>
            </a:tbl>
          </a:graphicData>
        </a:graphic>
      </p:graphicFrame>
      <p:sp>
        <p:nvSpPr>
          <p:cNvPr id="4" name="TextBox 3">
            <a:extLst>
              <a:ext uri="{FF2B5EF4-FFF2-40B4-BE49-F238E27FC236}">
                <a16:creationId xmlns:a16="http://schemas.microsoft.com/office/drawing/2014/main" id="{B3EECEF6-EDBC-5573-7CB7-9D87C777B4A4}"/>
              </a:ext>
            </a:extLst>
          </p:cNvPr>
          <p:cNvSpPr txBox="1"/>
          <p:nvPr/>
        </p:nvSpPr>
        <p:spPr>
          <a:xfrm>
            <a:off x="2409306" y="6081978"/>
            <a:ext cx="7342908" cy="369332"/>
          </a:xfrm>
          <a:prstGeom prst="rect">
            <a:avLst/>
          </a:prstGeom>
          <a:noFill/>
        </p:spPr>
        <p:txBody>
          <a:bodyPr wrap="none" rtlCol="0">
            <a:spAutoFit/>
          </a:bodyPr>
          <a:lstStyle/>
          <a:p>
            <a:r>
              <a:rPr lang="en-US" dirty="0"/>
              <a:t>Can we combine approaches to get close to Ansys with lower cost/compute?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POSITIONING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The goal isn’t to beat Ansys -- it’s to get close, for less cost &amp; compute</a:t>
            </a:r>
            <a:endParaRPr lang="en-US" sz="2300" dirty="0"/>
          </a:p>
        </p:txBody>
      </p:sp>
      <p:sp>
        <p:nvSpPr>
          <p:cNvPr id="4" name="Text 2"/>
          <p:cNvSpPr/>
          <p:nvPr/>
        </p:nvSpPr>
        <p:spPr>
          <a:xfrm>
            <a:off x="548640" y="1282115"/>
            <a:ext cx="10698480" cy="685800"/>
          </a:xfrm>
          <a:prstGeom prst="rect">
            <a:avLst/>
          </a:prstGeom>
          <a:noFill/>
          <a:ln/>
        </p:spPr>
        <p:txBody>
          <a:bodyPr wrap="square" lIns="0" tIns="0" rIns="0" bIns="0" rtlCol="0" anchor="t"/>
          <a:lstStyle/>
          <a:p>
            <a:pPr>
              <a:lnSpc>
                <a:spcPct val="115000"/>
              </a:lnSpc>
            </a:pPr>
            <a:r>
              <a:rPr lang="en-US" sz="1400" dirty="0">
                <a:solidFill>
                  <a:srgbClr val="141A22"/>
                </a:solidFill>
                <a:latin typeface="Calibri" pitchFamily="34" charset="0"/>
                <a:ea typeface="Calibri" pitchFamily="34" charset="-122"/>
                <a:cs typeface="Calibri" pitchFamily="34" charset="-120"/>
              </a:rPr>
              <a:t>Ansys Perceive EM/SBR+ already does dense multi-bounce ray tracing with per-bounce polarimetric materials, plus PTD/</a:t>
            </a:r>
            <a:r>
              <a:rPr lang="en-US" sz="1400" dirty="0"/>
              <a:t> Uniform Theory of Diffraction  (</a:t>
            </a:r>
            <a:r>
              <a:rPr lang="en-US" sz="1400" dirty="0">
                <a:solidFill>
                  <a:srgbClr val="141A22"/>
                </a:solidFill>
                <a:latin typeface="Calibri" pitchFamily="34" charset="0"/>
                <a:ea typeface="Calibri" pitchFamily="34" charset="-122"/>
                <a:cs typeface="Calibri" pitchFamily="34" charset="-120"/>
              </a:rPr>
              <a:t>UTD) diffraction and creeping waves. That’s a mature, commercial, full-featured solver -- </a:t>
            </a:r>
            <a:r>
              <a:rPr lang="en-US" sz="1400" b="1" dirty="0">
                <a:solidFill>
                  <a:srgbClr val="141A22"/>
                </a:solidFill>
                <a:latin typeface="Calibri" pitchFamily="34" charset="0"/>
                <a:ea typeface="Calibri" pitchFamily="34" charset="-122"/>
                <a:cs typeface="Calibri" pitchFamily="34" charset="-120"/>
              </a:rPr>
              <a:t>this pipeline does not out-perform it on physics.</a:t>
            </a:r>
            <a:endParaRPr lang="en-US" sz="1400" dirty="0"/>
          </a:p>
        </p:txBody>
      </p:sp>
      <p:sp>
        <p:nvSpPr>
          <p:cNvPr id="5" name="Shape 3"/>
          <p:cNvSpPr/>
          <p:nvPr/>
        </p:nvSpPr>
        <p:spPr>
          <a:xfrm>
            <a:off x="54864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6" name="Text 4"/>
          <p:cNvSpPr/>
          <p:nvPr/>
        </p:nvSpPr>
        <p:spPr>
          <a:xfrm>
            <a:off x="822960" y="2514600"/>
            <a:ext cx="4572000" cy="320040"/>
          </a:xfrm>
          <a:prstGeom prst="rect">
            <a:avLst/>
          </a:prstGeom>
          <a:noFill/>
          <a:ln/>
        </p:spPr>
        <p:txBody>
          <a:bodyPr wrap="square" lIns="0" tIns="0" rIns="0" bIns="0" rtlCol="0" anchor="ctr"/>
          <a:lstStyle/>
          <a:p>
            <a:pPr marL="0" indent="0">
              <a:buNone/>
            </a:pPr>
            <a:r>
              <a:rPr lang="en-US" sz="1300" b="1" kern="0" spc="150" dirty="0">
                <a:solidFill>
                  <a:srgbClr val="0B7285"/>
                </a:solidFill>
                <a:latin typeface="Calibri" pitchFamily="34" charset="0"/>
                <a:ea typeface="Calibri" pitchFamily="34" charset="-122"/>
                <a:cs typeface="Calibri" pitchFamily="34" charset="-120"/>
              </a:rPr>
              <a:t>THE ACTUAL CLAIM</a:t>
            </a:r>
            <a:endParaRPr lang="en-US" sz="1300" dirty="0"/>
          </a:p>
        </p:txBody>
      </p:sp>
      <p:sp>
        <p:nvSpPr>
          <p:cNvPr id="7" name="Text 5"/>
          <p:cNvSpPr/>
          <p:nvPr/>
        </p:nvSpPr>
        <p:spPr>
          <a:xfrm>
            <a:off x="82296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Close to dense SBR accuracy, for a fraction of the AMORTIZED compute -- ASC caches the expensive part once per structure and reuses it across every pulse, aspect, and scenario</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The win only shows up at scale (a full phase history, an ATR training sweep, a Ground Moving Target Indicator channel set) -- not for a single one-off look</a:t>
            </a:r>
            <a:endParaRPr lang="en-US" sz="1250" dirty="0"/>
          </a:p>
        </p:txBody>
      </p:sp>
      <p:sp>
        <p:nvSpPr>
          <p:cNvPr id="8" name="Shape 6"/>
          <p:cNvSpPr/>
          <p:nvPr/>
        </p:nvSpPr>
        <p:spPr>
          <a:xfrm>
            <a:off x="612648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9" name="Text 7"/>
          <p:cNvSpPr/>
          <p:nvPr/>
        </p:nvSpPr>
        <p:spPr>
          <a:xfrm>
            <a:off x="6400800" y="2514600"/>
            <a:ext cx="4572000" cy="320040"/>
          </a:xfrm>
          <a:prstGeom prst="rect">
            <a:avLst/>
          </a:prstGeom>
          <a:noFill/>
          <a:ln/>
        </p:spPr>
        <p:txBody>
          <a:bodyPr wrap="square" lIns="0" tIns="0" rIns="0" bIns="0" rtlCol="0" anchor="ctr"/>
          <a:lstStyle/>
          <a:p>
            <a:pPr marL="0" indent="0">
              <a:buNone/>
            </a:pPr>
            <a:r>
              <a:rPr lang="en-US" sz="1300" b="1" kern="0" spc="150" dirty="0">
                <a:solidFill>
                  <a:srgbClr val="B85C00"/>
                </a:solidFill>
                <a:latin typeface="Calibri" pitchFamily="34" charset="0"/>
                <a:ea typeface="Calibri" pitchFamily="34" charset="-122"/>
                <a:cs typeface="Calibri" pitchFamily="34" charset="-120"/>
              </a:rPr>
              <a:t>THE HONEST GAP</a:t>
            </a:r>
            <a:endParaRPr lang="en-US" sz="1300" dirty="0"/>
          </a:p>
        </p:txBody>
      </p:sp>
      <p:sp>
        <p:nvSpPr>
          <p:cNvPr id="10" name="Text 8"/>
          <p:cNvSpPr/>
          <p:nvPr/>
        </p:nvSpPr>
        <p:spPr>
          <a:xfrm>
            <a:off x="640080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Diffraction (PTD, creeping waves) -- Ansys models it, this pipeline currently doesn’t</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Near-field coupling between adjacent structures -- structurally invisible to a per-structure closed-form cache, not a bug to fix</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Gap is measured, not assumed -- quantified via the dense-SBR-vs-ASC regression suite (validation section)</a:t>
            </a:r>
            <a:endParaRPr lang="en-US" sz="1250" dirty="0"/>
          </a:p>
        </p:txBody>
      </p:sp>
      <p:sp>
        <p:nvSpPr>
          <p:cNvPr id="11" name="Shape 9"/>
          <p:cNvSpPr/>
          <p:nvPr/>
        </p:nvSpPr>
        <p:spPr>
          <a:xfrm>
            <a:off x="548640" y="5074920"/>
            <a:ext cx="10698480" cy="1051560"/>
          </a:xfrm>
          <a:prstGeom prst="roundRect">
            <a:avLst>
              <a:gd name="adj" fmla="val 6957"/>
            </a:avLst>
          </a:prstGeom>
          <a:solidFill>
            <a:srgbClr val="E6EAF0"/>
          </a:solidFill>
          <a:ln/>
          <a:effectLst>
            <a:outerShdw blurRad="101600" dist="38100" dir="5400000" algn="bl" rotWithShape="0">
              <a:srgbClr val="9AA5B1">
                <a:alpha val="22000"/>
              </a:srgbClr>
            </a:outerShdw>
          </a:effectLst>
        </p:spPr>
      </p:sp>
      <p:sp>
        <p:nvSpPr>
          <p:cNvPr id="12" name="Text 10"/>
          <p:cNvSpPr/>
          <p:nvPr/>
        </p:nvSpPr>
        <p:spPr>
          <a:xfrm>
            <a:off x="822960" y="5074920"/>
            <a:ext cx="10149840" cy="105156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Bottom line:  </a:t>
            </a:r>
            <a:r>
              <a:rPr lang="en-US" sz="1300" dirty="0">
                <a:solidFill>
                  <a:srgbClr val="141A22"/>
                </a:solidFill>
                <a:latin typeface="Calibri" pitchFamily="34" charset="0"/>
                <a:ea typeface="Calibri" pitchFamily="34" charset="-122"/>
                <a:cs typeface="Calibri" pitchFamily="34" charset="-120"/>
              </a:rPr>
              <a:t>this is an engineering tradeoff claim -- most of the accuracy that matters for target use cases, with a lower amortized cost, with the gap stated precisely enough to defend in a room that knows Ansys.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FF9E2C"/>
          </a:solidFill>
          <a:ln/>
        </p:spPr>
      </p:sp>
      <p:pic>
        <p:nvPicPr>
          <p:cNvPr id="4" name="Image 0" descr="/sessions/sweet-friendly-mayer/mnt/outputs/presentation/icons/FaExclamationTriangle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B85C00"/>
                </a:solidFill>
                <a:latin typeface="Calibri" pitchFamily="34" charset="0"/>
                <a:ea typeface="Calibri" pitchFamily="34" charset="-122"/>
                <a:cs typeface="Calibri" pitchFamily="34" charset="-120"/>
              </a:rPr>
              <a:t>GOTCHA</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Why is Ansys so computationally expensive?</a:t>
            </a:r>
          </a:p>
          <a:p>
            <a:pPr marL="0" indent="0">
              <a:buNone/>
            </a:pPr>
            <a:r>
              <a:rPr lang="en-US" sz="2400" b="1" dirty="0">
                <a:solidFill>
                  <a:srgbClr val="141A22"/>
                </a:solidFill>
                <a:latin typeface="Cambria" pitchFamily="34" charset="0"/>
                <a:ea typeface="Cambria" pitchFamily="34" charset="-122"/>
                <a:cs typeface="Cambria" pitchFamily="34" charset="-120"/>
              </a:rPr>
              <a:t> </a:t>
            </a:r>
            <a:endParaRPr lang="en-US" sz="2400" dirty="0"/>
          </a:p>
        </p:txBody>
      </p:sp>
      <p:sp>
        <p:nvSpPr>
          <p:cNvPr id="7" name="Text 4"/>
          <p:cNvSpPr/>
          <p:nvPr/>
        </p:nvSpPr>
        <p:spPr>
          <a:xfrm>
            <a:off x="548640" y="1965960"/>
            <a:ext cx="10698480" cy="27432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Whether a double/triple-bounce path exists and points at the sensor depends on platform position -- re-run SBR at every synthetic aperture position, not once</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Cost: O(pulses × rays × bounces)</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Brute-force ray density can under-sample the narrow specular-alignment condition that makes a dihedral bright -- easy to get an artificially dim building edge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COST TRADEOFF</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The ASC build cost is real -- how many passes to pay it off?*</a:t>
            </a:r>
            <a:endParaRPr lang="en-US" sz="2200" dirty="0"/>
          </a:p>
        </p:txBody>
      </p:sp>
      <p:sp>
        <p:nvSpPr>
          <p:cNvPr id="4" name="Text 2"/>
          <p:cNvSpPr/>
          <p:nvPr/>
        </p:nvSpPr>
        <p:spPr>
          <a:xfrm>
            <a:off x="548640" y="1280160"/>
            <a:ext cx="10698480" cy="50292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sensor mode / resolution (2m GSD, real TerraSAR-X Spotlight) at every scale -- what changes is the footprint, so pulse count scales with it. n* = number of collects before ASC-cached total cost undercuts Ansys.</a:t>
            </a:r>
            <a:endParaRPr lang="en-US" sz="1200" dirty="0"/>
          </a:p>
        </p:txBody>
      </p:sp>
      <p:pic>
        <p:nvPicPr>
          <p:cNvPr id="5" name="Image 0" descr="/sessions/sweet-friendly-mayer/mnt/outputs/presentation/breakeven_three_anchors_combined.png"/>
          <p:cNvPicPr>
            <a:picLocks noChangeAspect="1"/>
          </p:cNvPicPr>
          <p:nvPr/>
        </p:nvPicPr>
        <p:blipFill>
          <a:blip r:embed="rId3"/>
          <a:stretch>
            <a:fillRect/>
          </a:stretch>
        </p:blipFill>
        <p:spPr>
          <a:xfrm>
            <a:off x="457200" y="1828800"/>
            <a:ext cx="5974080" cy="4480560"/>
          </a:xfrm>
          <a:prstGeom prst="rect">
            <a:avLst/>
          </a:prstGeom>
        </p:spPr>
      </p:pic>
      <p:sp>
        <p:nvSpPr>
          <p:cNvPr id="6" name="Shape 3"/>
          <p:cNvSpPr/>
          <p:nvPr/>
        </p:nvSpPr>
        <p:spPr>
          <a:xfrm>
            <a:off x="6751320" y="1828800"/>
            <a:ext cx="4980432" cy="4480560"/>
          </a:xfrm>
          <a:prstGeom prst="roundRect">
            <a:avLst>
              <a:gd name="adj" fmla="val 1633"/>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025640" y="2011680"/>
            <a:ext cx="4431792"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BREAK-EVEN, BY SCALE</a:t>
            </a:r>
            <a:endParaRPr lang="en-US" sz="1200" dirty="0"/>
          </a:p>
        </p:txBody>
      </p:sp>
      <p:sp>
        <p:nvSpPr>
          <p:cNvPr id="8" name="Text 5"/>
          <p:cNvSpPr/>
          <p:nvPr/>
        </p:nvSpPr>
        <p:spPr>
          <a:xfrm>
            <a:off x="7025640" y="2423160"/>
            <a:ext cx="4431792" cy="210312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4m trihedral (N=1): n*=844 collects -- a one-off cal target essentially never pays back on its own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District (N=625): n*=34 collects -- amortizes within a modest revisit campaign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Full city (N=20,000): n*=6 collects -- pays for itself almost immediately at city scale</a:t>
            </a:r>
            <a:endParaRPr lang="en-US" sz="1200" dirty="0"/>
          </a:p>
        </p:txBody>
      </p:sp>
      <p:sp>
        <p:nvSpPr>
          <p:cNvPr id="9" name="Text 6"/>
          <p:cNvSpPr/>
          <p:nvPr/>
        </p:nvSpPr>
        <p:spPr>
          <a:xfrm>
            <a:off x="7025640" y="4663440"/>
            <a:ext cx="4431792" cy="1554480"/>
          </a:xfrm>
          <a:prstGeom prst="rect">
            <a:avLst/>
          </a:prstGeom>
          <a:noFill/>
          <a:ln/>
        </p:spPr>
        <p:txBody>
          <a:bodyPr wrap="square" lIns="0" tIns="0" rIns="0" bIns="0" rtlCol="0" anchor="t"/>
          <a:lstStyle/>
          <a:p>
            <a:pPr marL="0" indent="0">
              <a:lnSpc>
                <a:spcPct val="115000"/>
              </a:lnSpc>
              <a:buNone/>
            </a:pPr>
            <a:r>
              <a:rPr lang="en-US" sz="1200" b="1" dirty="0">
                <a:solidFill>
                  <a:srgbClr val="0B7285"/>
                </a:solidFill>
                <a:latin typeface="Calibri" pitchFamily="34" charset="0"/>
                <a:ea typeface="Calibri" pitchFamily="34" charset="-122"/>
                <a:cs typeface="Calibri" pitchFamily="34" charset="-120"/>
              </a:rPr>
              <a:t>Bottom line:  </a:t>
            </a:r>
            <a:r>
              <a:rPr lang="en-US" sz="1200" dirty="0">
                <a:solidFill>
                  <a:srgbClr val="141A22"/>
                </a:solidFill>
                <a:latin typeface="Calibri" pitchFamily="34" charset="0"/>
                <a:ea typeface="Calibri" pitchFamily="34" charset="-122"/>
                <a:cs typeface="Calibri" pitchFamily="34" charset="-120"/>
              </a:rPr>
              <a:t>the ASC library isn’t worth building for a single isolated target -- it’s a scale play. Build it once per structure, reuse it across every collect, scenario, and aspect that touches that structure.</a:t>
            </a:r>
            <a:endParaRPr lang="en-US" sz="1200" dirty="0"/>
          </a:p>
        </p:txBody>
      </p:sp>
      <p:sp>
        <p:nvSpPr>
          <p:cNvPr id="12" name="TextBox 11">
            <a:extLst>
              <a:ext uri="{FF2B5EF4-FFF2-40B4-BE49-F238E27FC236}">
                <a16:creationId xmlns:a16="http://schemas.microsoft.com/office/drawing/2014/main" id="{ABD6D8BE-C01F-F49B-386D-920536C15B21}"/>
              </a:ext>
            </a:extLst>
          </p:cNvPr>
          <p:cNvSpPr txBox="1"/>
          <p:nvPr/>
        </p:nvSpPr>
        <p:spPr>
          <a:xfrm>
            <a:off x="905256" y="6151234"/>
            <a:ext cx="8336280" cy="276999"/>
          </a:xfrm>
          <a:prstGeom prst="rect">
            <a:avLst/>
          </a:prstGeom>
          <a:noFill/>
        </p:spPr>
        <p:txBody>
          <a:bodyPr wrap="square">
            <a:spAutoFit/>
          </a:bodyPr>
          <a:lstStyle/>
          <a:p>
            <a:r>
              <a:rPr lang="en-US" sz="1200" i="1" dirty="0"/>
              <a:t>*Both approaches measured on the same single desktop/laptop-class GPU, not a cluster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GENERATION SPEED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Once the library is built: how long to generate a new scene?</a:t>
            </a:r>
            <a:endParaRPr lang="en-US" sz="2200" dirty="0"/>
          </a:p>
        </p:txBody>
      </p:sp>
      <p:sp>
        <p:nvSpPr>
          <p:cNvPr id="4" name="Text 2"/>
          <p:cNvSpPr/>
          <p:nvPr/>
        </p:nvSpPr>
        <p:spPr>
          <a:xfrm>
            <a:off x="548640" y="1280160"/>
            <a:ext cx="10698480" cy="64008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600km standoff, 2m GSD fixed at every scale (per the Cost Tradeoff slide). Build cost is amortized per that slide and broken down next -- this is the marginal, steady-state cost of every collect afterward: phase history only, not final image formation (RDA/backprojection is a separate, typically fast, FFT-based step).</a:t>
            </a:r>
            <a:endParaRPr lang="en-US" sz="1200" dirty="0"/>
          </a:p>
        </p:txBody>
      </p:sp>
      <p:pic>
        <p:nvPicPr>
          <p:cNvPr id="5" name="Image 0" descr="/sessions/sweet-friendly-mayer/mnt/outputs/presentation/gen_speed_by_footprint.png"/>
          <p:cNvPicPr>
            <a:picLocks noChangeAspect="1"/>
          </p:cNvPicPr>
          <p:nvPr/>
        </p:nvPicPr>
        <p:blipFill>
          <a:blip r:embed="rId3"/>
          <a:stretch>
            <a:fillRect/>
          </a:stretch>
        </p:blipFill>
        <p:spPr>
          <a:xfrm>
            <a:off x="457200" y="1965960"/>
            <a:ext cx="6445045" cy="4206240"/>
          </a:xfrm>
          <a:prstGeom prst="rect">
            <a:avLst/>
          </a:prstGeom>
        </p:spPr>
      </p:pic>
      <p:sp>
        <p:nvSpPr>
          <p:cNvPr id="6" name="Shape 3"/>
          <p:cNvSpPr/>
          <p:nvPr/>
        </p:nvSpPr>
        <p:spPr>
          <a:xfrm>
            <a:off x="7222285" y="1965960"/>
            <a:ext cx="4509467" cy="4206240"/>
          </a:xfrm>
          <a:prstGeom prst="roundRect">
            <a:avLst>
              <a:gd name="adj" fmla="val 1739"/>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496605" y="2148840"/>
            <a:ext cx="3960827"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BY THE NUMBERS</a:t>
            </a:r>
            <a:endParaRPr lang="en-US" sz="1200" dirty="0"/>
          </a:p>
        </p:txBody>
      </p:sp>
      <p:sp>
        <p:nvSpPr>
          <p:cNvPr id="8" name="Text 5"/>
          <p:cNvSpPr/>
          <p:nvPr/>
        </p:nvSpPr>
        <p:spPr>
          <a:xfrm>
            <a:off x="7496605" y="2560320"/>
            <a:ext cx="3960827" cy="2651760"/>
          </a:xfrm>
          <a:prstGeom prst="rect">
            <a:avLst/>
          </a:prstGeom>
          <a:noFill/>
          <a:ln/>
        </p:spPr>
        <p:txBody>
          <a:bodyPr wrap="square" lIns="0" tIns="0" rIns="0" bIns="0" rtlCol="0" anchor="t"/>
          <a:lstStyle/>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Small plot (0.1km²): 286ms vs. 498ms -- 1.7x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City block (1km²): 0.94s vs. 7.6s -- 8x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District (10km²): 4.3s vs. 3.6min -- 51x</a:t>
            </a:r>
          </a:p>
          <a:p>
            <a:pPr marL="203200" indent="-203200">
              <a:lnSpc>
                <a:spcPct val="112000"/>
              </a:lnSpc>
              <a:spcAft>
                <a:spcPts val="900"/>
              </a:spcAft>
              <a:buSzPct val="100000"/>
              <a:buChar char="•"/>
            </a:pPr>
            <a:r>
              <a:rPr lang="en-US" sz="1150" dirty="0">
                <a:solidFill>
                  <a:srgbClr val="141A22"/>
                </a:solidFill>
                <a:latin typeface="Calibri" pitchFamily="34" charset="0"/>
                <a:ea typeface="Calibri" pitchFamily="34" charset="-122"/>
                <a:cs typeface="Calibri" pitchFamily="34" charset="-120"/>
              </a:rPr>
              <a:t>Full city (100km²): 54s ASC-cached vs. 1.88hr Ansys SBR+ -- 125x</a:t>
            </a:r>
            <a:endParaRPr lang="en-US" sz="1150" dirty="0"/>
          </a:p>
        </p:txBody>
      </p:sp>
      <p:sp>
        <p:nvSpPr>
          <p:cNvPr id="9" name="Text 6"/>
          <p:cNvSpPr/>
          <p:nvPr/>
        </p:nvSpPr>
        <p:spPr>
          <a:xfrm>
            <a:off x="7496605" y="5848864"/>
            <a:ext cx="3960827" cy="277615"/>
          </a:xfrm>
          <a:prstGeom prst="rect">
            <a:avLst/>
          </a:prstGeom>
          <a:noFill/>
          <a:ln/>
        </p:spPr>
        <p:txBody>
          <a:bodyPr wrap="square" lIns="0" tIns="0" rIns="0" bIns="0" rtlCol="0" anchor="t"/>
          <a:lstStyle/>
          <a:p>
            <a:pPr marL="0" indent="0">
              <a:lnSpc>
                <a:spcPct val="115000"/>
              </a:lnSpc>
              <a:buNone/>
            </a:pPr>
            <a:r>
              <a:rPr lang="en-US" sz="1100" b="1" dirty="0">
                <a:solidFill>
                  <a:srgbClr val="0B7285"/>
                </a:solidFill>
                <a:latin typeface="Calibri" pitchFamily="34" charset="0"/>
                <a:ea typeface="Calibri" pitchFamily="34" charset="-122"/>
                <a:cs typeface="Calibri" pitchFamily="34" charset="-120"/>
              </a:rPr>
              <a:t>Bottom line:  </a:t>
            </a:r>
            <a:r>
              <a:rPr lang="en-US" sz="1100" dirty="0">
                <a:solidFill>
                  <a:srgbClr val="141A22"/>
                </a:solidFill>
                <a:latin typeface="Calibri" pitchFamily="34" charset="0"/>
                <a:ea typeface="Calibri" pitchFamily="34" charset="-122"/>
                <a:cs typeface="Calibri" pitchFamily="34" charset="-120"/>
              </a:rPr>
              <a:t>the speedup grows as scene complexity increases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Building city-scale world cost breakdown</a:t>
            </a:r>
            <a:endParaRPr lang="en-US" sz="2300" dirty="0"/>
          </a:p>
        </p:txBody>
      </p:sp>
      <p:sp>
        <p:nvSpPr>
          <p:cNvPr id="4" name="Text 2"/>
          <p:cNvSpPr/>
          <p:nvPr/>
        </p:nvSpPr>
        <p:spPr>
          <a:xfrm>
            <a:off x="548640" y="1417320"/>
            <a:ext cx="10698480" cy="457200"/>
          </a:xfrm>
          <a:prstGeom prst="rect">
            <a:avLst/>
          </a:prstGeom>
          <a:noFill/>
          <a:ln/>
        </p:spPr>
        <p:txBody>
          <a:bodyPr wrap="square" lIns="0" tIns="0" rIns="0" bIns="0" rtlCol="0" anchor="ctr"/>
          <a:lstStyle/>
          <a:p>
            <a:pPr marL="0" indent="0">
              <a:lnSpc>
                <a:spcPct val="115000"/>
              </a:lnSpc>
              <a:buNone/>
            </a:pPr>
            <a:r>
              <a:rPr lang="en-US" sz="1300" i="1" dirty="0">
                <a:solidFill>
                  <a:srgbClr val="5B6672"/>
                </a:solidFill>
                <a:latin typeface="Calibri" pitchFamily="34" charset="0"/>
                <a:ea typeface="Calibri" pitchFamily="34" charset="-122"/>
                <a:cs typeface="Calibri" pitchFamily="34" charset="-120"/>
              </a:rPr>
              <a:t>10 km x 10 km smallish city, ~20,000 structures. The one-time library-build cost looks scary if you assume per-structure optimization -- it isn’t, if you build the library the right way.</a:t>
            </a:r>
            <a:endParaRPr lang="en-US" sz="1300" dirty="0"/>
          </a:p>
        </p:txBody>
      </p:sp>
      <p:graphicFrame>
        <p:nvGraphicFramePr>
          <p:cNvPr id="13" name="Table 0"/>
          <p:cNvGraphicFramePr>
            <a:graphicFrameLocks noGrp="1"/>
          </p:cNvGraphicFramePr>
          <p:nvPr/>
        </p:nvGraphicFramePr>
        <p:xfrm>
          <a:off x="457200" y="2011680"/>
          <a:ext cx="11247120" cy="2606040"/>
        </p:xfrm>
        <a:graphic>
          <a:graphicData uri="http://schemas.openxmlformats.org/drawingml/2006/table">
            <a:tbl>
              <a:tblPr/>
              <a:tblGrid>
                <a:gridCol w="22860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21208">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Cost driver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Estimate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Ray tracing</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Sparse aspect/frequency characterization sweep per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RT-core throughput (10+ Gigarays/s, Turing/Ampere/Ada)</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Seconds / structure -- not the bottleneck</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Clustering + classification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 ray hits; classify against canonical mechanism types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Classical computational geometry -- no GPU needed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Sub-second /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assignment</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alpha_k from type; amplitude from Fresnel x geometry; position/length read from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Formula evaluation, not optimization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Effectively free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Fallback (irregular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ML-inference parameter estimate for what doesn’t classify cleanly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Trained-network inference (Yue &amp; Xu, 2024)</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~1.8 sec / structure (30 x 0.06s)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bl>
          </a:graphicData>
        </a:graphic>
      </p:graphicFrame>
      <p:sp>
        <p:nvSpPr>
          <p:cNvPr id="6" name="Shape 3"/>
          <p:cNvSpPr/>
          <p:nvPr/>
        </p:nvSpPr>
        <p:spPr>
          <a:xfrm>
            <a:off x="548640" y="4846320"/>
            <a:ext cx="10698480" cy="777240"/>
          </a:xfrm>
          <a:prstGeom prst="roundRect">
            <a:avLst>
              <a:gd name="adj" fmla="val 9412"/>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846320"/>
            <a:ext cx="10149840" cy="777240"/>
          </a:xfrm>
          <a:prstGeom prst="rect">
            <a:avLst/>
          </a:prstGeom>
          <a:noFill/>
          <a:ln/>
        </p:spPr>
        <p:txBody>
          <a:bodyPr wrap="square" lIns="0" tIns="0" rIns="0" bIns="0" rtlCol="0" anchor="ctr"/>
          <a:lstStyle/>
          <a:p>
            <a:pPr marL="0" indent="0">
              <a:lnSpc>
                <a:spcPct val="112000"/>
              </a:lnSpc>
              <a:buNone/>
            </a:pPr>
            <a:r>
              <a:rPr lang="en-US" sz="1250" b="1" dirty="0">
                <a:solidFill>
                  <a:srgbClr val="0B7285"/>
                </a:solidFill>
                <a:latin typeface="Calibri" pitchFamily="34" charset="0"/>
                <a:ea typeface="Calibri" pitchFamily="34" charset="-122"/>
                <a:cs typeface="Calibri" pitchFamily="34" charset="-120"/>
              </a:rPr>
              <a:t>Bottom line:  </a:t>
            </a:r>
            <a:r>
              <a:rPr lang="en-US" sz="1250" dirty="0">
                <a:solidFill>
                  <a:srgbClr val="141A22"/>
                </a:solidFill>
                <a:latin typeface="Calibri" pitchFamily="34" charset="0"/>
                <a:ea typeface="Calibri" pitchFamily="34" charset="-122"/>
                <a:cs typeface="Calibri" pitchFamily="34" charset="-120"/>
              </a:rPr>
              <a:t>if most of a real building stock classifies cleanly as canonical primitives (flat walls, roof edges, wall-ground corners), total build cost lands in hours on a single workstation -- not the multi-day cluster job assumed when this is treated as a fitting problem.</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Compressed parametric scattering centers (GTD / ASC)</a:t>
            </a:r>
            <a:endParaRPr lang="en-US" sz="24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543150"/>
            <a:ext cx="10515600" cy="13716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400" dirty="0">
                <a:solidFill>
                  <a:srgbClr val="141A22"/>
                </a:solidFill>
                <a:latin typeface="Calibri" pitchFamily="34" charset="0"/>
                <a:ea typeface="Calibri" pitchFamily="34" charset="-122"/>
                <a:cs typeface="Calibri" pitchFamily="34" charset="-120"/>
              </a:rPr>
              <a:t>Attributed Scattering Center (ASC) model — Potter &amp; Moses, "Attributed Scattering Centers for SAR ATR," IEEE Trans. Image Processing, 1997 (Ohio State)/ </a:t>
            </a:r>
            <a:r>
              <a:rPr lang="en-US" sz="1400" dirty="0"/>
              <a:t>Jackson, Rigling &amp; Moses, "Canonical Scattering Feature Models for 3D and Bistatic SAR," IEEE Trans. Aerospace and Electronic Systems, 2010/ Deng, Yang, &amp; Song “Novel Extension of Full-Polarimetric Bistatic Scattering Modeling of Canonical Scatterers for Radar Recognition, ” Remote Sens. 2025, </a:t>
            </a:r>
          </a:p>
        </p:txBody>
      </p:sp>
      <mc:AlternateContent xmlns:mc="http://schemas.openxmlformats.org/markup-compatibility/2006" xmlns:a14="http://schemas.microsoft.com/office/drawing/2010/main">
        <mc:Choice Requires="a14">
          <p:sp>
            <p:nvSpPr>
              <p:cNvPr id="9" name="Text 6"/>
              <p:cNvSpPr/>
              <p:nvPr/>
            </p:nvSpPr>
            <p:spPr>
              <a:xfrm>
                <a:off x="548640" y="4709160"/>
                <a:ext cx="10698480" cy="1737360"/>
              </a:xfrm>
              <a:prstGeom prst="rect">
                <a:avLst/>
              </a:prstGeom>
              <a:noFill/>
              <a:ln/>
            </p:spPr>
            <p:txBody>
              <a:bodyPr wrap="square" lIns="0" tIns="0" rIns="0" bIns="0" rtlCol="0" anchor="t"/>
              <a:lstStyle/>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a:rPr lang="en-US" sz="1200" i="1">
                            <a:solidFill>
                              <a:srgbClr val="0070C0"/>
                            </a:solidFill>
                            <a:latin typeface="Cambria Math" panose="02040503050406030204" pitchFamily="18" charset="0"/>
                          </a:rPr>
                          <m:t>𝛼</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encodes the canonical scattering mechanism: 1=flat plate, 0.5=singly-curved, 0=sphere, −0.5=edge, −1=dihedral/corner -- matches our building-ground case directly</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m:rPr>
                            <m:sty m:val="p"/>
                          </m:rPr>
                          <a:rPr lang="en-US" sz="1200" i="1">
                            <a:solidFill>
                              <a:srgbClr val="0070C0"/>
                            </a:solidFill>
                            <a:latin typeface="Cambria Math" panose="02040503050406030204" pitchFamily="18" charset="0"/>
                          </a:rPr>
                          <m:t>S</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is the Sinclair matrix that describe how the polarization of the return is impacted by the bounce (next slide)</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𝜑</m:t>
                            </m:r>
                          </m:e>
                        </m:acc>
                      </m:e>
                      <m:sub>
                        <m:r>
                          <a:rPr lang="en-US" sz="1200" i="1">
                            <a:solidFill>
                              <a:srgbClr val="0070C0"/>
                            </a:solidFill>
                            <a:latin typeface="Cambria Math" panose="02040503050406030204" pitchFamily="18" charset="0"/>
                          </a:rPr>
                          <m:t>𝑘</m:t>
                        </m:r>
                      </m:sub>
                    </m:sSub>
                    <m:r>
                      <a:rPr lang="en-US" sz="1200" b="0" i="1" smtClean="0">
                        <a:solidFill>
                          <a:srgbClr val="0070C0"/>
                        </a:solidFill>
                        <a:latin typeface="Cambria Math" panose="02040503050406030204" pitchFamily="18" charset="0"/>
                      </a:rPr>
                      <m:t>, </m:t>
                    </m:r>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𝜓</m:t>
                            </m:r>
                          </m:e>
                        </m:acc>
                      </m:e>
                      <m:sub>
                        <m:r>
                          <a:rPr lang="en-US" sz="1200" i="1">
                            <a:solidFill>
                              <a:srgbClr val="0070C0"/>
                            </a:solidFill>
                            <a:latin typeface="Cambria Math" panose="02040503050406030204" pitchFamily="18" charset="0"/>
                          </a:rPr>
                          <m:t>𝑘</m:t>
                        </m:r>
                      </m:sub>
                    </m:sSub>
                  </m:oMath>
                </a14:m>
                <a:r>
                  <a:rPr lang="en-US" sz="1350" dirty="0"/>
                  <a:t> angular offset from center of return</a:t>
                </a:r>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Workflow: trace once (or a sparse aspect sweep) → fit a handful of scattering centers → evaluate the closed-form sum at every pulse instead of re-tracing rays</a:t>
                </a:r>
                <a:endParaRPr lang="en-US" sz="1350" dirty="0"/>
              </a:p>
            </p:txBody>
          </p:sp>
        </mc:Choice>
        <mc:Fallback xmlns="">
          <p:sp>
            <p:nvSpPr>
              <p:cNvPr id="9" name="Text 6"/>
              <p:cNvSpPr>
                <a:spLocks noRot="1" noChangeAspect="1" noMove="1" noResize="1" noEditPoints="1" noAdjustHandles="1" noChangeArrowheads="1" noChangeShapeType="1" noTextEdit="1"/>
              </p:cNvSpPr>
              <p:nvPr/>
            </p:nvSpPr>
            <p:spPr>
              <a:xfrm>
                <a:off x="548640" y="4709160"/>
                <a:ext cx="10698480" cy="1737360"/>
              </a:xfrm>
              <a:prstGeom prst="rect">
                <a:avLst/>
              </a:prstGeom>
              <a:blipFill>
                <a:blip r:embed="rId4"/>
                <a:stretch>
                  <a:fillRect l="-1026" t="-2456" b="-7018"/>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5C6D741-3B8A-A1F8-767F-6CFD4640DB0A}"/>
                  </a:ext>
                </a:extLst>
              </p:cNvPr>
              <p:cNvSpPr txBox="1"/>
              <p:nvPr/>
            </p:nvSpPr>
            <p:spPr>
              <a:xfrm>
                <a:off x="908216" y="2926184"/>
                <a:ext cx="10586369" cy="15298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eqArr>
                        <m:eqArrPr>
                          <m:ctrlPr>
                            <a:rPr lang="en-US" sz="1400" i="1" smtClean="0">
                              <a:solidFill>
                                <a:srgbClr val="0070C0"/>
                              </a:solidFill>
                              <a:latin typeface="Cambria Math" panose="02040503050406030204" pitchFamily="18" charset="0"/>
                            </a:rPr>
                          </m:ctrlPr>
                        </m:eqArrPr>
                        <m:e>
                          <m:r>
                            <a:rPr lang="en-US" sz="1400" i="1" smtClean="0">
                              <a:solidFill>
                                <a:srgbClr val="0070C0"/>
                              </a:solidFill>
                              <a:latin typeface="Cambria Math" panose="02040503050406030204" pitchFamily="18" charset="0"/>
                            </a:rPr>
                            <m:t>𝐸</m:t>
                          </m:r>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𝑓</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𝜓</m:t>
                              </m:r>
                            </m:e>
                          </m:d>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m:rPr>
                                  <m:sty m:val="p"/>
                                </m:rPr>
                                <a:rPr lang="en-US" sz="1400" b="0" i="1" smtClean="0">
                                  <a:solidFill>
                                    <a:srgbClr val="0070C0"/>
                                  </a:solidFill>
                                  <a:latin typeface="Cambria Math" panose="02040503050406030204" pitchFamily="18" charset="0"/>
                                </a:rPr>
                                <m:t>S</m:t>
                              </m:r>
                            </m:e>
                            <m:sub>
                              <m:r>
                                <a:rPr lang="en-US" sz="1400" i="1" smtClean="0">
                                  <a:solidFill>
                                    <a:srgbClr val="0070C0"/>
                                  </a:solidFill>
                                  <a:latin typeface="Cambria Math" panose="02040503050406030204" pitchFamily="18" charset="0"/>
                                </a:rPr>
                                <m:t>𝑘</m:t>
                              </m:r>
                            </m:sub>
                          </m:sSub>
                          <m:sSup>
                            <m:sSupPr>
                              <m:ctrlPr>
                                <a:rPr lang="en-US" sz="1400" i="1" smtClean="0">
                                  <a:solidFill>
                                    <a:srgbClr val="0070C0"/>
                                  </a:solidFill>
                                  <a:latin typeface="Cambria Math" panose="02040503050406030204" pitchFamily="18" charset="0"/>
                                </a:rPr>
                              </m:ctrlPr>
                            </m:sSupPr>
                            <m:e>
                              <m:d>
                                <m:dPr>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𝑗𝑓</m:t>
                                      </m:r>
                                    </m:num>
                                    <m:den>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𝑓</m:t>
                                          </m:r>
                                        </m:e>
                                        <m:sub>
                                          <m:r>
                                            <a:rPr lang="en-US" sz="1400" i="1" smtClean="0">
                                              <a:solidFill>
                                                <a:srgbClr val="0070C0"/>
                                              </a:solidFill>
                                              <a:latin typeface="Cambria Math" panose="02040503050406030204" pitchFamily="18" charset="0"/>
                                            </a:rPr>
                                            <m:t>𝑐</m:t>
                                          </m:r>
                                        </m:sub>
                                      </m:sSub>
                                    </m:den>
                                  </m:f>
                                </m:e>
                              </m:d>
                            </m:e>
                            <m:sup>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𝛼</m:t>
                                  </m:r>
                                </m:e>
                                <m:sub>
                                  <m:r>
                                    <a:rPr lang="en-US" sz="1400" i="1" smtClean="0">
                                      <a:solidFill>
                                        <a:srgbClr val="0070C0"/>
                                      </a:solidFill>
                                      <a:latin typeface="Cambria Math" panose="02040503050406030204" pitchFamily="18" charset="0"/>
                                    </a:rPr>
                                    <m:t>𝑘</m:t>
                                  </m:r>
                                </m:sub>
                              </m:sSub>
                            </m:sup>
                          </m:s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𝑗</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4</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d>
                                <m:dPr>
                                  <m:ctrlPr>
                                    <a:rPr lang="en-US" sz="1400" i="1" smtClean="0">
                                      <a:solidFill>
                                        <a:srgbClr val="0070C0"/>
                                      </a:solidFill>
                                      <a:latin typeface="Cambria Math" panose="02040503050406030204" pitchFamily="18" charset="0"/>
                                    </a:rPr>
                                  </m:ctrlPr>
                                </m:dPr>
                                <m:e>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𝑥</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𝑦</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𝑧</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𝜓</m:t>
                                      </m:r>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Sub>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e>
                          </m:d>
                        </m:e>
                      </m:eqArr>
                    </m:oMath>
                  </m:oMathPara>
                </a14:m>
                <a:endParaRPr lang="en-US" sz="1400" dirty="0"/>
              </a:p>
            </p:txBody>
          </p:sp>
        </mc:Choice>
        <mc:Fallback xmlns="">
          <p:sp>
            <p:nvSpPr>
              <p:cNvPr id="12" name="TextBox 11">
                <a:extLst>
                  <a:ext uri="{FF2B5EF4-FFF2-40B4-BE49-F238E27FC236}">
                    <a16:creationId xmlns:a16="http://schemas.microsoft.com/office/drawing/2014/main" id="{95C6D741-3B8A-A1F8-767F-6CFD4640DB0A}"/>
                  </a:ext>
                </a:extLst>
              </p:cNvPr>
              <p:cNvSpPr txBox="1">
                <a:spLocks noRot="1" noChangeAspect="1" noMove="1" noResize="1" noEditPoints="1" noAdjustHandles="1" noChangeArrowheads="1" noChangeShapeType="1" noTextEdit="1"/>
              </p:cNvSpPr>
              <p:nvPr/>
            </p:nvSpPr>
            <p:spPr>
              <a:xfrm>
                <a:off x="908216" y="2926184"/>
                <a:ext cx="10586369" cy="1529842"/>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POLARIZATION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Sinclair matrix instead of scalar reflectivity</a:t>
            </a:r>
            <a:endParaRPr lang="en-US" sz="2800" dirty="0"/>
          </a:p>
        </p:txBody>
      </p:sp>
      <p:sp>
        <p:nvSpPr>
          <p:cNvPr id="4" name="Shape 2"/>
          <p:cNvSpPr/>
          <p:nvPr/>
        </p:nvSpPr>
        <p:spPr>
          <a:xfrm>
            <a:off x="548640" y="1737360"/>
            <a:ext cx="4937760" cy="1554480"/>
          </a:xfrm>
          <a:prstGeom prst="roundRect">
            <a:avLst>
              <a:gd name="adj" fmla="val 4706"/>
            </a:avLst>
          </a:prstGeom>
          <a:solidFill>
            <a:srgbClr val="12161C"/>
          </a:solidFill>
          <a:ln/>
          <a:effectLst>
            <a:outerShdw blurRad="101600" dist="38100" dir="5400000" algn="bl" rotWithShape="0">
              <a:srgbClr val="9AA5B1">
                <a:alpha val="22000"/>
              </a:srgbClr>
            </a:outerShdw>
          </a:effectLst>
        </p:spPr>
      </p:sp>
      <p:sp>
        <p:nvSpPr>
          <p:cNvPr id="5" name="Text 3"/>
          <p:cNvSpPr/>
          <p:nvPr/>
        </p:nvSpPr>
        <p:spPr>
          <a:xfrm>
            <a:off x="777240" y="1874520"/>
            <a:ext cx="4480560" cy="1280160"/>
          </a:xfrm>
          <a:prstGeom prst="rect">
            <a:avLst/>
          </a:prstGeom>
          <a:noFill/>
          <a:ln/>
        </p:spPr>
        <p:txBody>
          <a:bodyPr wrap="square" lIns="0" tIns="0" rIns="0" bIns="0" rtlCol="0" anchor="ctr"/>
          <a:lstStyle/>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S =  [ S_hh   S_hv ]</a:t>
            </a:r>
            <a:endParaRPr lang="en-US" sz="2000" dirty="0"/>
          </a:p>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     [ S_vh   S_vv ]</a:t>
            </a:r>
            <a:endParaRPr lang="en-US" sz="2000" dirty="0"/>
          </a:p>
        </p:txBody>
      </p:sp>
      <p:sp>
        <p:nvSpPr>
          <p:cNvPr id="6" name="Text 4"/>
          <p:cNvSpPr/>
          <p:nvPr/>
        </p:nvSpPr>
        <p:spPr>
          <a:xfrm>
            <a:off x="5806440" y="1737360"/>
            <a:ext cx="5806440" cy="329184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Per bounce: compute Fresnel R_s / R_p from local incidence angle + material permittivity, rotate into the sensor’s H/V basis</a:t>
            </a:r>
            <a:endParaRPr lang="en-US" sz="1400" dirty="0"/>
          </a:p>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Multi-bounce path: chain bounces as a matrix product (Jones-calculus style), not a scalar product -- this is what makes rotated-dihedral cross-pol fall out naturally</a:t>
            </a:r>
            <a:endParaRPr lang="en-US" sz="1400" dirty="0"/>
          </a:p>
        </p:txBody>
      </p:sp>
      <p:sp>
        <p:nvSpPr>
          <p:cNvPr id="7" name="Shape 5"/>
          <p:cNvSpPr/>
          <p:nvPr/>
        </p:nvSpPr>
        <p:spPr>
          <a:xfrm>
            <a:off x="548640" y="35204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8" name="Text 6"/>
          <p:cNvSpPr/>
          <p:nvPr/>
        </p:nvSpPr>
        <p:spPr>
          <a:xfrm>
            <a:off x="822960" y="3520440"/>
            <a:ext cx="10149840" cy="137160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Gotcha:  </a:t>
            </a:r>
            <a:r>
              <a:rPr lang="en-US" sz="1400" dirty="0">
                <a:solidFill>
                  <a:srgbClr val="141A22"/>
                </a:solidFill>
                <a:latin typeface="Calibri" pitchFamily="34" charset="0"/>
                <a:ea typeface="Calibri" pitchFamily="34" charset="-122"/>
                <a:cs typeface="Calibri" pitchFamily="34" charset="-120"/>
              </a:rPr>
              <a:t>polarization basis convention (BSA vs FSA) is a classic silent-bug source -- validate against a known trihedral calibration signature once the pipeline runs.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a:t>
            </a:r>
            <a:endParaRPr lang="en-US" sz="1200" dirty="0"/>
          </a:p>
        </p:txBody>
      </p:sp>
      <p:sp>
        <p:nvSpPr>
          <p:cNvPr id="3" name="Text 1"/>
          <p:cNvSpPr/>
          <p:nvPr/>
        </p:nvSpPr>
        <p:spPr>
          <a:xfrm>
            <a:off x="548640" y="658368"/>
            <a:ext cx="10881360" cy="73152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A polarization-selective trihedral nulls the "textbook" return</a:t>
            </a:r>
            <a:endParaRPr lang="en-US" sz="2100" dirty="0"/>
          </a:p>
        </p:txBody>
      </p:sp>
      <p:sp>
        <p:nvSpPr>
          <p:cNvPr id="4" name="Text 2"/>
          <p:cNvSpPr/>
          <p:nvPr/>
        </p:nvSpPr>
        <p:spPr>
          <a:xfrm>
            <a:off x="548640" y="1399032"/>
            <a:ext cx="10698480" cy="237744"/>
          </a:xfrm>
          <a:prstGeom prst="rect">
            <a:avLst/>
          </a:prstGeom>
          <a:noFill/>
          <a:ln/>
        </p:spPr>
        <p:txBody>
          <a:bodyPr wrap="square" lIns="0" tIns="0" rIns="0" bIns="0" rtlCol="0" anchor="ctr"/>
          <a:lstStyle/>
          <a:p>
            <a:pPr marL="0" indent="0">
              <a:buNone/>
            </a:pPr>
            <a:r>
              <a:rPr lang="en-US" sz="1250" i="1" dirty="0">
                <a:solidFill>
                  <a:srgbClr val="5B6672"/>
                </a:solidFill>
                <a:latin typeface="Calibri" pitchFamily="34" charset="0"/>
                <a:ea typeface="Calibri" pitchFamily="34" charset="-122"/>
                <a:cs typeface="Calibri" pitchFamily="34" charset="-120"/>
              </a:rPr>
              <a:t>HH illumination on a trihedral: Face 1 = V dipoles, Face 2 = H dipoles, Face 3 = V dipoles</a:t>
            </a:r>
            <a:endParaRPr lang="en-US" sz="1250" dirty="0"/>
          </a:p>
        </p:txBody>
      </p:sp>
      <p:sp>
        <p:nvSpPr>
          <p:cNvPr id="5" name="Shape 3"/>
          <p:cNvSpPr/>
          <p:nvPr/>
        </p:nvSpPr>
        <p:spPr>
          <a:xfrm>
            <a:off x="365760" y="1691640"/>
            <a:ext cx="2468880" cy="566928"/>
          </a:xfrm>
          <a:prstGeom prst="roundRect">
            <a:avLst>
              <a:gd name="adj" fmla="val 9677"/>
            </a:avLst>
          </a:prstGeom>
          <a:solidFill>
            <a:srgbClr val="FFFFFF"/>
          </a:solidFill>
          <a:ln w="19050">
            <a:solidFill>
              <a:srgbClr val="B85C00"/>
            </a:solidFill>
            <a:prstDash val="solid"/>
          </a:ln>
        </p:spPr>
      </p:sp>
      <p:sp>
        <p:nvSpPr>
          <p:cNvPr id="6" name="Text 4"/>
          <p:cNvSpPr/>
          <p:nvPr/>
        </p:nvSpPr>
        <p:spPr>
          <a:xfrm>
            <a:off x="365760" y="1755648"/>
            <a:ext cx="2468880" cy="256032"/>
          </a:xfrm>
          <a:prstGeom prst="rect">
            <a:avLst/>
          </a:prstGeom>
          <a:noFill/>
          <a:ln/>
        </p:spPr>
        <p:txBody>
          <a:bodyPr wrap="square" lIns="0" tIns="0" rIns="0" bIns="0" rtlCol="0" anchor="ctr"/>
          <a:lstStyle/>
          <a:p>
            <a:pPr marL="0" indent="0" algn="ctr">
              <a:buNone/>
            </a:pPr>
            <a:r>
              <a:rPr lang="en-US" sz="1300" b="1" dirty="0">
                <a:solidFill>
                  <a:srgbClr val="B85C00"/>
                </a:solidFill>
                <a:latin typeface="Courier New" pitchFamily="34" charset="0"/>
                <a:ea typeface="Courier New" pitchFamily="34" charset="-122"/>
                <a:cs typeface="Courier New" pitchFamily="34" charset="-120"/>
              </a:rPr>
              <a:t>H · V̂ = 0</a:t>
            </a:r>
            <a:endParaRPr lang="en-US" sz="1300" dirty="0"/>
          </a:p>
        </p:txBody>
      </p:sp>
      <p:sp>
        <p:nvSpPr>
          <p:cNvPr id="7" name="Text 5"/>
          <p:cNvSpPr/>
          <p:nvPr/>
        </p:nvSpPr>
        <p:spPr>
          <a:xfrm>
            <a:off x="365760" y="2020824"/>
            <a:ext cx="2468880" cy="201168"/>
          </a:xfrm>
          <a:prstGeom prst="rect">
            <a:avLst/>
          </a:prstGeom>
          <a:noFill/>
          <a:ln/>
        </p:spPr>
        <p:txBody>
          <a:bodyPr wrap="square" lIns="0" tIns="0" rIns="0" bIns="0" rtlCol="0" anchor="ctr"/>
          <a:lstStyle/>
          <a:p>
            <a:pPr marL="0" indent="0" algn="ctr">
              <a:buNone/>
            </a:pPr>
            <a:r>
              <a:rPr lang="en-US" sz="1000" dirty="0">
                <a:solidFill>
                  <a:srgbClr val="5B6672"/>
                </a:solidFill>
                <a:latin typeface="Calibri" pitchFamily="34" charset="0"/>
                <a:ea typeface="Calibri" pitchFamily="34" charset="-122"/>
                <a:cs typeface="Calibri" pitchFamily="34" charset="-120"/>
              </a:rPr>
              <a:t>no coupling → reflected field = 0</a:t>
            </a:r>
            <a:endParaRPr lang="en-US" sz="1000" dirty="0"/>
          </a:p>
        </p:txBody>
      </p:sp>
      <p:sp>
        <p:nvSpPr>
          <p:cNvPr id="8" name="Shape 6"/>
          <p:cNvSpPr/>
          <p:nvPr/>
        </p:nvSpPr>
        <p:spPr>
          <a:xfrm>
            <a:off x="1600200" y="2258568"/>
            <a:ext cx="137160" cy="118872"/>
          </a:xfrm>
          <a:prstGeom prst="line">
            <a:avLst/>
          </a:prstGeom>
          <a:noFill/>
          <a:ln w="15875">
            <a:solidFill>
              <a:srgbClr val="B85C00"/>
            </a:solidFill>
            <a:prstDash val="dash"/>
            <a:tailEnd type="none"/>
          </a:ln>
        </p:spPr>
      </p:sp>
      <p:sp>
        <p:nvSpPr>
          <p:cNvPr id="9" name="Text 7"/>
          <p:cNvSpPr/>
          <p:nvPr/>
        </p:nvSpPr>
        <p:spPr>
          <a:xfrm>
            <a:off x="457200" y="2606040"/>
            <a:ext cx="1280160" cy="237744"/>
          </a:xfrm>
          <a:prstGeom prst="rect">
            <a:avLst/>
          </a:prstGeom>
          <a:noFill/>
          <a:ln/>
        </p:spPr>
        <p:txBody>
          <a:bodyPr wrap="square" lIns="0" tIns="0" rIns="0" bIns="0" rtlCol="0" anchor="ctr"/>
          <a:lstStyle/>
          <a:p>
            <a:pPr marL="0" indent="0">
              <a:buNone/>
            </a:pPr>
            <a:r>
              <a:rPr lang="en-US" sz="1250" b="1" dirty="0">
                <a:solidFill>
                  <a:srgbClr val="141A22"/>
                </a:solidFill>
                <a:latin typeface="Calibri" pitchFamily="34" charset="0"/>
                <a:ea typeface="Calibri" pitchFamily="34" charset="-122"/>
                <a:cs typeface="Calibri" pitchFamily="34" charset="-120"/>
              </a:rPr>
              <a:t>Tx: H-pol</a:t>
            </a:r>
            <a:endParaRPr lang="en-US" sz="1250" dirty="0"/>
          </a:p>
        </p:txBody>
      </p:sp>
      <p:sp>
        <p:nvSpPr>
          <p:cNvPr id="10" name="Shape 8"/>
          <p:cNvSpPr/>
          <p:nvPr/>
        </p:nvSpPr>
        <p:spPr>
          <a:xfrm>
            <a:off x="640080" y="2994660"/>
            <a:ext cx="960120" cy="0"/>
          </a:xfrm>
          <a:prstGeom prst="line">
            <a:avLst/>
          </a:prstGeom>
          <a:noFill/>
          <a:ln w="28575">
            <a:solidFill>
              <a:srgbClr val="141A22"/>
            </a:solidFill>
            <a:prstDash val="solid"/>
            <a:tailEnd type="triangle"/>
          </a:ln>
        </p:spPr>
      </p:sp>
      <p:sp>
        <p:nvSpPr>
          <p:cNvPr id="11" name="Shape 9"/>
          <p:cNvSpPr/>
          <p:nvPr/>
        </p:nvSpPr>
        <p:spPr>
          <a:xfrm>
            <a:off x="1691640" y="2377440"/>
            <a:ext cx="1051560" cy="1234440"/>
          </a:xfrm>
          <a:prstGeom prst="rect">
            <a:avLst/>
          </a:prstGeom>
          <a:solidFill>
            <a:srgbClr val="F1F4F8"/>
          </a:solidFill>
          <a:ln w="15875">
            <a:solidFill>
              <a:srgbClr val="CBD3DB"/>
            </a:solidFill>
            <a:prstDash val="solid"/>
          </a:ln>
        </p:spPr>
      </p:sp>
      <p:sp>
        <p:nvSpPr>
          <p:cNvPr id="12" name="Shape 10"/>
          <p:cNvSpPr/>
          <p:nvPr/>
        </p:nvSpPr>
        <p:spPr>
          <a:xfrm>
            <a:off x="1810512" y="2468880"/>
            <a:ext cx="0" cy="1051560"/>
          </a:xfrm>
          <a:prstGeom prst="line">
            <a:avLst/>
          </a:prstGeom>
          <a:noFill/>
          <a:ln w="22225">
            <a:solidFill>
              <a:srgbClr val="0B7285"/>
            </a:solidFill>
            <a:prstDash val="solid"/>
            <a:tailEnd type="none"/>
          </a:ln>
        </p:spPr>
      </p:sp>
      <p:sp>
        <p:nvSpPr>
          <p:cNvPr id="13" name="Shape 11"/>
          <p:cNvSpPr/>
          <p:nvPr/>
        </p:nvSpPr>
        <p:spPr>
          <a:xfrm>
            <a:off x="1947672" y="2468880"/>
            <a:ext cx="0" cy="1051560"/>
          </a:xfrm>
          <a:prstGeom prst="line">
            <a:avLst/>
          </a:prstGeom>
          <a:noFill/>
          <a:ln w="22225">
            <a:solidFill>
              <a:srgbClr val="0B7285"/>
            </a:solidFill>
            <a:prstDash val="solid"/>
            <a:tailEnd type="none"/>
          </a:ln>
        </p:spPr>
      </p:sp>
      <p:sp>
        <p:nvSpPr>
          <p:cNvPr id="14" name="Shape 12"/>
          <p:cNvSpPr/>
          <p:nvPr/>
        </p:nvSpPr>
        <p:spPr>
          <a:xfrm>
            <a:off x="2084832" y="2468880"/>
            <a:ext cx="0" cy="1051560"/>
          </a:xfrm>
          <a:prstGeom prst="line">
            <a:avLst/>
          </a:prstGeom>
          <a:noFill/>
          <a:ln w="22225">
            <a:solidFill>
              <a:srgbClr val="0B7285"/>
            </a:solidFill>
            <a:prstDash val="solid"/>
            <a:tailEnd type="none"/>
          </a:ln>
        </p:spPr>
      </p:sp>
      <p:sp>
        <p:nvSpPr>
          <p:cNvPr id="15" name="Shape 13"/>
          <p:cNvSpPr/>
          <p:nvPr/>
        </p:nvSpPr>
        <p:spPr>
          <a:xfrm>
            <a:off x="2221992" y="2468880"/>
            <a:ext cx="0" cy="1051560"/>
          </a:xfrm>
          <a:prstGeom prst="line">
            <a:avLst/>
          </a:prstGeom>
          <a:noFill/>
          <a:ln w="22225">
            <a:solidFill>
              <a:srgbClr val="0B7285"/>
            </a:solidFill>
            <a:prstDash val="solid"/>
            <a:tailEnd type="none"/>
          </a:ln>
        </p:spPr>
      </p:sp>
      <p:sp>
        <p:nvSpPr>
          <p:cNvPr id="16" name="Shape 14"/>
          <p:cNvSpPr/>
          <p:nvPr/>
        </p:nvSpPr>
        <p:spPr>
          <a:xfrm>
            <a:off x="2359152" y="2468880"/>
            <a:ext cx="0" cy="1051560"/>
          </a:xfrm>
          <a:prstGeom prst="line">
            <a:avLst/>
          </a:prstGeom>
          <a:noFill/>
          <a:ln w="22225">
            <a:solidFill>
              <a:srgbClr val="0B7285"/>
            </a:solidFill>
            <a:prstDash val="solid"/>
            <a:tailEnd type="none"/>
          </a:ln>
        </p:spPr>
      </p:sp>
      <p:sp>
        <p:nvSpPr>
          <p:cNvPr id="17" name="Text 15"/>
          <p:cNvSpPr/>
          <p:nvPr/>
        </p:nvSpPr>
        <p:spPr>
          <a:xfrm>
            <a:off x="1691640" y="3657600"/>
            <a:ext cx="1051560" cy="164592"/>
          </a:xfrm>
          <a:prstGeom prst="rect">
            <a:avLst/>
          </a:prstGeom>
          <a:noFill/>
          <a:ln/>
        </p:spPr>
        <p:txBody>
          <a:bodyPr wrap="square" lIns="0" tIns="0" rIns="0" bIns="0" rtlCol="0" anchor="ctr"/>
          <a:lstStyle/>
          <a:p>
            <a:pPr marL="0" indent="0" algn="ctr">
              <a:buNone/>
            </a:pPr>
            <a:r>
              <a:rPr lang="en-US" sz="1100" b="1" dirty="0">
                <a:solidFill>
                  <a:srgbClr val="141A22"/>
                </a:solidFill>
                <a:latin typeface="Calibri" pitchFamily="34" charset="0"/>
                <a:ea typeface="Calibri" pitchFamily="34" charset="-122"/>
                <a:cs typeface="Calibri" pitchFamily="34" charset="-120"/>
              </a:rPr>
              <a:t>FACE 1</a:t>
            </a:r>
            <a:endParaRPr lang="en-US" sz="1100" dirty="0"/>
          </a:p>
        </p:txBody>
      </p:sp>
      <p:sp>
        <p:nvSpPr>
          <p:cNvPr id="18" name="Text 16"/>
          <p:cNvSpPr/>
          <p:nvPr/>
        </p:nvSpPr>
        <p:spPr>
          <a:xfrm>
            <a:off x="1691640" y="3813048"/>
            <a:ext cx="1051560" cy="146304"/>
          </a:xfrm>
          <a:prstGeom prst="rect">
            <a:avLst/>
          </a:prstGeom>
          <a:noFill/>
          <a:ln/>
        </p:spPr>
        <p:txBody>
          <a:bodyPr wrap="square" lIns="0" tIns="0" rIns="0" bIns="0" rtlCol="0" anchor="ctr"/>
          <a:lstStyle/>
          <a:p>
            <a:pPr marL="0" indent="0" algn="ctr">
              <a:buNone/>
            </a:pPr>
            <a:r>
              <a:rPr lang="en-US" sz="950" dirty="0">
                <a:solidFill>
                  <a:srgbClr val="5B6672"/>
                </a:solidFill>
                <a:latin typeface="Calibri" pitchFamily="34" charset="0"/>
                <a:ea typeface="Calibri" pitchFamily="34" charset="-122"/>
                <a:cs typeface="Calibri" pitchFamily="34" charset="-120"/>
              </a:rPr>
              <a:t>V dipoles</a:t>
            </a:r>
            <a:endParaRPr lang="en-US" sz="950" dirty="0"/>
          </a:p>
        </p:txBody>
      </p:sp>
      <p:sp>
        <p:nvSpPr>
          <p:cNvPr id="19" name="Shape 17"/>
          <p:cNvSpPr/>
          <p:nvPr/>
        </p:nvSpPr>
        <p:spPr>
          <a:xfrm>
            <a:off x="2743200" y="2994660"/>
            <a:ext cx="1051560" cy="0"/>
          </a:xfrm>
          <a:prstGeom prst="line">
            <a:avLst/>
          </a:prstGeom>
          <a:noFill/>
          <a:ln w="22225">
            <a:solidFill>
              <a:srgbClr val="CBD3DB"/>
            </a:solidFill>
            <a:prstDash val="dash"/>
            <a:tailEnd type="triangle"/>
          </a:ln>
        </p:spPr>
      </p:sp>
      <p:sp>
        <p:nvSpPr>
          <p:cNvPr id="20" name="Shape 18"/>
          <p:cNvSpPr/>
          <p:nvPr/>
        </p:nvSpPr>
        <p:spPr>
          <a:xfrm>
            <a:off x="3794760" y="2377440"/>
            <a:ext cx="1051560" cy="1234440"/>
          </a:xfrm>
          <a:prstGeom prst="rect">
            <a:avLst/>
          </a:prstGeom>
          <a:solidFill>
            <a:srgbClr val="F1F4F8"/>
          </a:solidFill>
          <a:ln w="15875">
            <a:solidFill>
              <a:srgbClr val="CBD3DB"/>
            </a:solidFill>
            <a:prstDash val="solid"/>
          </a:ln>
        </p:spPr>
      </p:sp>
      <p:sp>
        <p:nvSpPr>
          <p:cNvPr id="21" name="Shape 19"/>
          <p:cNvSpPr/>
          <p:nvPr/>
        </p:nvSpPr>
        <p:spPr>
          <a:xfrm>
            <a:off x="3886200" y="2505456"/>
            <a:ext cx="868680" cy="0"/>
          </a:xfrm>
          <a:prstGeom prst="line">
            <a:avLst/>
          </a:prstGeom>
          <a:noFill/>
          <a:ln w="19050">
            <a:solidFill>
              <a:srgbClr val="CBD3DB"/>
            </a:solidFill>
            <a:prstDash val="solid"/>
            <a:tailEnd type="none"/>
          </a:ln>
        </p:spPr>
      </p:sp>
      <p:sp>
        <p:nvSpPr>
          <p:cNvPr id="22" name="Shape 20"/>
          <p:cNvSpPr/>
          <p:nvPr/>
        </p:nvSpPr>
        <p:spPr>
          <a:xfrm>
            <a:off x="3886200" y="2706624"/>
            <a:ext cx="868680" cy="0"/>
          </a:xfrm>
          <a:prstGeom prst="line">
            <a:avLst/>
          </a:prstGeom>
          <a:noFill/>
          <a:ln w="19050">
            <a:solidFill>
              <a:srgbClr val="CBD3DB"/>
            </a:solidFill>
            <a:prstDash val="solid"/>
            <a:tailEnd type="none"/>
          </a:ln>
        </p:spPr>
      </p:sp>
      <p:sp>
        <p:nvSpPr>
          <p:cNvPr id="23" name="Shape 21"/>
          <p:cNvSpPr/>
          <p:nvPr/>
        </p:nvSpPr>
        <p:spPr>
          <a:xfrm>
            <a:off x="3886200" y="2907792"/>
            <a:ext cx="868680" cy="0"/>
          </a:xfrm>
          <a:prstGeom prst="line">
            <a:avLst/>
          </a:prstGeom>
          <a:noFill/>
          <a:ln w="19050">
            <a:solidFill>
              <a:srgbClr val="CBD3DB"/>
            </a:solidFill>
            <a:prstDash val="solid"/>
            <a:tailEnd type="none"/>
          </a:ln>
        </p:spPr>
      </p:sp>
      <p:sp>
        <p:nvSpPr>
          <p:cNvPr id="24" name="Shape 22"/>
          <p:cNvSpPr/>
          <p:nvPr/>
        </p:nvSpPr>
        <p:spPr>
          <a:xfrm>
            <a:off x="3886200" y="3108960"/>
            <a:ext cx="868680" cy="0"/>
          </a:xfrm>
          <a:prstGeom prst="line">
            <a:avLst/>
          </a:prstGeom>
          <a:noFill/>
          <a:ln w="19050">
            <a:solidFill>
              <a:srgbClr val="CBD3DB"/>
            </a:solidFill>
            <a:prstDash val="solid"/>
            <a:tailEnd type="none"/>
          </a:ln>
        </p:spPr>
      </p:sp>
      <p:sp>
        <p:nvSpPr>
          <p:cNvPr id="25" name="Shape 23"/>
          <p:cNvSpPr/>
          <p:nvPr/>
        </p:nvSpPr>
        <p:spPr>
          <a:xfrm>
            <a:off x="3886200" y="3310128"/>
            <a:ext cx="868680" cy="0"/>
          </a:xfrm>
          <a:prstGeom prst="line">
            <a:avLst/>
          </a:prstGeom>
          <a:noFill/>
          <a:ln w="19050">
            <a:solidFill>
              <a:srgbClr val="CBD3DB"/>
            </a:solidFill>
            <a:prstDash val="solid"/>
            <a:tailEnd type="none"/>
          </a:ln>
        </p:spPr>
      </p:sp>
      <p:sp>
        <p:nvSpPr>
          <p:cNvPr id="26" name="Shape 24"/>
          <p:cNvSpPr/>
          <p:nvPr/>
        </p:nvSpPr>
        <p:spPr>
          <a:xfrm>
            <a:off x="3886200" y="3493008"/>
            <a:ext cx="868680" cy="0"/>
          </a:xfrm>
          <a:prstGeom prst="line">
            <a:avLst/>
          </a:prstGeom>
          <a:noFill/>
          <a:ln w="19050">
            <a:solidFill>
              <a:srgbClr val="CBD3DB"/>
            </a:solidFill>
            <a:prstDash val="solid"/>
            <a:tailEnd type="none"/>
          </a:ln>
        </p:spPr>
      </p:sp>
      <p:sp>
        <p:nvSpPr>
          <p:cNvPr id="27" name="Text 25"/>
          <p:cNvSpPr/>
          <p:nvPr/>
        </p:nvSpPr>
        <p:spPr>
          <a:xfrm>
            <a:off x="379476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2</a:t>
            </a:r>
            <a:endParaRPr lang="en-US" sz="1100" dirty="0"/>
          </a:p>
        </p:txBody>
      </p:sp>
      <p:sp>
        <p:nvSpPr>
          <p:cNvPr id="28" name="Text 26"/>
          <p:cNvSpPr/>
          <p:nvPr/>
        </p:nvSpPr>
        <p:spPr>
          <a:xfrm>
            <a:off x="379476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H dipoles</a:t>
            </a:r>
            <a:endParaRPr lang="en-US" sz="950" dirty="0"/>
          </a:p>
        </p:txBody>
      </p:sp>
      <p:sp>
        <p:nvSpPr>
          <p:cNvPr id="29" name="Shape 27"/>
          <p:cNvSpPr/>
          <p:nvPr/>
        </p:nvSpPr>
        <p:spPr>
          <a:xfrm>
            <a:off x="4846320" y="2994660"/>
            <a:ext cx="1051560" cy="0"/>
          </a:xfrm>
          <a:prstGeom prst="line">
            <a:avLst/>
          </a:prstGeom>
          <a:noFill/>
          <a:ln w="22225">
            <a:solidFill>
              <a:srgbClr val="CBD3DB"/>
            </a:solidFill>
            <a:prstDash val="dash"/>
            <a:tailEnd type="triangle"/>
          </a:ln>
        </p:spPr>
      </p:sp>
      <p:sp>
        <p:nvSpPr>
          <p:cNvPr id="30" name="Shape 28"/>
          <p:cNvSpPr/>
          <p:nvPr/>
        </p:nvSpPr>
        <p:spPr>
          <a:xfrm>
            <a:off x="5897880" y="2377440"/>
            <a:ext cx="1051560" cy="1234440"/>
          </a:xfrm>
          <a:prstGeom prst="rect">
            <a:avLst/>
          </a:prstGeom>
          <a:solidFill>
            <a:srgbClr val="F1F4F8"/>
          </a:solidFill>
          <a:ln w="15875">
            <a:solidFill>
              <a:srgbClr val="CBD3DB"/>
            </a:solidFill>
            <a:prstDash val="solid"/>
          </a:ln>
        </p:spPr>
      </p:sp>
      <p:sp>
        <p:nvSpPr>
          <p:cNvPr id="31" name="Shape 29"/>
          <p:cNvSpPr/>
          <p:nvPr/>
        </p:nvSpPr>
        <p:spPr>
          <a:xfrm>
            <a:off x="6016752" y="2468880"/>
            <a:ext cx="0" cy="1051560"/>
          </a:xfrm>
          <a:prstGeom prst="line">
            <a:avLst/>
          </a:prstGeom>
          <a:noFill/>
          <a:ln w="19050">
            <a:solidFill>
              <a:srgbClr val="CBD3DB"/>
            </a:solidFill>
            <a:prstDash val="solid"/>
            <a:tailEnd type="none"/>
          </a:ln>
        </p:spPr>
      </p:sp>
      <p:sp>
        <p:nvSpPr>
          <p:cNvPr id="32" name="Shape 30"/>
          <p:cNvSpPr/>
          <p:nvPr/>
        </p:nvSpPr>
        <p:spPr>
          <a:xfrm>
            <a:off x="6153912" y="2468880"/>
            <a:ext cx="0" cy="1051560"/>
          </a:xfrm>
          <a:prstGeom prst="line">
            <a:avLst/>
          </a:prstGeom>
          <a:noFill/>
          <a:ln w="19050">
            <a:solidFill>
              <a:srgbClr val="CBD3DB"/>
            </a:solidFill>
            <a:prstDash val="solid"/>
            <a:tailEnd type="none"/>
          </a:ln>
        </p:spPr>
      </p:sp>
      <p:sp>
        <p:nvSpPr>
          <p:cNvPr id="33" name="Shape 31"/>
          <p:cNvSpPr/>
          <p:nvPr/>
        </p:nvSpPr>
        <p:spPr>
          <a:xfrm>
            <a:off x="6291072" y="2468880"/>
            <a:ext cx="0" cy="1051560"/>
          </a:xfrm>
          <a:prstGeom prst="line">
            <a:avLst/>
          </a:prstGeom>
          <a:noFill/>
          <a:ln w="19050">
            <a:solidFill>
              <a:srgbClr val="CBD3DB"/>
            </a:solidFill>
            <a:prstDash val="solid"/>
            <a:tailEnd type="none"/>
          </a:ln>
        </p:spPr>
      </p:sp>
      <p:sp>
        <p:nvSpPr>
          <p:cNvPr id="34" name="Shape 32"/>
          <p:cNvSpPr/>
          <p:nvPr/>
        </p:nvSpPr>
        <p:spPr>
          <a:xfrm>
            <a:off x="6428232" y="2468880"/>
            <a:ext cx="0" cy="1051560"/>
          </a:xfrm>
          <a:prstGeom prst="line">
            <a:avLst/>
          </a:prstGeom>
          <a:noFill/>
          <a:ln w="19050">
            <a:solidFill>
              <a:srgbClr val="CBD3DB"/>
            </a:solidFill>
            <a:prstDash val="solid"/>
            <a:tailEnd type="none"/>
          </a:ln>
        </p:spPr>
      </p:sp>
      <p:sp>
        <p:nvSpPr>
          <p:cNvPr id="35" name="Shape 33"/>
          <p:cNvSpPr/>
          <p:nvPr/>
        </p:nvSpPr>
        <p:spPr>
          <a:xfrm>
            <a:off x="6565392" y="2468880"/>
            <a:ext cx="0" cy="1051560"/>
          </a:xfrm>
          <a:prstGeom prst="line">
            <a:avLst/>
          </a:prstGeom>
          <a:noFill/>
          <a:ln w="19050">
            <a:solidFill>
              <a:srgbClr val="CBD3DB"/>
            </a:solidFill>
            <a:prstDash val="solid"/>
            <a:tailEnd type="none"/>
          </a:ln>
        </p:spPr>
      </p:sp>
      <p:sp>
        <p:nvSpPr>
          <p:cNvPr id="36" name="Shape 34"/>
          <p:cNvSpPr/>
          <p:nvPr/>
        </p:nvSpPr>
        <p:spPr>
          <a:xfrm>
            <a:off x="6720840" y="2468880"/>
            <a:ext cx="0" cy="1051560"/>
          </a:xfrm>
          <a:prstGeom prst="line">
            <a:avLst/>
          </a:prstGeom>
          <a:noFill/>
          <a:ln w="19050">
            <a:solidFill>
              <a:srgbClr val="CBD3DB"/>
            </a:solidFill>
            <a:prstDash val="solid"/>
            <a:tailEnd type="none"/>
          </a:ln>
        </p:spPr>
      </p:sp>
      <p:sp>
        <p:nvSpPr>
          <p:cNvPr id="37" name="Text 35"/>
          <p:cNvSpPr/>
          <p:nvPr/>
        </p:nvSpPr>
        <p:spPr>
          <a:xfrm>
            <a:off x="589788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3</a:t>
            </a:r>
            <a:endParaRPr lang="en-US" sz="1100" dirty="0"/>
          </a:p>
        </p:txBody>
      </p:sp>
      <p:sp>
        <p:nvSpPr>
          <p:cNvPr id="38" name="Text 36"/>
          <p:cNvSpPr/>
          <p:nvPr/>
        </p:nvSpPr>
        <p:spPr>
          <a:xfrm>
            <a:off x="589788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V dipoles</a:t>
            </a:r>
            <a:endParaRPr lang="en-US" sz="950" dirty="0"/>
          </a:p>
        </p:txBody>
      </p:sp>
      <p:sp>
        <p:nvSpPr>
          <p:cNvPr id="39" name="Shape 37"/>
          <p:cNvSpPr/>
          <p:nvPr/>
        </p:nvSpPr>
        <p:spPr>
          <a:xfrm>
            <a:off x="6949440" y="2994660"/>
            <a:ext cx="1051560" cy="0"/>
          </a:xfrm>
          <a:prstGeom prst="line">
            <a:avLst/>
          </a:prstGeom>
          <a:noFill/>
          <a:ln w="22225">
            <a:solidFill>
              <a:srgbClr val="CBD3DB"/>
            </a:solidFill>
            <a:prstDash val="dash"/>
            <a:tailEnd type="triangle"/>
          </a:ln>
        </p:spPr>
      </p:sp>
      <p:sp>
        <p:nvSpPr>
          <p:cNvPr id="40" name="Text 38"/>
          <p:cNvSpPr/>
          <p:nvPr/>
        </p:nvSpPr>
        <p:spPr>
          <a:xfrm>
            <a:off x="8092440" y="2724912"/>
            <a:ext cx="1280160" cy="237744"/>
          </a:xfrm>
          <a:prstGeom prst="rect">
            <a:avLst/>
          </a:prstGeom>
          <a:noFill/>
          <a:ln/>
        </p:spPr>
        <p:txBody>
          <a:bodyPr wrap="square" lIns="0" tIns="0" rIns="0" bIns="0" rtlCol="0" anchor="ctr"/>
          <a:lstStyle/>
          <a:p>
            <a:pPr marL="0" indent="0">
              <a:buNone/>
            </a:pPr>
            <a:r>
              <a:rPr lang="en-US" sz="1250" b="1" dirty="0">
                <a:solidFill>
                  <a:srgbClr val="9AA5B1"/>
                </a:solidFill>
                <a:latin typeface="Calibri" pitchFamily="34" charset="0"/>
                <a:ea typeface="Calibri" pitchFamily="34" charset="-122"/>
                <a:cs typeface="Calibri" pitchFamily="34" charset="-120"/>
              </a:rPr>
              <a:t>Rx: H</a:t>
            </a:r>
            <a:endParaRPr lang="en-US" sz="1250" dirty="0"/>
          </a:p>
        </p:txBody>
      </p:sp>
      <p:sp>
        <p:nvSpPr>
          <p:cNvPr id="41" name="Text 39"/>
          <p:cNvSpPr/>
          <p:nvPr/>
        </p:nvSpPr>
        <p:spPr>
          <a:xfrm>
            <a:off x="8092440" y="2999232"/>
            <a:ext cx="1280160" cy="237744"/>
          </a:xfrm>
          <a:prstGeom prst="rect">
            <a:avLst/>
          </a:prstGeom>
          <a:noFill/>
          <a:ln/>
        </p:spPr>
        <p:txBody>
          <a:bodyPr wrap="square" lIns="0" tIns="0" rIns="0" bIns="0" rtlCol="0" anchor="ctr"/>
          <a:lstStyle/>
          <a:p>
            <a:pPr marL="0" indent="0">
              <a:buNone/>
            </a:pPr>
            <a:r>
              <a:rPr lang="en-US" sz="1250" b="1" dirty="0">
                <a:solidFill>
                  <a:srgbClr val="B85C00"/>
                </a:solidFill>
                <a:latin typeface="Calibri" pitchFamily="34" charset="0"/>
                <a:ea typeface="Calibri" pitchFamily="34" charset="-122"/>
                <a:cs typeface="Calibri" pitchFamily="34" charset="-120"/>
              </a:rPr>
              <a:t>reads 0</a:t>
            </a:r>
            <a:endParaRPr lang="en-US" sz="1250" dirty="0"/>
          </a:p>
        </p:txBody>
      </p:sp>
      <p:sp>
        <p:nvSpPr>
          <p:cNvPr id="42" name="Shape 40"/>
          <p:cNvSpPr/>
          <p:nvPr/>
        </p:nvSpPr>
        <p:spPr>
          <a:xfrm>
            <a:off x="548640" y="4069080"/>
            <a:ext cx="10698480" cy="475488"/>
          </a:xfrm>
          <a:prstGeom prst="roundRect">
            <a:avLst>
              <a:gd name="adj" fmla="val 15385"/>
            </a:avLst>
          </a:prstGeom>
          <a:solidFill>
            <a:srgbClr val="12161C"/>
          </a:solidFill>
          <a:ln/>
          <a:effectLst>
            <a:outerShdw blurRad="101600" dist="38100" dir="5400000" algn="bl" rotWithShape="0">
              <a:srgbClr val="9AA5B1">
                <a:alpha val="22000"/>
              </a:srgbClr>
            </a:outerShdw>
          </a:effectLst>
        </p:spPr>
      </p:sp>
      <p:sp>
        <p:nvSpPr>
          <p:cNvPr id="43" name="Text 41"/>
          <p:cNvSpPr/>
          <p:nvPr/>
        </p:nvSpPr>
        <p:spPr>
          <a:xfrm>
            <a:off x="777240" y="4206240"/>
            <a:ext cx="10241280" cy="201168"/>
          </a:xfrm>
          <a:prstGeom prst="rect">
            <a:avLst/>
          </a:prstGeom>
          <a:noFill/>
          <a:ln/>
        </p:spPr>
        <p:txBody>
          <a:bodyPr wrap="square" lIns="0" tIns="0" rIns="0" bIns="0" rtlCol="0" anchor="ctr"/>
          <a:lstStyle/>
          <a:p>
            <a:pPr marL="0" indent="0">
              <a:lnSpc>
                <a:spcPct val="130000"/>
              </a:lnSpc>
              <a:buNone/>
            </a:pPr>
            <a:r>
              <a:rPr lang="en-US" sz="1300" dirty="0">
                <a:solidFill>
                  <a:srgbClr val="4FD8EB"/>
                </a:solidFill>
                <a:latin typeface="Courier New" pitchFamily="34" charset="0"/>
                <a:ea typeface="Courier New" pitchFamily="34" charset="-122"/>
                <a:cs typeface="Courier New" pitchFamily="34" charset="-120"/>
              </a:rPr>
              <a:t>E_inc = Ĥ   →   E_refl,1 = (Ĥ·V̂)V̂ = 0   →   no field reaches Face 2 / Face 3   →   σ_HH ≈ 0</a:t>
            </a:r>
            <a:endParaRPr lang="en-US" sz="1300" dirty="0"/>
          </a:p>
        </p:txBody>
      </p:sp>
      <p:sp>
        <p:nvSpPr>
          <p:cNvPr id="44" name="Shape 42"/>
          <p:cNvSpPr/>
          <p:nvPr/>
        </p:nvSpPr>
        <p:spPr>
          <a:xfrm>
            <a:off x="54864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5" name="Text 43"/>
          <p:cNvSpPr/>
          <p:nvPr/>
        </p:nvSpPr>
        <p:spPr>
          <a:xfrm>
            <a:off x="82296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SCALAR / PEC MODEL  (e.g. SARCASTIC/MATLAB)</a:t>
            </a:r>
            <a:endParaRPr lang="en-US" sz="1150" dirty="0"/>
          </a:p>
        </p:txBody>
      </p:sp>
      <p:sp>
        <p:nvSpPr>
          <p:cNvPr id="46" name="Text 44"/>
          <p:cNvSpPr/>
          <p:nvPr/>
        </p:nvSpPr>
        <p:spPr>
          <a:xfrm>
            <a:off x="82296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Trihedral = orientation-insensitive, maximum-RCS calibration standard.</a:t>
            </a:r>
            <a:endParaRPr lang="en-US" sz="1300" dirty="0"/>
          </a:p>
        </p:txBody>
      </p:sp>
      <p:sp>
        <p:nvSpPr>
          <p:cNvPr id="47" name="Text 45"/>
          <p:cNvSpPr/>
          <p:nvPr/>
        </p:nvSpPr>
        <p:spPr>
          <a:xfrm>
            <a:off x="822960" y="5596128"/>
            <a:ext cx="4572000" cy="365760"/>
          </a:xfrm>
          <a:prstGeom prst="rect">
            <a:avLst/>
          </a:prstGeom>
          <a:noFill/>
          <a:ln/>
        </p:spPr>
        <p:txBody>
          <a:bodyPr wrap="square" lIns="0" tIns="0" rIns="0" bIns="0" rtlCol="0" anchor="ctr"/>
          <a:lstStyle/>
          <a:p>
            <a:pPr marL="0" indent="0">
              <a:buNone/>
            </a:pPr>
            <a:r>
              <a:rPr lang="en-US" sz="2100" b="1" dirty="0">
                <a:solidFill>
                  <a:srgbClr val="B85C00"/>
                </a:solidFill>
                <a:latin typeface="Cambria" pitchFamily="34" charset="0"/>
                <a:ea typeface="Cambria" pitchFamily="34" charset="-122"/>
                <a:cs typeface="Cambria" pitchFamily="34" charset="-120"/>
              </a:rPr>
              <a:t>STRONG RETURN</a:t>
            </a:r>
            <a:endParaRPr lang="en-US" sz="2100" dirty="0"/>
          </a:p>
        </p:txBody>
      </p:sp>
      <p:sp>
        <p:nvSpPr>
          <p:cNvPr id="48" name="Shape 46"/>
          <p:cNvSpPr/>
          <p:nvPr/>
        </p:nvSpPr>
        <p:spPr>
          <a:xfrm>
            <a:off x="612648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9" name="Text 47"/>
          <p:cNvSpPr/>
          <p:nvPr/>
        </p:nvSpPr>
        <p:spPr>
          <a:xfrm>
            <a:off x="640080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SINCLAIR-MATRIX MODEL (Ansys)</a:t>
            </a:r>
            <a:endParaRPr lang="en-US" sz="1150" dirty="0"/>
          </a:p>
        </p:txBody>
      </p:sp>
      <p:sp>
        <p:nvSpPr>
          <p:cNvPr id="50" name="Text 48"/>
          <p:cNvSpPr/>
          <p:nvPr/>
        </p:nvSpPr>
        <p:spPr>
          <a:xfrm>
            <a:off x="640080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Tracks field polarization per bounce against each face’s own grid axis.</a:t>
            </a:r>
            <a:endParaRPr lang="en-US" sz="1300" dirty="0"/>
          </a:p>
        </p:txBody>
      </p:sp>
      <p:sp>
        <p:nvSpPr>
          <p:cNvPr id="51" name="Text 49"/>
          <p:cNvSpPr/>
          <p:nvPr/>
        </p:nvSpPr>
        <p:spPr>
          <a:xfrm>
            <a:off x="6400800" y="5596128"/>
            <a:ext cx="4572000" cy="365760"/>
          </a:xfrm>
          <a:prstGeom prst="rect">
            <a:avLst/>
          </a:prstGeom>
          <a:noFill/>
          <a:ln/>
        </p:spPr>
        <p:txBody>
          <a:bodyPr wrap="square" lIns="0" tIns="0" rIns="0" bIns="0" rtlCol="0" anchor="ctr"/>
          <a:lstStyle/>
          <a:p>
            <a:pPr marL="0" indent="0">
              <a:buNone/>
            </a:pPr>
            <a:r>
              <a:rPr lang="en-US" sz="2100" b="1" dirty="0">
                <a:solidFill>
                  <a:srgbClr val="0B7285"/>
                </a:solidFill>
                <a:latin typeface="Cambria" pitchFamily="34" charset="0"/>
                <a:ea typeface="Cambria" pitchFamily="34" charset="-122"/>
                <a:cs typeface="Cambria" pitchFamily="34" charset="-120"/>
              </a:rPr>
              <a:t>HH RETURN ≈ 0</a:t>
            </a:r>
            <a:endParaRPr lang="en-US" sz="2100" dirty="0"/>
          </a:p>
        </p:txBody>
      </p:sp>
      <p:sp>
        <p:nvSpPr>
          <p:cNvPr id="52" name="Text 50"/>
          <p:cNvSpPr/>
          <p:nvPr/>
        </p:nvSpPr>
        <p:spPr>
          <a:xfrm>
            <a:off x="548640" y="6080760"/>
            <a:ext cx="10698480" cy="32004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Idealized model: each face acts as a linear polarizer along its own wire axis. A scalar/PEC simulator has no per-face polarization state to null against — it would predict the opposite.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4</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Materials matter: different mechanisms, not just brightness</a:t>
            </a:r>
            <a:endParaRPr lang="en-US" sz="2300" dirty="0"/>
          </a:p>
        </p:txBody>
      </p:sp>
      <p:sp>
        <p:nvSpPr>
          <p:cNvPr id="4" name="Shape 2"/>
          <p:cNvSpPr/>
          <p:nvPr/>
        </p:nvSpPr>
        <p:spPr>
          <a:xfrm>
            <a:off x="54864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58368" cy="658368"/>
          </a:xfrm>
          <a:prstGeom prst="ellipse">
            <a:avLst/>
          </a:prstGeom>
          <a:solidFill>
            <a:srgbClr val="FF9E2C"/>
          </a:solidFill>
          <a:ln/>
        </p:spPr>
      </p:sp>
      <p:pic>
        <p:nvPicPr>
          <p:cNvPr id="6" name="Image 0" descr="/sessions/sweet-friendly-mayer/mnt/outputs/presentation/icons/FaMicrochip_dark.png"/>
          <p:cNvPicPr>
            <a:picLocks noChangeAspect="1"/>
          </p:cNvPicPr>
          <p:nvPr/>
        </p:nvPicPr>
        <p:blipFill>
          <a:blip r:embed="rId3"/>
          <a:stretch>
            <a:fillRect/>
          </a:stretch>
        </p:blipFill>
        <p:spPr>
          <a:xfrm>
            <a:off x="1000719" y="2235159"/>
            <a:ext cx="302849" cy="302849"/>
          </a:xfrm>
          <a:prstGeom prst="rect">
            <a:avLst/>
          </a:prstGeom>
        </p:spPr>
      </p:pic>
      <p:sp>
        <p:nvSpPr>
          <p:cNvPr id="7" name="Text 4"/>
          <p:cNvSpPr/>
          <p:nvPr/>
        </p:nvSpPr>
        <p:spPr>
          <a:xfrm>
            <a:off x="164592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Smooth metal</a:t>
            </a:r>
            <a:endParaRPr lang="en-US" sz="1500" dirty="0"/>
          </a:p>
        </p:txBody>
      </p:sp>
      <p:sp>
        <p:nvSpPr>
          <p:cNvPr id="8" name="Text 5"/>
          <p:cNvSpPr/>
          <p:nvPr/>
        </p:nvSpPr>
        <p:spPr>
          <a:xfrm>
            <a:off x="82296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Near-total conductor, R≈1 both polarizations → strong co-pol, weak cross-pol. Clean-mirror regime.</a:t>
            </a:r>
            <a:endParaRPr lang="en-US" sz="1200" dirty="0"/>
          </a:p>
        </p:txBody>
      </p:sp>
      <p:sp>
        <p:nvSpPr>
          <p:cNvPr id="9" name="Shape 6"/>
          <p:cNvSpPr/>
          <p:nvPr/>
        </p:nvSpPr>
        <p:spPr>
          <a:xfrm>
            <a:off x="617220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057400"/>
            <a:ext cx="658368" cy="658368"/>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624279" y="2235159"/>
            <a:ext cx="302849" cy="302849"/>
          </a:xfrm>
          <a:prstGeom prst="rect">
            <a:avLst/>
          </a:prstGeom>
        </p:spPr>
      </p:pic>
      <p:sp>
        <p:nvSpPr>
          <p:cNvPr id="12" name="Text 8"/>
          <p:cNvSpPr/>
          <p:nvPr/>
        </p:nvSpPr>
        <p:spPr>
          <a:xfrm>
            <a:off x="726948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Vegetation / canopy</a:t>
            </a:r>
            <a:endParaRPr lang="en-US" sz="1500" dirty="0"/>
          </a:p>
        </p:txBody>
      </p:sp>
      <p:sp>
        <p:nvSpPr>
          <p:cNvPr id="13" name="Text 9"/>
          <p:cNvSpPr/>
          <p:nvPr/>
        </p:nvSpPr>
        <p:spPr>
          <a:xfrm>
            <a:off x="644652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Volume scattering from many small random scatterers → genuine depolarization → strong cross-pol (HV).</a:t>
            </a:r>
            <a:endParaRPr lang="en-US" sz="1200" dirty="0"/>
          </a:p>
        </p:txBody>
      </p:sp>
      <p:sp>
        <p:nvSpPr>
          <p:cNvPr id="14" name="Shape 10"/>
          <p:cNvSpPr/>
          <p:nvPr/>
        </p:nvSpPr>
        <p:spPr>
          <a:xfrm>
            <a:off x="54864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58368" cy="658368"/>
          </a:xfrm>
          <a:prstGeom prst="ellipse">
            <a:avLst/>
          </a:prstGeom>
          <a:solidFill>
            <a:srgbClr val="FF9E2C"/>
          </a:solidFill>
          <a:ln/>
        </p:spPr>
      </p:sp>
      <p:pic>
        <p:nvPicPr>
          <p:cNvPr id="16" name="Image 2" descr="/sessions/sweet-friendly-mayer/mnt/outputs/presentation/icons/FaCube_dark.png"/>
          <p:cNvPicPr>
            <a:picLocks noChangeAspect="1"/>
          </p:cNvPicPr>
          <p:nvPr/>
        </p:nvPicPr>
        <p:blipFill>
          <a:blip r:embed="rId5"/>
          <a:stretch>
            <a:fillRect/>
          </a:stretch>
        </p:blipFill>
        <p:spPr>
          <a:xfrm>
            <a:off x="1000719" y="4612599"/>
            <a:ext cx="302849" cy="302849"/>
          </a:xfrm>
          <a:prstGeom prst="rect">
            <a:avLst/>
          </a:prstGeom>
        </p:spPr>
      </p:pic>
      <p:sp>
        <p:nvSpPr>
          <p:cNvPr id="17" name="Text 12"/>
          <p:cNvSpPr/>
          <p:nvPr/>
        </p:nvSpPr>
        <p:spPr>
          <a:xfrm>
            <a:off x="164592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Bare / rough soil</a:t>
            </a:r>
            <a:endParaRPr lang="en-US" sz="1500" dirty="0"/>
          </a:p>
        </p:txBody>
      </p:sp>
      <p:sp>
        <p:nvSpPr>
          <p:cNvPr id="18" name="Text 13"/>
          <p:cNvSpPr/>
          <p:nvPr/>
        </p:nvSpPr>
        <p:spPr>
          <a:xfrm>
            <a:off x="82296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Bragg regime, VV typically &gt; HH; some cross-pol, far less than vegetation.</a:t>
            </a:r>
            <a:endParaRPr lang="en-US" sz="1200" dirty="0"/>
          </a:p>
        </p:txBody>
      </p:sp>
      <p:sp>
        <p:nvSpPr>
          <p:cNvPr id="19" name="Shape 14"/>
          <p:cNvSpPr/>
          <p:nvPr/>
        </p:nvSpPr>
        <p:spPr>
          <a:xfrm>
            <a:off x="617220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58368" cy="658368"/>
          </a:xfrm>
          <a:prstGeom prst="ellipse">
            <a:avLst/>
          </a:prstGeom>
          <a:solidFill>
            <a:srgbClr val="4FD8EB"/>
          </a:solidFill>
          <a:ln/>
        </p:spPr>
      </p:sp>
      <p:pic>
        <p:nvPicPr>
          <p:cNvPr id="21" name="Image 3" descr="/sessions/sweet-friendly-mayer/mnt/outputs/presentation/icons/FaBuilding_dark.png"/>
          <p:cNvPicPr>
            <a:picLocks noChangeAspect="1"/>
          </p:cNvPicPr>
          <p:nvPr/>
        </p:nvPicPr>
        <p:blipFill>
          <a:blip r:embed="rId6"/>
          <a:stretch>
            <a:fillRect/>
          </a:stretch>
        </p:blipFill>
        <p:spPr>
          <a:xfrm>
            <a:off x="6624279" y="4612599"/>
            <a:ext cx="302849" cy="302849"/>
          </a:xfrm>
          <a:prstGeom prst="rect">
            <a:avLst/>
          </a:prstGeom>
        </p:spPr>
      </p:pic>
      <p:sp>
        <p:nvSpPr>
          <p:cNvPr id="22" name="Text 16"/>
          <p:cNvSpPr/>
          <p:nvPr/>
        </p:nvSpPr>
        <p:spPr>
          <a:xfrm>
            <a:off x="726948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Rotated dihedral</a:t>
            </a:r>
            <a:endParaRPr lang="en-US" sz="1500" dirty="0"/>
          </a:p>
        </p:txBody>
      </p:sp>
      <p:sp>
        <p:nvSpPr>
          <p:cNvPr id="23" name="Text 17"/>
          <p:cNvSpPr/>
          <p:nvPr/>
        </p:nvSpPr>
        <p:spPr>
          <a:xfrm>
            <a:off x="644652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Apparent cross-pol from polarization rotation -- deterministic, not the vegetation’s random depolarization.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5</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Hybrid clutter model — don’t ray-trace grass</a:t>
            </a:r>
            <a:endParaRPr lang="en-US" sz="2800" dirty="0"/>
          </a:p>
        </p:txBody>
      </p:sp>
      <p:sp>
        <p:nvSpPr>
          <p:cNvPr id="4" name="Shape 2"/>
          <p:cNvSpPr/>
          <p:nvPr/>
        </p:nvSpPr>
        <p:spPr>
          <a:xfrm>
            <a:off x="54864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40080" cy="640080"/>
          </a:xfrm>
          <a:prstGeom prst="ellipse">
            <a:avLst/>
          </a:prstGeom>
          <a:solidFill>
            <a:srgbClr val="FF9E2C"/>
          </a:solidFill>
          <a:ln/>
        </p:spPr>
      </p:sp>
      <p:pic>
        <p:nvPicPr>
          <p:cNvPr id="6" name="Image 0" descr="/sessions/sweet-friendly-mayer/mnt/outputs/presentation/icons/FaBuilding_dark.png"/>
          <p:cNvPicPr>
            <a:picLocks noChangeAspect="1"/>
          </p:cNvPicPr>
          <p:nvPr/>
        </p:nvPicPr>
        <p:blipFill>
          <a:blip r:embed="rId3"/>
          <a:stretch>
            <a:fillRect/>
          </a:stretch>
        </p:blipFill>
        <p:spPr>
          <a:xfrm>
            <a:off x="995782" y="2230222"/>
            <a:ext cx="294437" cy="294437"/>
          </a:xfrm>
          <a:prstGeom prst="rect">
            <a:avLst/>
          </a:prstGeom>
        </p:spPr>
      </p:pic>
      <p:sp>
        <p:nvSpPr>
          <p:cNvPr id="7" name="Text 4"/>
          <p:cNvSpPr/>
          <p:nvPr/>
        </p:nvSpPr>
        <p:spPr>
          <a:xfrm>
            <a:off x="160020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Deterministic / specular</a:t>
            </a:r>
            <a:endParaRPr lang="en-US" sz="1500" dirty="0"/>
          </a:p>
        </p:txBody>
      </p:sp>
      <p:sp>
        <p:nvSpPr>
          <p:cNvPr id="8" name="Text 5"/>
          <p:cNvSpPr/>
          <p:nvPr/>
        </p:nvSpPr>
        <p:spPr>
          <a:xfrm>
            <a:off x="82296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Buildings, metal, smooth ground, water</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Full ray-traced Sinclair-matrix treatment (Steps 3–4), or ASC parameters for canonical structures</a:t>
            </a:r>
            <a:endParaRPr lang="en-US" sz="1350" dirty="0"/>
          </a:p>
        </p:txBody>
      </p:sp>
      <p:sp>
        <p:nvSpPr>
          <p:cNvPr id="9" name="Shape 6"/>
          <p:cNvSpPr/>
          <p:nvPr/>
        </p:nvSpPr>
        <p:spPr>
          <a:xfrm>
            <a:off x="612648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00800" y="2057400"/>
            <a:ext cx="640080" cy="640080"/>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573622" y="2230222"/>
            <a:ext cx="294437" cy="294437"/>
          </a:xfrm>
          <a:prstGeom prst="rect">
            <a:avLst/>
          </a:prstGeom>
        </p:spPr>
      </p:pic>
      <p:sp>
        <p:nvSpPr>
          <p:cNvPr id="12" name="Text 8"/>
          <p:cNvSpPr/>
          <p:nvPr/>
        </p:nvSpPr>
        <p:spPr>
          <a:xfrm>
            <a:off x="717804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Diffuse / volume-scattering</a:t>
            </a:r>
            <a:endParaRPr lang="en-US" sz="1500" dirty="0"/>
          </a:p>
        </p:txBody>
      </p:sp>
      <p:sp>
        <p:nvSpPr>
          <p:cNvPr id="13" name="Text 9"/>
          <p:cNvSpPr/>
          <p:nvPr/>
        </p:nvSpPr>
        <p:spPr>
          <a:xfrm>
            <a:off x="640080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Vegetation, rough soil</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Empirical σ⁰_hh/vv/hv vs. incidence angle per land-cover class (Oh/IEM, water-cloud model, or AIRSAR/PolSAR tables) -- statistical draw, not traced geometry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CloudRain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CORRECTION</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Weather isn’t an ASC-vs-SBR question</a:t>
            </a:r>
            <a:endParaRPr lang="en-US" sz="2600" dirty="0"/>
          </a:p>
        </p:txBody>
      </p:sp>
      <p:sp>
        <p:nvSpPr>
          <p:cNvPr id="7" name="Text 4"/>
          <p:cNvSpPr/>
          <p:nvPr/>
        </p:nvSpPr>
        <p:spPr>
          <a:xfrm>
            <a:off x="548640" y="2011680"/>
            <a:ext cx="10698480" cy="402336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Doppler content doesn’t come from choosing ASC over SBR -- it falls out of the per-pulse forward model computing delay and phase at every platform position. Both already get correct Doppler for free.</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Rain isn’t a rigid discrete structure -- it’s a large, volumetric population of individually falling/drifting drops. A fundamentally different kind of target than the scattering centers ASC and SBR represent.</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What actually distinguishes weather: each contributor moves between pulses -- closer to the diffuse-terrain treatment (Step 5) than to either scattering-representation choice.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POSSIBLE EXTENSIONS</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Movers &amp; maneuvering contacts – SAR/GMTI simulator?</a:t>
            </a:r>
            <a:endParaRPr lang="en-US" sz="26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Shape 3"/>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CONSTANT-VELOCITY MOVERS</a:t>
            </a:r>
            <a:endParaRPr lang="en-US" sz="1300" dirty="0"/>
          </a:p>
        </p:txBody>
      </p:sp>
      <p:sp>
        <p:nvSpPr>
          <p:cNvPr id="8" name="Text 5"/>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Give a scatterer time-varying position pos0 + v·t instead of static -- forward model needs no other changes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Azimuth displacement Δx ≈ R·v_r / v_platform and Doppler-rate-mismatch defocus emerge automatically, not hand-coded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Validation check: does the sim reproduce the analytic displacement formula for a single point mover?</a:t>
            </a:r>
            <a:endParaRPr lang="en-US" sz="1300" dirty="0"/>
          </a:p>
        </p:txBody>
      </p:sp>
      <p:sp>
        <p:nvSpPr>
          <p:cNvPr id="9" name="Shape 6"/>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10" name="Text 7"/>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MANEUVERING CONTACTS (ASC)</a:t>
            </a:r>
            <a:endParaRPr lang="en-US" sz="1300" dirty="0"/>
          </a:p>
        </p:txBody>
      </p:sp>
      <p:sp>
        <p:nvSpPr>
          <p:cNvPr id="11" name="Text 8"/>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ASC is naturally suited: it’s already parameterized by aspect angle, and a maneuver is just a continuously varying aspect angle</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Fit the scattering-center library once per target type (offline SBR aspect sweep); evaluate the closed-form sum at whatever aspect the maneuver produces, per pulse -- same amortization as Slides 9–10</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Gotchas: sector pop-in/out at persistence-sector boundaries, reference-frame bookkeeping (bulk translation vs. local ASC origin), rigid-body-only -- no independently moving substructure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LayerGroup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73152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POSSIBLE EXTENSIONS</a:t>
            </a:r>
            <a:endParaRPr lang="en-US" sz="1300" dirty="0"/>
          </a:p>
        </p:txBody>
      </p:sp>
      <p:sp>
        <p:nvSpPr>
          <p:cNvPr id="6" name="Text 3"/>
          <p:cNvSpPr/>
          <p:nvPr/>
        </p:nvSpPr>
        <p:spPr>
          <a:xfrm>
            <a:off x="1600200" y="868680"/>
            <a:ext cx="1005840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SAR → GMTI: a new architecture axis, not a scatterer type</a:t>
            </a:r>
            <a:endParaRPr lang="en-US" sz="2300" dirty="0"/>
          </a:p>
        </p:txBody>
      </p:sp>
      <p:sp>
        <p:nvSpPr>
          <p:cNvPr id="7" name="Text 4"/>
          <p:cNvSpPr/>
          <p:nvPr/>
        </p:nvSpPr>
        <p:spPr>
          <a:xfrm>
            <a:off x="548640" y="2011680"/>
            <a:ext cx="10698480" cy="26517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GMTI isn’t "notice a bright pixel moved" -- it needs N simultaneous receive phase centers (sub-aperture receive chains displaced along-track), all observing the same scene and pulse, coherently</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Clutter cancellation (DPCA, or STAP for non-ideal clutter) separates movers from stationary background across channels -- a genuinely different processing chain from Step 7’s single-channel image formation, not a variant of it</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 the multi-channel mixture honestly and the minimum detectable velocity / clutter notch emerges physically -- slow-radial-velocity movers correctly vanish into clutter instead of a hand-set detection threshold</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Output is detections/tracks (range, azimuth, radial velocity) per contact, not an image</a:t>
            </a:r>
            <a:endParaRPr lang="en-US" sz="1400" dirty="0"/>
          </a:p>
        </p:txBody>
      </p:sp>
      <p:sp>
        <p:nvSpPr>
          <p:cNvPr id="8" name="Shape 5"/>
          <p:cNvSpPr/>
          <p:nvPr/>
        </p:nvSpPr>
        <p:spPr>
          <a:xfrm>
            <a:off x="548640" y="48920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9" name="Text 6"/>
          <p:cNvSpPr/>
          <p:nvPr/>
        </p:nvSpPr>
        <p:spPr>
          <a:xfrm>
            <a:off x="822960" y="4892040"/>
            <a:ext cx="10149840" cy="137160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Bonus -- scene generation:  </a:t>
            </a:r>
            <a:r>
              <a:rPr lang="en-US" sz="1300" dirty="0">
                <a:solidFill>
                  <a:srgbClr val="141A22"/>
                </a:solidFill>
                <a:latin typeface="Calibri" pitchFamily="34" charset="0"/>
                <a:ea typeface="Calibri" pitchFamily="34" charset="-122"/>
                <a:cs typeface="Calibri" pitchFamily="34" charset="-120"/>
              </a:rPr>
              <a:t>drive multi-actor scenes with the engine’s own nav-mesh/crowd/traffic AI instead of hand-scripting tracks. Bake each actor’s trajectory once (position + heading vs. time), then replay it decoupled from the engine’s render tick -- a CPI can be well under a second of slow-time, faster than the nav-mesh update rate.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WEATHER</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Injecting rain: backscatter + Doppler spectrum + attenuation</a:t>
            </a:r>
            <a:endParaRPr lang="en-US" sz="2300" dirty="0"/>
          </a:p>
        </p:txBody>
      </p:sp>
      <p:sp>
        <p:nvSpPr>
          <p:cNvPr id="4" name="Shape 2"/>
          <p:cNvSpPr/>
          <p:nvPr/>
        </p:nvSpPr>
        <p:spPr>
          <a:xfrm>
            <a:off x="548640" y="1856232"/>
            <a:ext cx="502920" cy="502920"/>
          </a:xfrm>
          <a:prstGeom prst="ellipse">
            <a:avLst/>
          </a:prstGeom>
          <a:solidFill>
            <a:srgbClr val="4FD8EB"/>
          </a:solidFill>
          <a:ln/>
        </p:spPr>
      </p:sp>
      <p:sp>
        <p:nvSpPr>
          <p:cNvPr id="5" name="Text 3"/>
          <p:cNvSpPr/>
          <p:nvPr/>
        </p:nvSpPr>
        <p:spPr>
          <a:xfrm>
            <a:off x="548640" y="18562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783080"/>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Volume backscatter  </a:t>
            </a:r>
            <a:r>
              <a:rPr lang="en-US" sz="1250" dirty="0">
                <a:solidFill>
                  <a:srgbClr val="5B6672"/>
                </a:solidFill>
                <a:latin typeface="Calibri" pitchFamily="34" charset="0"/>
                <a:ea typeface="Calibri" pitchFamily="34" charset="-122"/>
                <a:cs typeface="Calibri" pitchFamily="34" charset="-120"/>
              </a:rPr>
              <a:t>Distributed point scatterers fill the illuminated volume; reflectivity via Marshall-Palmer drop-size distribution → Z, standard Z–R relation.</a:t>
            </a:r>
            <a:endParaRPr lang="en-US" sz="1450" dirty="0"/>
          </a:p>
        </p:txBody>
      </p:sp>
      <p:sp>
        <p:nvSpPr>
          <p:cNvPr id="7" name="Shape 5"/>
          <p:cNvSpPr/>
          <p:nvPr/>
        </p:nvSpPr>
        <p:spPr>
          <a:xfrm>
            <a:off x="548640" y="2752344"/>
            <a:ext cx="502920" cy="502920"/>
          </a:xfrm>
          <a:prstGeom prst="ellipse">
            <a:avLst/>
          </a:prstGeom>
          <a:solidFill>
            <a:srgbClr val="FF9E2C"/>
          </a:solidFill>
          <a:ln/>
        </p:spPr>
      </p:sp>
      <p:sp>
        <p:nvSpPr>
          <p:cNvPr id="8" name="Text 6"/>
          <p:cNvSpPr/>
          <p:nvPr/>
        </p:nvSpPr>
        <p:spPr>
          <a:xfrm>
            <a:off x="548640" y="2752344"/>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2679192"/>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Per-scatterer Doppler  </a:t>
            </a:r>
            <a:r>
              <a:rPr lang="en-US" sz="1250" dirty="0">
                <a:solidFill>
                  <a:srgbClr val="5B6672"/>
                </a:solidFill>
                <a:latin typeface="Calibri" pitchFamily="34" charset="0"/>
                <a:ea typeface="Calibri" pitchFamily="34" charset="-122"/>
                <a:cs typeface="Calibri" pitchFamily="34" charset="-120"/>
              </a:rPr>
              <a:t>Each drop’s radial velocity = size-dependent terminal fall speed (projected) + ambient wind -- a genuine mean Doppler shift.</a:t>
            </a:r>
            <a:endParaRPr lang="en-US" sz="1450" dirty="0"/>
          </a:p>
        </p:txBody>
      </p:sp>
      <p:sp>
        <p:nvSpPr>
          <p:cNvPr id="10" name="Shape 8"/>
          <p:cNvSpPr/>
          <p:nvPr/>
        </p:nvSpPr>
        <p:spPr>
          <a:xfrm>
            <a:off x="548640" y="3648456"/>
            <a:ext cx="502920" cy="502920"/>
          </a:xfrm>
          <a:prstGeom prst="ellipse">
            <a:avLst/>
          </a:prstGeom>
          <a:solidFill>
            <a:srgbClr val="4FD8EB"/>
          </a:solidFill>
          <a:ln/>
        </p:spPr>
      </p:sp>
      <p:sp>
        <p:nvSpPr>
          <p:cNvPr id="11" name="Text 9"/>
          <p:cNvSpPr/>
          <p:nvPr/>
        </p:nvSpPr>
        <p:spPr>
          <a:xfrm>
            <a:off x="548640" y="3648456"/>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3575304"/>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Spectrum width  </a:t>
            </a:r>
            <a:r>
              <a:rPr lang="en-US" sz="1250" dirty="0">
                <a:solidFill>
                  <a:srgbClr val="5B6672"/>
                </a:solidFill>
                <a:latin typeface="Calibri" pitchFamily="34" charset="0"/>
                <a:ea typeface="Calibri" pitchFamily="34" charset="-122"/>
                <a:cs typeface="Calibri" pitchFamily="34" charset="-120"/>
              </a:rPr>
              <a:t>Turbulence and wind shear spread the mean -- standard Doviak &amp; Zrnić treatment; sample per-scatterer velocity from a distribution.</a:t>
            </a:r>
            <a:endParaRPr lang="en-US" sz="1450" dirty="0"/>
          </a:p>
        </p:txBody>
      </p:sp>
      <p:sp>
        <p:nvSpPr>
          <p:cNvPr id="13" name="Shape 11"/>
          <p:cNvSpPr/>
          <p:nvPr/>
        </p:nvSpPr>
        <p:spPr>
          <a:xfrm>
            <a:off x="548640" y="4544568"/>
            <a:ext cx="502920" cy="502920"/>
          </a:xfrm>
          <a:prstGeom prst="ellipse">
            <a:avLst/>
          </a:prstGeom>
          <a:solidFill>
            <a:srgbClr val="FF9E2C"/>
          </a:solidFill>
          <a:ln/>
        </p:spPr>
      </p:sp>
      <p:sp>
        <p:nvSpPr>
          <p:cNvPr id="14" name="Text 12"/>
          <p:cNvSpPr/>
          <p:nvPr/>
        </p:nvSpPr>
        <p:spPr>
          <a:xfrm>
            <a:off x="548640" y="4544568"/>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4</a:t>
            </a:r>
            <a:endParaRPr lang="en-US" sz="1700" dirty="0"/>
          </a:p>
        </p:txBody>
      </p:sp>
      <p:sp>
        <p:nvSpPr>
          <p:cNvPr id="15" name="Text 13"/>
          <p:cNvSpPr/>
          <p:nvPr/>
        </p:nvSpPr>
        <p:spPr>
          <a:xfrm>
            <a:off x="1280160" y="4471416"/>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Two-way attenuation  </a:t>
            </a:r>
            <a:r>
              <a:rPr lang="en-US" sz="1250" dirty="0">
                <a:solidFill>
                  <a:srgbClr val="5B6672"/>
                </a:solidFill>
                <a:latin typeface="Calibri" pitchFamily="34" charset="0"/>
                <a:ea typeface="Calibri" pitchFamily="34" charset="-122"/>
                <a:cs typeface="Calibri" pitchFamily="34" charset="-120"/>
              </a:rPr>
              <a:t>Rain also attenuates the wave passing through it (dB/km, frequency- and rate-dependent) -- dims whatever is behind the cell.</a:t>
            </a:r>
            <a:endParaRPr lang="en-US" sz="1450" dirty="0"/>
          </a:p>
        </p:txBody>
      </p:sp>
      <p:sp>
        <p:nvSpPr>
          <p:cNvPr id="16" name="Text 14"/>
          <p:cNvSpPr/>
          <p:nvPr/>
        </p:nvSpPr>
        <p:spPr>
          <a:xfrm>
            <a:off x="548640" y="5413248"/>
            <a:ext cx="10698480" cy="64008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Net effect: the scatterer population re-randomizes faster than it coherently integrates -- rain shows up as diffuse, poorly-focused clutter, and can visibly shadow terrain behind it.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THE MAP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Pipeline overview</a:t>
            </a:r>
            <a:endParaRPr lang="en-US" sz="2800" dirty="0"/>
          </a:p>
        </p:txBody>
      </p:sp>
      <p:sp>
        <p:nvSpPr>
          <p:cNvPr id="4" name="Shape 2"/>
          <p:cNvSpPr/>
          <p:nvPr/>
        </p:nvSpPr>
        <p:spPr>
          <a:xfrm>
            <a:off x="896112" y="1965960"/>
            <a:ext cx="36576" cy="3840480"/>
          </a:xfrm>
          <a:prstGeom prst="rect">
            <a:avLst/>
          </a:prstGeom>
          <a:solidFill>
            <a:srgbClr val="CBD3DB"/>
          </a:solidFill>
          <a:ln/>
        </p:spPr>
      </p:sp>
      <p:sp>
        <p:nvSpPr>
          <p:cNvPr id="5" name="Shape 3"/>
          <p:cNvSpPr/>
          <p:nvPr/>
        </p:nvSpPr>
        <p:spPr>
          <a:xfrm>
            <a:off x="594360" y="1783080"/>
            <a:ext cx="640080" cy="640080"/>
          </a:xfrm>
          <a:prstGeom prst="ellipse">
            <a:avLst/>
          </a:prstGeom>
          <a:solidFill>
            <a:srgbClr val="FF9E2C"/>
          </a:solidFill>
          <a:ln/>
        </p:spPr>
      </p:sp>
      <p:sp>
        <p:nvSpPr>
          <p:cNvPr id="6" name="Text 4"/>
          <p:cNvSpPr/>
          <p:nvPr/>
        </p:nvSpPr>
        <p:spPr>
          <a:xfrm>
            <a:off x="594360" y="178308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417320" y="176479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Extract geometry + assign real EM material properties (not game albedo)</a:t>
            </a:r>
            <a:endParaRPr lang="en-US" sz="1400" dirty="0"/>
          </a:p>
        </p:txBody>
      </p:sp>
      <p:sp>
        <p:nvSpPr>
          <p:cNvPr id="8" name="Shape 6"/>
          <p:cNvSpPr/>
          <p:nvPr/>
        </p:nvSpPr>
        <p:spPr>
          <a:xfrm>
            <a:off x="594360" y="2542032"/>
            <a:ext cx="640080" cy="640080"/>
          </a:xfrm>
          <a:prstGeom prst="ellipse">
            <a:avLst/>
          </a:prstGeom>
          <a:solidFill>
            <a:srgbClr val="FF9E2C"/>
          </a:solidFill>
          <a:ln/>
        </p:spPr>
      </p:sp>
      <p:sp>
        <p:nvSpPr>
          <p:cNvPr id="9" name="Text 7"/>
          <p:cNvSpPr/>
          <p:nvPr/>
        </p:nvSpPr>
        <p:spPr>
          <a:xfrm>
            <a:off x="594360" y="2542032"/>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2</a:t>
            </a:r>
            <a:endParaRPr lang="en-US" sz="2100" dirty="0"/>
          </a:p>
        </p:txBody>
      </p:sp>
      <p:sp>
        <p:nvSpPr>
          <p:cNvPr id="10" name="Text 8"/>
          <p:cNvSpPr/>
          <p:nvPr/>
        </p:nvSpPr>
        <p:spPr>
          <a:xfrm>
            <a:off x="1417320" y="2523744"/>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Segment scene, trace rays with hardware-accelerated ray tracing where needed</a:t>
            </a:r>
            <a:endParaRPr lang="en-US" sz="1400" dirty="0"/>
          </a:p>
        </p:txBody>
      </p:sp>
      <p:sp>
        <p:nvSpPr>
          <p:cNvPr id="11" name="Shape 9"/>
          <p:cNvSpPr/>
          <p:nvPr/>
        </p:nvSpPr>
        <p:spPr>
          <a:xfrm>
            <a:off x="594360" y="3300984"/>
            <a:ext cx="640080" cy="640080"/>
          </a:xfrm>
          <a:prstGeom prst="ellipse">
            <a:avLst/>
          </a:prstGeom>
          <a:solidFill>
            <a:srgbClr val="FF9E2C"/>
          </a:solidFill>
          <a:ln/>
        </p:spPr>
      </p:sp>
      <p:sp>
        <p:nvSpPr>
          <p:cNvPr id="12" name="Text 10"/>
          <p:cNvSpPr/>
          <p:nvPr/>
        </p:nvSpPr>
        <p:spPr>
          <a:xfrm>
            <a:off x="594360" y="3300984"/>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3</a:t>
            </a:r>
            <a:endParaRPr lang="en-US" sz="2100" dirty="0"/>
          </a:p>
        </p:txBody>
      </p:sp>
      <p:sp>
        <p:nvSpPr>
          <p:cNvPr id="13" name="Text 11"/>
          <p:cNvSpPr/>
          <p:nvPr/>
        </p:nvSpPr>
        <p:spPr>
          <a:xfrm>
            <a:off x="1417320" y="3282696"/>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Collapse to point-scatterer contributions; empirical backscatter for diffuse terrain</a:t>
            </a:r>
            <a:endParaRPr lang="en-US" sz="1400" dirty="0"/>
          </a:p>
        </p:txBody>
      </p:sp>
      <p:sp>
        <p:nvSpPr>
          <p:cNvPr id="14" name="Shape 12"/>
          <p:cNvSpPr/>
          <p:nvPr/>
        </p:nvSpPr>
        <p:spPr>
          <a:xfrm>
            <a:off x="594360" y="4059936"/>
            <a:ext cx="640080" cy="640080"/>
          </a:xfrm>
          <a:prstGeom prst="ellipse">
            <a:avLst/>
          </a:prstGeom>
          <a:solidFill>
            <a:srgbClr val="FF9E2C"/>
          </a:solidFill>
          <a:ln/>
        </p:spPr>
      </p:sp>
      <p:sp>
        <p:nvSpPr>
          <p:cNvPr id="15" name="Text 13"/>
          <p:cNvSpPr/>
          <p:nvPr/>
        </p:nvSpPr>
        <p:spPr>
          <a:xfrm>
            <a:off x="594360" y="4059936"/>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4</a:t>
            </a:r>
            <a:endParaRPr lang="en-US" sz="2100" dirty="0"/>
          </a:p>
        </p:txBody>
      </p:sp>
      <p:sp>
        <p:nvSpPr>
          <p:cNvPr id="16" name="Text 14"/>
          <p:cNvSpPr/>
          <p:nvPr/>
        </p:nvSpPr>
        <p:spPr>
          <a:xfrm>
            <a:off x="1417320" y="4041648"/>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Forward-simulate raw phase history per pulse across the synthetic aperture</a:t>
            </a:r>
            <a:endParaRPr lang="en-US" sz="1400" dirty="0"/>
          </a:p>
        </p:txBody>
      </p:sp>
      <p:sp>
        <p:nvSpPr>
          <p:cNvPr id="17" name="Shape 15"/>
          <p:cNvSpPr/>
          <p:nvPr/>
        </p:nvSpPr>
        <p:spPr>
          <a:xfrm>
            <a:off x="594360" y="4818888"/>
            <a:ext cx="640080" cy="640080"/>
          </a:xfrm>
          <a:prstGeom prst="ellipse">
            <a:avLst/>
          </a:prstGeom>
          <a:solidFill>
            <a:srgbClr val="FF9E2C"/>
          </a:solidFill>
          <a:ln/>
        </p:spPr>
      </p:sp>
      <p:sp>
        <p:nvSpPr>
          <p:cNvPr id="18" name="Text 16"/>
          <p:cNvSpPr/>
          <p:nvPr/>
        </p:nvSpPr>
        <p:spPr>
          <a:xfrm>
            <a:off x="594360" y="4818888"/>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5</a:t>
            </a:r>
            <a:endParaRPr lang="en-US" sz="2100" dirty="0"/>
          </a:p>
        </p:txBody>
      </p:sp>
      <p:sp>
        <p:nvSpPr>
          <p:cNvPr id="19" name="Text 17"/>
          <p:cNvSpPr/>
          <p:nvPr/>
        </p:nvSpPr>
        <p:spPr>
          <a:xfrm>
            <a:off x="1417320" y="4800600"/>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Run standard SAR image formation</a:t>
            </a:r>
            <a:endParaRPr lang="en-US" sz="1400" dirty="0"/>
          </a:p>
        </p:txBody>
      </p:sp>
      <p:sp>
        <p:nvSpPr>
          <p:cNvPr id="20" name="Shape 18"/>
          <p:cNvSpPr/>
          <p:nvPr/>
        </p:nvSpPr>
        <p:spPr>
          <a:xfrm>
            <a:off x="594360" y="5577840"/>
            <a:ext cx="640080" cy="640080"/>
          </a:xfrm>
          <a:prstGeom prst="ellipse">
            <a:avLst/>
          </a:prstGeom>
          <a:solidFill>
            <a:srgbClr val="4FD8EB"/>
          </a:solidFill>
          <a:ln/>
        </p:spPr>
      </p:sp>
      <p:sp>
        <p:nvSpPr>
          <p:cNvPr id="21" name="Text 19"/>
          <p:cNvSpPr/>
          <p:nvPr/>
        </p:nvSpPr>
        <p:spPr>
          <a:xfrm>
            <a:off x="594360" y="557784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6</a:t>
            </a:r>
            <a:endParaRPr lang="en-US" sz="2100" dirty="0"/>
          </a:p>
        </p:txBody>
      </p:sp>
      <p:sp>
        <p:nvSpPr>
          <p:cNvPr id="22" name="Text 20"/>
          <p:cNvSpPr/>
          <p:nvPr/>
        </p:nvSpPr>
        <p:spPr>
          <a:xfrm>
            <a:off x="1417320" y="555955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Layover, shadow, double-bounce, speckle emerge naturally -- real geometry, not a hack</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How do we know it’s right? A falsifiable ladder, not a vibe check</a:t>
            </a:r>
            <a:endParaRPr lang="en-US" sz="2200" dirty="0"/>
          </a:p>
        </p:txBody>
      </p:sp>
      <p:sp>
        <p:nvSpPr>
          <p:cNvPr id="4" name="Text 2"/>
          <p:cNvSpPr/>
          <p:nvPr/>
        </p:nvSpPr>
        <p:spPr>
          <a:xfrm>
            <a:off x="548640" y="1371600"/>
            <a:ext cx="10698480" cy="32004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Each tier should be able to FAIL and reveal a real bug -- not just "look plausible." Cheapest, most diagnostic checks first.</a:t>
            </a:r>
            <a:endParaRPr lang="en-US" sz="1250" dirty="0"/>
          </a:p>
        </p:txBody>
      </p:sp>
      <p:graphicFrame>
        <p:nvGraphicFramePr>
          <p:cNvPr id="19" name="Table 0"/>
          <p:cNvGraphicFramePr>
            <a:graphicFrameLocks noGrp="1"/>
          </p:cNvGraphicFramePr>
          <p:nvPr/>
        </p:nvGraphicFramePr>
        <p:xfrm>
          <a:off x="457200" y="1828800"/>
          <a:ext cx="11247120" cy="4206240"/>
        </p:xfrm>
        <a:graphic>
          <a:graphicData uri="http://schemas.openxmlformats.org/drawingml/2006/table">
            <a:tbl>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01040">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validates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Pass criterion</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1. Canonical target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Isolated trihedral / dihedral / sphere vs. closed-form RCS-vs-aspect and impulse response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Forward model + windowing/image-formation chain, in isolation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Peak RCS, null depth, sidelobe level, and mainlobe width all match theory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 ASC vs. dense SBR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Per structure type, same sector, same noise realization: form a chip from ASC-cached and from full dense-SBR phase history; score with SSIM / MS-SSIM (Wang et al. 2004) plus amplitude/phase RMS error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compression itself -- is the cache structurally faithful, not just numerically close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SSIM ≥ 0.95 (typical) and RMS error below threshold inside the sector; both degrade sharply together just outside it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2.5. ASC position fidelity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Extract (x_k,y_k[,z_k]) from simulated phase history via CLEAN/matrix-pencil as if unknown; transform aperture-relative → world coords; compare to CAD mesh</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extraction/fitting stage itself -- not the forward model’s mesh lookup, which trivially matches by construction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Tight agreement in range/cross-range; wide or degenerate out-of-plane without real elevation-angle diversity -- report anisotropic error, not one 3D number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3. Kinematic (movers)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Simulated azimuth displacement &amp; defocus vs. analytic Δx = R·v_r / v_platform</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forward model’s time-varying-position path (see Extensions)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Matches the closed-form displacement to numerical precision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4. Scene-level statistics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Speckle texture (equivalent number of looks), clutter amplitude distribution, layover/shadow geometry vs. real MSTAR chips and their SAMPLE synthetic twins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Everything at once, end to end -- the only tier that touches real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Falls within the same distribution family/parameter range as real MSTAR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6" name="Shape 3"/>
          <p:cNvSpPr/>
          <p:nvPr/>
        </p:nvSpPr>
        <p:spPr>
          <a:xfrm>
            <a:off x="548640" y="6126480"/>
            <a:ext cx="10698480" cy="640080"/>
          </a:xfrm>
          <a:prstGeom prst="roundRect">
            <a:avLst>
              <a:gd name="adj" fmla="val 1142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6126480"/>
            <a:ext cx="10149840" cy="640080"/>
          </a:xfrm>
          <a:prstGeom prst="rect">
            <a:avLst/>
          </a:prstGeom>
          <a:noFill/>
          <a:ln/>
        </p:spPr>
        <p:txBody>
          <a:bodyPr wrap="square" lIns="0" tIns="0" rIns="0" bIns="0" rtlCol="0" anchor="ctr"/>
          <a:lstStyle/>
          <a:p>
            <a:pPr marL="0" indent="0">
              <a:lnSpc>
                <a:spcPct val="110000"/>
              </a:lnSpc>
              <a:buNone/>
            </a:pPr>
            <a:r>
              <a:rPr lang="en-US" sz="1000" b="1" dirty="0">
                <a:solidFill>
                  <a:srgbClr val="0B7285"/>
                </a:solidFill>
                <a:latin typeface="Calibri" pitchFamily="34" charset="0"/>
                <a:ea typeface="Calibri" pitchFamily="34" charset="-122"/>
                <a:cs typeface="Calibri" pitchFamily="34" charset="-120"/>
              </a:rPr>
              <a:t>Reference data, no special access needed:  </a:t>
            </a:r>
            <a:r>
              <a:rPr lang="en-US" sz="1000" dirty="0">
                <a:solidFill>
                  <a:srgbClr val="141A22"/>
                </a:solidFill>
                <a:latin typeface="Calibri" pitchFamily="34" charset="0"/>
                <a:ea typeface="Calibri" pitchFamily="34" charset="-122"/>
                <a:cs typeface="Calibri" pitchFamily="34" charset="-120"/>
              </a:rPr>
              <a:t>MSTAR real chips ship paired with a DIFFERENT simulator's synthetic twin of the same target/pose in the public SAMPLE dataset (10 vehicle classes, github.com/benjaminlewis-afrl/SAMPLE_dataset_public) -- turning Tier 4 into a 3-way check that separates physics error from real-world confounds.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A worked check: does Pauli decomposition put color where physics says it should?</a:t>
            </a:r>
            <a:endParaRPr lang="en-US" sz="2000" dirty="0"/>
          </a:p>
        </p:txBody>
      </p:sp>
      <p:sp>
        <p:nvSpPr>
          <p:cNvPr id="4" name="Text 2"/>
          <p:cNvSpPr/>
          <p:nvPr/>
        </p:nvSpPr>
        <p:spPr>
          <a:xfrm>
            <a:off x="548640" y="1417320"/>
            <a:ext cx="10698480" cy="50292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Decompose simulated polarimetric returns from the Tier 1 canonical targets into the standard Pauli basis. Each mechanism has a known, unambiguous answer -- this is a real pass/fail test, not a visual eyeball comparison.</a:t>
            </a:r>
            <a:endParaRPr lang="en-US" sz="1250" dirty="0"/>
          </a:p>
        </p:txBody>
      </p:sp>
      <p:sp>
        <p:nvSpPr>
          <p:cNvPr id="5" name="Shape 3"/>
          <p:cNvSpPr/>
          <p:nvPr/>
        </p:nvSpPr>
        <p:spPr>
          <a:xfrm>
            <a:off x="548640" y="2103120"/>
            <a:ext cx="3383280" cy="2148840"/>
          </a:xfrm>
          <a:prstGeom prst="roundRect">
            <a:avLst>
              <a:gd name="adj" fmla="val 3404"/>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74520" y="2331720"/>
            <a:ext cx="731520" cy="731520"/>
          </a:xfrm>
          <a:prstGeom prst="ellipse">
            <a:avLst/>
          </a:prstGeom>
          <a:solidFill>
            <a:srgbClr val="2E5C8A"/>
          </a:solidFill>
          <a:ln/>
        </p:spPr>
      </p:sp>
      <p:sp>
        <p:nvSpPr>
          <p:cNvPr id="7" name="Text 5"/>
          <p:cNvSpPr/>
          <p:nvPr/>
        </p:nvSpPr>
        <p:spPr>
          <a:xfrm>
            <a:off x="548640" y="3154680"/>
            <a:ext cx="3383280" cy="320040"/>
          </a:xfrm>
          <a:prstGeom prst="rect">
            <a:avLst/>
          </a:prstGeom>
          <a:noFill/>
          <a:ln/>
        </p:spPr>
        <p:txBody>
          <a:bodyPr wrap="square" lIns="0" tIns="0" rIns="0" bIns="0" rtlCol="0" anchor="ctr"/>
          <a:lstStyle/>
          <a:p>
            <a:pPr marL="0" indent="0" algn="ctr">
              <a:buNone/>
            </a:pPr>
            <a:r>
              <a:rPr lang="en-US" sz="1450" b="1" dirty="0">
                <a:solidFill>
                  <a:srgbClr val="141A22"/>
                </a:solidFill>
                <a:latin typeface="Calibri" pitchFamily="34" charset="0"/>
                <a:ea typeface="Calibri" pitchFamily="34" charset="-122"/>
                <a:cs typeface="Calibri" pitchFamily="34" charset="-120"/>
              </a:rPr>
              <a:t>Trihedral</a:t>
            </a:r>
            <a:endParaRPr lang="en-US" sz="1450" dirty="0"/>
          </a:p>
        </p:txBody>
      </p:sp>
      <p:sp>
        <p:nvSpPr>
          <p:cNvPr id="8" name="Text 6"/>
          <p:cNvSpPr/>
          <p:nvPr/>
        </p:nvSpPr>
        <p:spPr>
          <a:xfrm>
            <a:off x="685800" y="3493008"/>
            <a:ext cx="3108960" cy="457200"/>
          </a:xfrm>
          <a:prstGeom prst="rect">
            <a:avLst/>
          </a:prstGeom>
          <a:noFill/>
          <a:ln/>
        </p:spPr>
        <p:txBody>
          <a:bodyPr wrap="square" lIns="0" tIns="0" rIns="0" bIns="0" rtlCol="0" anchor="ctr"/>
          <a:lstStyle/>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Odd-bounce dominant</a:t>
            </a:r>
            <a:endParaRPr lang="en-US" sz="1050" dirty="0"/>
          </a:p>
        </p:txBody>
      </p:sp>
      <p:sp>
        <p:nvSpPr>
          <p:cNvPr id="9" name="Text 7"/>
          <p:cNvSpPr/>
          <p:nvPr/>
        </p:nvSpPr>
        <p:spPr>
          <a:xfrm>
            <a:off x="640080" y="3913632"/>
            <a:ext cx="3200400" cy="274320"/>
          </a:xfrm>
          <a:prstGeom prst="rect">
            <a:avLst/>
          </a:prstGeom>
          <a:noFill/>
          <a:ln/>
        </p:spPr>
        <p:txBody>
          <a:bodyPr wrap="square" lIns="0" tIns="0" rIns="0" bIns="0" rtlCol="0" anchor="ctr"/>
          <a:lstStyle/>
          <a:p>
            <a:pPr marL="0" indent="0" algn="ctr">
              <a:buNone/>
            </a:pPr>
            <a:r>
              <a:rPr lang="en-US" sz="1050" b="1" dirty="0">
                <a:solidFill>
                  <a:srgbClr val="2E5C8A"/>
                </a:solidFill>
                <a:latin typeface="Courier New" pitchFamily="34" charset="0"/>
                <a:ea typeface="Courier New" pitchFamily="34" charset="-122"/>
                <a:cs typeface="Courier New" pitchFamily="34" charset="-120"/>
              </a:rPr>
              <a:t>|S_hh + S_vv|²  →  BLUE</a:t>
            </a:r>
            <a:endParaRPr lang="en-US" sz="1050" dirty="0"/>
          </a:p>
        </p:txBody>
      </p:sp>
      <p:sp>
        <p:nvSpPr>
          <p:cNvPr id="10" name="Shape 8"/>
          <p:cNvSpPr/>
          <p:nvPr/>
        </p:nvSpPr>
        <p:spPr>
          <a:xfrm>
            <a:off x="4069080" y="2103120"/>
            <a:ext cx="3383280" cy="2148840"/>
          </a:xfrm>
          <a:prstGeom prst="roundRect">
            <a:avLst>
              <a:gd name="adj" fmla="val 3404"/>
            </a:avLst>
          </a:prstGeom>
          <a:solidFill>
            <a:srgbClr val="F1F4F8"/>
          </a:solidFill>
          <a:ln/>
          <a:effectLst>
            <a:outerShdw blurRad="101600" dist="38100" dir="5400000" algn="bl" rotWithShape="0">
              <a:srgbClr val="9AA5B1">
                <a:alpha val="22000"/>
              </a:srgbClr>
            </a:outerShdw>
          </a:effectLst>
        </p:spPr>
      </p:sp>
      <p:sp>
        <p:nvSpPr>
          <p:cNvPr id="11" name="Shape 9"/>
          <p:cNvSpPr/>
          <p:nvPr/>
        </p:nvSpPr>
        <p:spPr>
          <a:xfrm>
            <a:off x="5394960" y="2331720"/>
            <a:ext cx="731520" cy="731520"/>
          </a:xfrm>
          <a:prstGeom prst="ellipse">
            <a:avLst/>
          </a:prstGeom>
          <a:solidFill>
            <a:srgbClr val="B8433A"/>
          </a:solidFill>
          <a:ln/>
        </p:spPr>
      </p:sp>
      <p:sp>
        <p:nvSpPr>
          <p:cNvPr id="12" name="Text 10"/>
          <p:cNvSpPr/>
          <p:nvPr/>
        </p:nvSpPr>
        <p:spPr>
          <a:xfrm>
            <a:off x="4069080" y="3154680"/>
            <a:ext cx="3383280" cy="320040"/>
          </a:xfrm>
          <a:prstGeom prst="rect">
            <a:avLst/>
          </a:prstGeom>
          <a:noFill/>
          <a:ln/>
        </p:spPr>
        <p:txBody>
          <a:bodyPr wrap="square" lIns="0" tIns="0" rIns="0" bIns="0" rtlCol="0" anchor="ctr"/>
          <a:lstStyle/>
          <a:p>
            <a:pPr marL="0" indent="0" algn="ctr">
              <a:buNone/>
            </a:pPr>
            <a:r>
              <a:rPr lang="en-US" sz="1450" b="1" dirty="0">
                <a:solidFill>
                  <a:srgbClr val="141A22"/>
                </a:solidFill>
                <a:latin typeface="Calibri" pitchFamily="34" charset="0"/>
                <a:ea typeface="Calibri" pitchFamily="34" charset="-122"/>
                <a:cs typeface="Calibri" pitchFamily="34" charset="-120"/>
              </a:rPr>
              <a:t>Dihedral</a:t>
            </a:r>
            <a:endParaRPr lang="en-US" sz="1450" dirty="0"/>
          </a:p>
        </p:txBody>
      </p:sp>
      <p:sp>
        <p:nvSpPr>
          <p:cNvPr id="13" name="Text 11"/>
          <p:cNvSpPr/>
          <p:nvPr/>
        </p:nvSpPr>
        <p:spPr>
          <a:xfrm>
            <a:off x="4206240" y="3493008"/>
            <a:ext cx="3108960" cy="457200"/>
          </a:xfrm>
          <a:prstGeom prst="rect">
            <a:avLst/>
          </a:prstGeom>
          <a:noFill/>
          <a:ln/>
        </p:spPr>
        <p:txBody>
          <a:bodyPr wrap="square" lIns="0" tIns="0" rIns="0" bIns="0" rtlCol="0" anchor="ctr"/>
          <a:lstStyle/>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Even-bounce dominant</a:t>
            </a:r>
            <a:endParaRPr lang="en-US" sz="1050" dirty="0"/>
          </a:p>
        </p:txBody>
      </p:sp>
      <p:sp>
        <p:nvSpPr>
          <p:cNvPr id="14" name="Text 12"/>
          <p:cNvSpPr/>
          <p:nvPr/>
        </p:nvSpPr>
        <p:spPr>
          <a:xfrm>
            <a:off x="4160520" y="3913632"/>
            <a:ext cx="3200400" cy="274320"/>
          </a:xfrm>
          <a:prstGeom prst="rect">
            <a:avLst/>
          </a:prstGeom>
          <a:noFill/>
          <a:ln/>
        </p:spPr>
        <p:txBody>
          <a:bodyPr wrap="square" lIns="0" tIns="0" rIns="0" bIns="0" rtlCol="0" anchor="ctr"/>
          <a:lstStyle/>
          <a:p>
            <a:pPr marL="0" indent="0" algn="ctr">
              <a:buNone/>
            </a:pPr>
            <a:r>
              <a:rPr lang="en-US" sz="1050" b="1" dirty="0">
                <a:solidFill>
                  <a:srgbClr val="B8433A"/>
                </a:solidFill>
                <a:latin typeface="Courier New" pitchFamily="34" charset="0"/>
                <a:ea typeface="Courier New" pitchFamily="34" charset="-122"/>
                <a:cs typeface="Courier New" pitchFamily="34" charset="-120"/>
              </a:rPr>
              <a:t>|S_hh − S_vv|²  →  RED</a:t>
            </a:r>
            <a:endParaRPr lang="en-US" sz="1050" dirty="0"/>
          </a:p>
        </p:txBody>
      </p:sp>
      <p:sp>
        <p:nvSpPr>
          <p:cNvPr id="15" name="Shape 13"/>
          <p:cNvSpPr/>
          <p:nvPr/>
        </p:nvSpPr>
        <p:spPr>
          <a:xfrm>
            <a:off x="7589520" y="2103120"/>
            <a:ext cx="3383280" cy="2148840"/>
          </a:xfrm>
          <a:prstGeom prst="roundRect">
            <a:avLst>
              <a:gd name="adj" fmla="val 3404"/>
            </a:avLst>
          </a:prstGeom>
          <a:solidFill>
            <a:srgbClr val="F1F4F8"/>
          </a:solidFill>
          <a:ln/>
          <a:effectLst>
            <a:outerShdw blurRad="101600" dist="38100" dir="5400000" algn="bl" rotWithShape="0">
              <a:srgbClr val="9AA5B1">
                <a:alpha val="22000"/>
              </a:srgbClr>
            </a:outerShdw>
          </a:effectLst>
        </p:spPr>
      </p:sp>
      <p:sp>
        <p:nvSpPr>
          <p:cNvPr id="16" name="Shape 14"/>
          <p:cNvSpPr/>
          <p:nvPr/>
        </p:nvSpPr>
        <p:spPr>
          <a:xfrm>
            <a:off x="8915400" y="2331720"/>
            <a:ext cx="731520" cy="731520"/>
          </a:xfrm>
          <a:prstGeom prst="ellipse">
            <a:avLst/>
          </a:prstGeom>
          <a:solidFill>
            <a:srgbClr val="3F8F5C"/>
          </a:solidFill>
          <a:ln/>
        </p:spPr>
      </p:sp>
      <p:sp>
        <p:nvSpPr>
          <p:cNvPr id="17" name="Text 15"/>
          <p:cNvSpPr/>
          <p:nvPr/>
        </p:nvSpPr>
        <p:spPr>
          <a:xfrm>
            <a:off x="7589520" y="3154680"/>
            <a:ext cx="3383280" cy="320040"/>
          </a:xfrm>
          <a:prstGeom prst="rect">
            <a:avLst/>
          </a:prstGeom>
          <a:noFill/>
          <a:ln/>
        </p:spPr>
        <p:txBody>
          <a:bodyPr wrap="square" lIns="0" tIns="0" rIns="0" bIns="0" rtlCol="0" anchor="ctr"/>
          <a:lstStyle/>
          <a:p>
            <a:pPr marL="0" indent="0" algn="ctr">
              <a:buNone/>
            </a:pPr>
            <a:r>
              <a:rPr lang="en-US" sz="1450" b="1" dirty="0">
                <a:solidFill>
                  <a:srgbClr val="141A22"/>
                </a:solidFill>
                <a:latin typeface="Calibri" pitchFamily="34" charset="0"/>
                <a:ea typeface="Calibri" pitchFamily="34" charset="-122"/>
                <a:cs typeface="Calibri" pitchFamily="34" charset="-120"/>
              </a:rPr>
              <a:t>Rotated dihedral</a:t>
            </a:r>
            <a:endParaRPr lang="en-US" sz="1450" dirty="0"/>
          </a:p>
        </p:txBody>
      </p:sp>
      <p:sp>
        <p:nvSpPr>
          <p:cNvPr id="18" name="Text 16"/>
          <p:cNvSpPr/>
          <p:nvPr/>
        </p:nvSpPr>
        <p:spPr>
          <a:xfrm>
            <a:off x="7726680" y="3493008"/>
            <a:ext cx="3108960" cy="457200"/>
          </a:xfrm>
          <a:prstGeom prst="rect">
            <a:avLst/>
          </a:prstGeom>
          <a:noFill/>
          <a:ln/>
        </p:spPr>
        <p:txBody>
          <a:bodyPr wrap="square" lIns="0" tIns="0" rIns="0" bIns="0" rtlCol="0" anchor="ctr"/>
          <a:lstStyle/>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Deterministic cross-pol</a:t>
            </a:r>
            <a:endParaRPr lang="en-US" sz="1050" dirty="0"/>
          </a:p>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(not random depolarization)</a:t>
            </a:r>
            <a:endParaRPr lang="en-US" sz="1050" dirty="0"/>
          </a:p>
        </p:txBody>
      </p:sp>
      <p:sp>
        <p:nvSpPr>
          <p:cNvPr id="19" name="Text 17"/>
          <p:cNvSpPr/>
          <p:nvPr/>
        </p:nvSpPr>
        <p:spPr>
          <a:xfrm>
            <a:off x="7680960" y="3913632"/>
            <a:ext cx="3200400" cy="274320"/>
          </a:xfrm>
          <a:prstGeom prst="rect">
            <a:avLst/>
          </a:prstGeom>
          <a:noFill/>
          <a:ln/>
        </p:spPr>
        <p:txBody>
          <a:bodyPr wrap="square" lIns="0" tIns="0" rIns="0" bIns="0" rtlCol="0" anchor="ctr"/>
          <a:lstStyle/>
          <a:p>
            <a:pPr marL="0" indent="0" algn="ctr">
              <a:buNone/>
            </a:pPr>
            <a:r>
              <a:rPr lang="en-US" sz="1050" b="1" dirty="0">
                <a:solidFill>
                  <a:srgbClr val="3F8F5C"/>
                </a:solidFill>
                <a:latin typeface="Courier New" pitchFamily="34" charset="0"/>
                <a:ea typeface="Courier New" pitchFamily="34" charset="-122"/>
                <a:cs typeface="Courier New" pitchFamily="34" charset="-120"/>
              </a:rPr>
              <a:t>|S_hv|²  →  GREEN</a:t>
            </a:r>
            <a:endParaRPr lang="en-US" sz="1050" dirty="0"/>
          </a:p>
        </p:txBody>
      </p:sp>
      <p:sp>
        <p:nvSpPr>
          <p:cNvPr id="20" name="Shape 18"/>
          <p:cNvSpPr/>
          <p:nvPr/>
        </p:nvSpPr>
        <p:spPr>
          <a:xfrm>
            <a:off x="548640" y="4480560"/>
            <a:ext cx="10698480" cy="1783080"/>
          </a:xfrm>
          <a:prstGeom prst="roundRect">
            <a:avLst>
              <a:gd name="adj" fmla="val 4103"/>
            </a:avLst>
          </a:prstGeom>
          <a:solidFill>
            <a:srgbClr val="F1F4F8"/>
          </a:solidFill>
          <a:ln/>
          <a:effectLst>
            <a:outerShdw blurRad="101600" dist="38100" dir="5400000" algn="bl" rotWithShape="0">
              <a:srgbClr val="9AA5B1">
                <a:alpha val="22000"/>
              </a:srgbClr>
            </a:outerShdw>
          </a:effectLst>
        </p:spPr>
      </p:sp>
      <p:sp>
        <p:nvSpPr>
          <p:cNvPr id="21" name="Text 19"/>
          <p:cNvSpPr/>
          <p:nvPr/>
        </p:nvSpPr>
        <p:spPr>
          <a:xfrm>
            <a:off x="822960" y="4645152"/>
            <a:ext cx="10149840" cy="27432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WHAT A FAILED CHECK WOULD ACTUALLY CATCH</a:t>
            </a:r>
            <a:endParaRPr lang="en-US" sz="1200" dirty="0"/>
          </a:p>
        </p:txBody>
      </p:sp>
      <p:sp>
        <p:nvSpPr>
          <p:cNvPr id="22" name="Text 20"/>
          <p:cNvSpPr/>
          <p:nvPr/>
        </p:nvSpPr>
        <p:spPr>
          <a:xfrm>
            <a:off x="822960" y="4956048"/>
            <a:ext cx="10149840" cy="1234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00" dirty="0">
                <a:solidFill>
                  <a:srgbClr val="141A22"/>
                </a:solidFill>
                <a:latin typeface="Calibri" pitchFamily="34" charset="0"/>
                <a:ea typeface="Calibri" pitchFamily="34" charset="-122"/>
                <a:cs typeface="Calibri" pitchFamily="34" charset="-120"/>
              </a:rPr>
              <a:t>Wrong polarization basis convention (BSA vs. FSA) -- swaps or sign-flips a channel, so Pauli colors land on the wrong mechanism instead of just looking a little off</a:t>
            </a:r>
            <a:endParaRPr lang="en-US" sz="1200" dirty="0"/>
          </a:p>
          <a:p>
            <a:pPr marL="203200" indent="-203200">
              <a:lnSpc>
                <a:spcPct val="112000"/>
              </a:lnSpc>
              <a:spcAft>
                <a:spcPts val="800"/>
              </a:spcAft>
              <a:buSzPct val="100000"/>
              <a:buChar char="•"/>
            </a:pPr>
            <a:r>
              <a:rPr lang="en-US" sz="1200" dirty="0">
                <a:solidFill>
                  <a:srgbClr val="141A22"/>
                </a:solidFill>
                <a:latin typeface="Calibri" pitchFamily="34" charset="0"/>
                <a:ea typeface="Calibri" pitchFamily="34" charset="-122"/>
                <a:cs typeface="Calibri" pitchFamily="34" charset="-120"/>
              </a:rPr>
              <a:t>Wrong window/taper in image formation -- sidelobe level drifts from the theoretical value for that window (Tier 1)</a:t>
            </a:r>
            <a:endParaRPr lang="en-US" sz="1200" dirty="0"/>
          </a:p>
          <a:p>
            <a:pPr marL="203200" indent="-203200">
              <a:lnSpc>
                <a:spcPct val="112000"/>
              </a:lnSpc>
              <a:spcAft>
                <a:spcPts val="800"/>
              </a:spcAft>
              <a:buSzPct val="100000"/>
              <a:buChar char="•"/>
            </a:pPr>
            <a:r>
              <a:rPr lang="en-US" sz="1200" dirty="0">
                <a:solidFill>
                  <a:srgbClr val="141A22"/>
                </a:solidFill>
                <a:latin typeface="Calibri" pitchFamily="34" charset="0"/>
                <a:ea typeface="Calibri" pitchFamily="34" charset="-122"/>
                <a:cs typeface="Calibri" pitchFamily="34" charset="-120"/>
              </a:rPr>
              <a:t>Wrong bandwidth/aperture-resolution formula -- mainlobe width mismatches the expected range/azimuth resolution (Tier 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Extending SARCASTIC</a:t>
            </a:r>
            <a:endParaRPr lang="en-US" sz="2800" dirty="0"/>
          </a:p>
        </p:txBody>
      </p:sp>
      <p:sp>
        <p:nvSpPr>
          <p:cNvPr id="4" name="Text 2"/>
          <p:cNvSpPr/>
          <p:nvPr/>
        </p:nvSpPr>
        <p:spPr>
          <a:xfrm>
            <a:off x="548640" y="1691640"/>
            <a:ext cx="10515600" cy="219456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Dstl’s SARCASTIC is the real-world reference implementation of the SBR approach from Step 2 — a working GPU/CPU shooting-and-bouncing-rays SAR simulator, validated against real CAD-model targets</a:t>
            </a:r>
            <a:endParaRPr lang="en-US" sz="1550" dirty="0"/>
          </a:p>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What follows: concretely what it computes today, and what it’d take to add this deck’s polarimetry and ASC speedup to it</a:t>
            </a:r>
            <a:endParaRPr lang="en-US" sz="1550" dirty="0"/>
          </a:p>
        </p:txBody>
      </p:sp>
      <p:sp>
        <p:nvSpPr>
          <p:cNvPr id="5" name="Shape 3"/>
          <p:cNvSpPr/>
          <p:nvPr/>
        </p:nvSpPr>
        <p:spPr>
          <a:xfrm>
            <a:off x="548640" y="4069080"/>
            <a:ext cx="10698480" cy="1554480"/>
          </a:xfrm>
          <a:prstGeom prst="roundRect">
            <a:avLst>
              <a:gd name="adj" fmla="val 4706"/>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251960"/>
            <a:ext cx="10149840" cy="1188720"/>
          </a:xfrm>
          <a:prstGeom prst="rect">
            <a:avLst/>
          </a:prstGeom>
          <a:noFill/>
          <a:ln/>
        </p:spPr>
        <p:txBody>
          <a:bodyPr wrap="square" lIns="0" tIns="0" rIns="0" bIns="0" rtlCol="0" anchor="t"/>
          <a:lstStyle/>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Reference:  </a:t>
            </a:r>
            <a:r>
              <a:rPr lang="en-US" sz="1300" dirty="0">
                <a:solidFill>
                  <a:srgbClr val="141A22"/>
                </a:solidFill>
                <a:latin typeface="Calibri" pitchFamily="34" charset="0"/>
                <a:ea typeface="Calibri" pitchFamily="34" charset="-122"/>
                <a:cs typeface="Calibri" pitchFamily="34" charset="-120"/>
              </a:rPr>
              <a:t>Blacknell et al., "SARCASTIC v2.0 — High-Performance SAR Simulation for Next-Generation ATR Systems," Remote Sensing, 2022.</a:t>
            </a:r>
            <a:endParaRPr lang="en-US" sz="1300" dirty="0"/>
          </a:p>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Code:  </a:t>
            </a:r>
            <a:endParaRPr lang="en-US" sz="1300" dirty="0"/>
          </a:p>
          <a:p>
            <a:pPr marL="0" indent="0">
              <a:lnSpc>
                <a:spcPct val="120000"/>
              </a:lnSpc>
              <a:buNone/>
            </a:pPr>
            <a:r>
              <a:rPr lang="en-US" sz="1300" dirty="0">
                <a:solidFill>
                  <a:srgbClr val="141A22"/>
                </a:solidFill>
                <a:latin typeface="Calibri" pitchFamily="34" charset="0"/>
                <a:ea typeface="Calibri" pitchFamily="34" charset="-122"/>
                <a:cs typeface="Calibri" pitchFamily="34" charset="-120"/>
              </a:rPr>
              <a:t>github.com/dstl/sarcastic — archived/read-only as of Jan 2025, so any extension is a fork, not an upstream contribution.</a:t>
            </a:r>
            <a:endParaRPr lang="en-US" sz="1300" dirty="0"/>
          </a:p>
        </p:txBody>
      </p:sp>
    </p:spTree>
    <p:extLst>
      <p:ext uri="{BB962C8B-B14F-4D97-AF65-F5344CB8AC3E}">
        <p14:creationId xmlns:p14="http://schemas.microsoft.com/office/powerpoint/2010/main" val="914562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700" b="1" dirty="0">
                <a:solidFill>
                  <a:srgbClr val="141A22"/>
                </a:solidFill>
                <a:latin typeface="Cambria" pitchFamily="34" charset="0"/>
                <a:ea typeface="Cambria" pitchFamily="34" charset="-122"/>
                <a:cs typeface="Cambria" pitchFamily="34" charset="-120"/>
              </a:rPr>
              <a:t>What SARCASTIC computes today</a:t>
            </a:r>
            <a:endParaRPr lang="en-US" sz="2700" dirty="0"/>
          </a:p>
        </p:txBody>
      </p:sp>
      <p:sp>
        <p:nvSpPr>
          <p:cNvPr id="4" name="Text 2"/>
          <p:cNvSpPr/>
          <p:nvPr/>
        </p:nvSpPr>
        <p:spPr>
          <a:xfrm>
            <a:off x="548640" y="1691640"/>
            <a:ext cx="10607040" cy="246888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Scattering model is Knott’s physical optics for a flat PEC (perfectly conducting) plate only — no permittivity, no Fresnel R_s/R_p anywhere in the derivation</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Polarization = one real 3-vector ĥ per ray, updated by geometric mirror reflection at each bounce — cross-pol only comes from bounce geometry (their own validation case is a dihedral), never from material response</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Maps to real source: RCS.c (scalar contribution) · reflect.cpp (per-bounce ĥ update) · cpuPOField.cpp (accumulation) · CPHD I/O via cphdShell/cphdInfo</a:t>
            </a:r>
            <a:endParaRPr lang="en-US" sz="1450" dirty="0"/>
          </a:p>
        </p:txBody>
      </p:sp>
      <p:sp>
        <p:nvSpPr>
          <p:cNvPr id="5" name="Shape 3"/>
          <p:cNvSpPr/>
          <p:nvPr/>
        </p:nvSpPr>
        <p:spPr>
          <a:xfrm>
            <a:off x="548640" y="4434840"/>
            <a:ext cx="10698480" cy="1188720"/>
          </a:xfrm>
          <a:prstGeom prst="roundRect">
            <a:avLst>
              <a:gd name="adj" fmla="val 6154"/>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434840"/>
            <a:ext cx="10149840" cy="118872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Better starting point:  </a:t>
            </a:r>
            <a:r>
              <a:rPr lang="en-US" sz="1400" dirty="0">
                <a:solidFill>
                  <a:srgbClr val="141A22"/>
                </a:solidFill>
                <a:latin typeface="Calibri" pitchFamily="34" charset="0"/>
                <a:ea typeface="Calibri" pitchFamily="34" charset="-122"/>
                <a:cs typeface="Calibri" pitchFamily="34" charset="-120"/>
              </a:rPr>
              <a:t>the "SARTrace" module already exposes per-bounce ray history — extend from there rather than patching the scalar path.</a:t>
            </a:r>
            <a:endParaRPr lang="en-US" sz="1400" dirty="0"/>
          </a:p>
        </p:txBody>
      </p:sp>
    </p:spTree>
    <p:extLst>
      <p:ext uri="{BB962C8B-B14F-4D97-AF65-F5344CB8AC3E}">
        <p14:creationId xmlns:p14="http://schemas.microsoft.com/office/powerpoint/2010/main" val="33715480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Adding Sinclair-matrix polarimetry to SARCASTIC</a:t>
            </a:r>
            <a:endParaRPr lang="en-US" sz="23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OPTION A — TWO-PASS</a:t>
            </a:r>
            <a:endParaRPr lang="en-US" sz="13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Launch h-pol and v-pol runs separately; project the final ĥ onto both receive axes → 4 channels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Reuses CPHD’s existing multi-channel schema — no file-format change needed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Still PEC underneath: geometric cross-pol only (dihedrals) — no material-dependent differential reflectivity</a:t>
            </a:r>
            <a:endParaRPr lang="en-US" sz="130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OPTION B — MATRIX PROPAGATION</a:t>
            </a:r>
            <a:endParaRPr lang="en-US" sz="13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Tag facets with permittivity; decompose into local Fresnel s/p basis inside RCS.c</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Chain 2×2 matrices through reflect.cpp instead of a 3-vector; widen cpuPOField.cpp to 4 complex accumulators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Start from SARTrace, not the scalar path — per-bounce history is already exposed there</a:t>
            </a:r>
            <a:endParaRPr lang="en-US" sz="1300" dirty="0"/>
          </a:p>
        </p:txBody>
      </p:sp>
    </p:spTree>
    <p:extLst>
      <p:ext uri="{BB962C8B-B14F-4D97-AF65-F5344CB8AC3E}">
        <p14:creationId xmlns:p14="http://schemas.microsoft.com/office/powerpoint/2010/main" val="4741022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500" b="1" dirty="0">
                <a:solidFill>
                  <a:srgbClr val="141A22"/>
                </a:solidFill>
                <a:latin typeface="Cambria" pitchFamily="34" charset="0"/>
                <a:ea typeface="Cambria" pitchFamily="34" charset="-122"/>
                <a:cs typeface="Cambria" pitchFamily="34" charset="-120"/>
              </a:rPr>
              <a:t>Adding ASC compression to SARCASTIC</a:t>
            </a:r>
            <a:endParaRPr lang="en-US" sz="2500" dirty="0"/>
          </a:p>
        </p:txBody>
      </p:sp>
      <p:sp>
        <p:nvSpPr>
          <p:cNvPr id="4" name="Shape 2"/>
          <p:cNvSpPr/>
          <p:nvPr/>
        </p:nvSpPr>
        <p:spPr>
          <a:xfrm>
            <a:off x="548640" y="1901952"/>
            <a:ext cx="502920" cy="502920"/>
          </a:xfrm>
          <a:prstGeom prst="ellipse">
            <a:avLst/>
          </a:prstGeom>
          <a:solidFill>
            <a:srgbClr val="FF9E2C"/>
          </a:solidFill>
          <a:ln/>
        </p:spPr>
      </p:sp>
      <p:sp>
        <p:nvSpPr>
          <p:cNvPr id="5" name="Text 3"/>
          <p:cNvSpPr/>
          <p:nvPr/>
        </p:nvSpPr>
        <p:spPr>
          <a:xfrm>
            <a:off x="548640" y="190195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82880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1. Extract (reuse as-is)
</a:t>
            </a:r>
            <a:r>
              <a:rPr lang="en-US" sz="1250" dirty="0">
                <a:solidFill>
                  <a:srgbClr val="5B6672"/>
                </a:solidFill>
                <a:latin typeface="Calibri" pitchFamily="34" charset="0"/>
                <a:ea typeface="Calibri" pitchFamily="34" charset="-122"/>
                <a:cs typeface="Calibri" pitchFamily="34" charset="-120"/>
              </a:rPr>
              <a:t>Isolate the structure’s CAD sub-mesh, sweep aspect angle with the unmodified SARCASTIC/SARTrace binary — produces the wideband, multi-aspect training data.</a:t>
            </a:r>
            <a:endParaRPr lang="en-US" sz="1450" dirty="0"/>
          </a:p>
        </p:txBody>
      </p:sp>
      <p:sp>
        <p:nvSpPr>
          <p:cNvPr id="7" name="Shape 5"/>
          <p:cNvSpPr/>
          <p:nvPr/>
        </p:nvSpPr>
        <p:spPr>
          <a:xfrm>
            <a:off x="548640" y="3136392"/>
            <a:ext cx="502920" cy="502920"/>
          </a:xfrm>
          <a:prstGeom prst="ellipse">
            <a:avLst/>
          </a:prstGeom>
          <a:solidFill>
            <a:srgbClr val="4FD8EB"/>
          </a:solidFill>
          <a:ln/>
        </p:spPr>
      </p:sp>
      <p:sp>
        <p:nvSpPr>
          <p:cNvPr id="8" name="Text 6"/>
          <p:cNvSpPr/>
          <p:nvPr/>
        </p:nvSpPr>
        <p:spPr>
          <a:xfrm>
            <a:off x="548640" y="313639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306324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2. Fit (new, external)
</a:t>
            </a:r>
            <a:r>
              <a:rPr lang="en-US" sz="1250" dirty="0">
                <a:solidFill>
                  <a:srgbClr val="5B6672"/>
                </a:solidFill>
                <a:latin typeface="Calibri" pitchFamily="34" charset="0"/>
                <a:ea typeface="Calibri" pitchFamily="34" charset="-122"/>
                <a:cs typeface="Calibri" pitchFamily="34" charset="-120"/>
              </a:rPr>
              <a:t>A Python CLEAN / matrix-pencil tool reads the resulting CPHD via cphdInfo and outputs a compact ASC parameter table — no C++ changes needed for this stage.</a:t>
            </a:r>
            <a:endParaRPr lang="en-US" sz="1450" dirty="0"/>
          </a:p>
        </p:txBody>
      </p:sp>
      <p:sp>
        <p:nvSpPr>
          <p:cNvPr id="10" name="Shape 8"/>
          <p:cNvSpPr/>
          <p:nvPr/>
        </p:nvSpPr>
        <p:spPr>
          <a:xfrm>
            <a:off x="548640" y="4370832"/>
            <a:ext cx="502920" cy="502920"/>
          </a:xfrm>
          <a:prstGeom prst="ellipse">
            <a:avLst/>
          </a:prstGeom>
          <a:solidFill>
            <a:srgbClr val="FF9E2C"/>
          </a:solidFill>
          <a:ln/>
        </p:spPr>
      </p:sp>
      <p:sp>
        <p:nvSpPr>
          <p:cNvPr id="11" name="Text 9"/>
          <p:cNvSpPr/>
          <p:nvPr/>
        </p:nvSpPr>
        <p:spPr>
          <a:xfrm>
            <a:off x="548640" y="43708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429768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3. Evaluate (new, in-core)
</a:t>
            </a:r>
            <a:r>
              <a:rPr lang="en-US" sz="1250" dirty="0">
                <a:solidFill>
                  <a:srgbClr val="5B6672"/>
                </a:solidFill>
                <a:latin typeface="Calibri" pitchFamily="34" charset="0"/>
                <a:ea typeface="Calibri" pitchFamily="34" charset="-122"/>
                <a:cs typeface="Calibri" pitchFamily="34" charset="-120"/>
              </a:rPr>
              <a:t>ascField.cpp, parallel to cpuPOField.cpp: facet stays in the BVH for occlusion but opts out of RCS.c; one shadow ray per pulse gates the contribution; threadCore.cpp combines it additively with a per-pulse validity-sector fallback to full ray tracing.</a:t>
            </a:r>
            <a:endParaRPr lang="en-US" sz="1450" dirty="0"/>
          </a:p>
        </p:txBody>
      </p:sp>
      <p:sp>
        <p:nvSpPr>
          <p:cNvPr id="13" name="Text 11"/>
          <p:cNvSpPr/>
          <p:nvPr/>
        </p:nvSpPr>
        <p:spPr>
          <a:xfrm>
            <a:off x="548640" y="5577840"/>
            <a:ext cx="10698480" cy="54864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Same mechanism, dual purpose: the parallel-evaluator-plus-additive-injection pattern here is exactly what target injection needs too — one piece of infrastructure serves both.</a:t>
            </a:r>
            <a:endParaRPr lang="en-US" sz="1250" dirty="0"/>
          </a:p>
        </p:txBody>
      </p:sp>
    </p:spTree>
    <p:extLst>
      <p:ext uri="{BB962C8B-B14F-4D97-AF65-F5344CB8AC3E}">
        <p14:creationId xmlns:p14="http://schemas.microsoft.com/office/powerpoint/2010/main" val="737475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658368"/>
            <a:ext cx="10881360" cy="868680"/>
          </a:xfrm>
          <a:prstGeom prst="rect">
            <a:avLst/>
          </a:prstGeom>
          <a:noFill/>
          <a:ln/>
        </p:spPr>
        <p:txBody>
          <a:bodyPr wrap="square" lIns="0" tIns="0" rIns="0" bIns="0" rtlCol="0" anchor="t"/>
          <a:lstStyle/>
          <a:p>
            <a:pPr marL="0" indent="0">
              <a:buNone/>
            </a:pPr>
            <a:r>
              <a:rPr lang="en-US" sz="3400" b="1" dirty="0">
                <a:solidFill>
                  <a:srgbClr val="141A22"/>
                </a:solidFill>
                <a:latin typeface="Cambria" pitchFamily="34" charset="0"/>
                <a:ea typeface="Cambria" pitchFamily="34" charset="-122"/>
                <a:cs typeface="Cambria" pitchFamily="34" charset="-120"/>
              </a:rPr>
              <a:t>Summary</a:t>
            </a:r>
            <a:endParaRPr lang="en-US" sz="3400" dirty="0"/>
          </a:p>
        </p:txBody>
      </p:sp>
      <p:sp>
        <p:nvSpPr>
          <p:cNvPr id="3" name="Text 1"/>
          <p:cNvSpPr/>
          <p:nvPr/>
        </p:nvSpPr>
        <p:spPr>
          <a:xfrm>
            <a:off x="548640" y="1554480"/>
            <a:ext cx="10698480" cy="822960"/>
          </a:xfrm>
          <a:prstGeom prst="rect">
            <a:avLst/>
          </a:prstGeom>
          <a:noFill/>
          <a:ln/>
        </p:spPr>
        <p:txBody>
          <a:bodyPr wrap="square" lIns="0" tIns="0" rIns="0" bIns="0" rtlCol="0" anchor="ctr"/>
          <a:lstStyle/>
          <a:p>
            <a:pPr marL="0" indent="0">
              <a:lnSpc>
                <a:spcPct val="115000"/>
              </a:lnSpc>
              <a:buNone/>
            </a:pPr>
            <a:r>
              <a:rPr lang="en-US" sz="1500" i="1" dirty="0">
                <a:solidFill>
                  <a:srgbClr val="5B6672"/>
                </a:solidFill>
                <a:latin typeface="Calibri" pitchFamily="34" charset="0"/>
                <a:ea typeface="Calibri" pitchFamily="34" charset="-122"/>
                <a:cs typeface="Calibri" pitchFamily="34" charset="-120"/>
              </a:rPr>
              <a:t>SAR simulation from a 3D scene is a physics forward-model problem wearing a graphics costume -- geometry and ray tracing infrastructure transfer</a:t>
            </a:r>
            <a:endParaRPr lang="en-US" sz="1500" dirty="0"/>
          </a:p>
        </p:txBody>
      </p:sp>
      <p:sp>
        <p:nvSpPr>
          <p:cNvPr id="4" name="Shape 2"/>
          <p:cNvSpPr/>
          <p:nvPr/>
        </p:nvSpPr>
        <p:spPr>
          <a:xfrm>
            <a:off x="548640"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1463040" y="2880360"/>
            <a:ext cx="731520" cy="731520"/>
          </a:xfrm>
          <a:prstGeom prst="ellipse">
            <a:avLst/>
          </a:prstGeom>
          <a:solidFill>
            <a:srgbClr val="FF9E2C"/>
          </a:solidFill>
          <a:ln/>
        </p:spPr>
      </p:sp>
      <p:pic>
        <p:nvPicPr>
          <p:cNvPr id="6" name="Image 0" descr="/sessions/sweet-friendly-mayer/mnt/outputs/presentation/icons/FaLayerGroup_dark.png"/>
          <p:cNvPicPr>
            <a:picLocks noChangeAspect="1"/>
          </p:cNvPicPr>
          <p:nvPr/>
        </p:nvPicPr>
        <p:blipFill>
          <a:blip r:embed="rId3"/>
          <a:stretch>
            <a:fillRect/>
          </a:stretch>
        </p:blipFill>
        <p:spPr>
          <a:xfrm>
            <a:off x="1660550" y="3077870"/>
            <a:ext cx="336499" cy="336499"/>
          </a:xfrm>
          <a:prstGeom prst="rect">
            <a:avLst/>
          </a:prstGeom>
        </p:spPr>
      </p:pic>
      <p:sp>
        <p:nvSpPr>
          <p:cNvPr id="7" name="Text 4"/>
          <p:cNvSpPr/>
          <p:nvPr/>
        </p:nvSpPr>
        <p:spPr>
          <a:xfrm>
            <a:off x="548640"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Multi-bounce</a:t>
            </a:r>
            <a:endParaRPr lang="en-US" sz="1400" dirty="0"/>
          </a:p>
        </p:txBody>
      </p:sp>
      <p:sp>
        <p:nvSpPr>
          <p:cNvPr id="8" name="Text 5"/>
          <p:cNvSpPr/>
          <p:nvPr/>
        </p:nvSpPr>
        <p:spPr>
          <a:xfrm>
            <a:off x="685800"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Resolvable RCS contributors, not aesthetic reflections</a:t>
            </a:r>
            <a:endParaRPr lang="en-US" sz="1100" dirty="0"/>
          </a:p>
        </p:txBody>
      </p:sp>
      <p:sp>
        <p:nvSpPr>
          <p:cNvPr id="9" name="Shape 6"/>
          <p:cNvSpPr/>
          <p:nvPr/>
        </p:nvSpPr>
        <p:spPr>
          <a:xfrm>
            <a:off x="3310128"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4224528" y="2880360"/>
            <a:ext cx="731520" cy="731520"/>
          </a:xfrm>
          <a:prstGeom prst="ellipse">
            <a:avLst/>
          </a:prstGeom>
          <a:solidFill>
            <a:srgbClr val="FF9E2C"/>
          </a:solidFill>
          <a:ln/>
        </p:spPr>
      </p:sp>
      <p:pic>
        <p:nvPicPr>
          <p:cNvPr id="11" name="Image 1" descr="/sessions/sweet-friendly-mayer/mnt/outputs/presentation/icons/FaCube_dark.png"/>
          <p:cNvPicPr>
            <a:picLocks noChangeAspect="1"/>
          </p:cNvPicPr>
          <p:nvPr/>
        </p:nvPicPr>
        <p:blipFill>
          <a:blip r:embed="rId4"/>
          <a:stretch>
            <a:fillRect/>
          </a:stretch>
        </p:blipFill>
        <p:spPr>
          <a:xfrm>
            <a:off x="4422038" y="3077870"/>
            <a:ext cx="336499" cy="336499"/>
          </a:xfrm>
          <a:prstGeom prst="rect">
            <a:avLst/>
          </a:prstGeom>
        </p:spPr>
      </p:pic>
      <p:sp>
        <p:nvSpPr>
          <p:cNvPr id="12" name="Text 8"/>
          <p:cNvSpPr/>
          <p:nvPr/>
        </p:nvSpPr>
        <p:spPr>
          <a:xfrm>
            <a:off x="3310128"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Material</a:t>
            </a:r>
            <a:endParaRPr lang="en-US" sz="1400" dirty="0"/>
          </a:p>
        </p:txBody>
      </p:sp>
      <p:sp>
        <p:nvSpPr>
          <p:cNvPr id="13" name="Text 9"/>
          <p:cNvSpPr/>
          <p:nvPr/>
        </p:nvSpPr>
        <p:spPr>
          <a:xfrm>
            <a:off x="3447288"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EM permittivity, not albedo</a:t>
            </a:r>
            <a:endParaRPr lang="en-US" sz="1100" dirty="0"/>
          </a:p>
        </p:txBody>
      </p:sp>
      <p:sp>
        <p:nvSpPr>
          <p:cNvPr id="14" name="Shape 10"/>
          <p:cNvSpPr/>
          <p:nvPr/>
        </p:nvSpPr>
        <p:spPr>
          <a:xfrm>
            <a:off x="6071616"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6986016" y="2880360"/>
            <a:ext cx="731520" cy="731520"/>
          </a:xfrm>
          <a:prstGeom prst="ellipse">
            <a:avLst/>
          </a:prstGeom>
          <a:solidFill>
            <a:srgbClr val="FF9E2C"/>
          </a:solidFill>
          <a:ln/>
        </p:spPr>
      </p:sp>
      <p:pic>
        <p:nvPicPr>
          <p:cNvPr id="16" name="Image 2" descr="/sessions/sweet-friendly-mayer/mnt/outputs/presentation/icons/FaWaveSquare_dark.png"/>
          <p:cNvPicPr>
            <a:picLocks noChangeAspect="1"/>
          </p:cNvPicPr>
          <p:nvPr/>
        </p:nvPicPr>
        <p:blipFill>
          <a:blip r:embed="rId5"/>
          <a:stretch>
            <a:fillRect/>
          </a:stretch>
        </p:blipFill>
        <p:spPr>
          <a:xfrm>
            <a:off x="7183526" y="3077870"/>
            <a:ext cx="336499" cy="336499"/>
          </a:xfrm>
          <a:prstGeom prst="rect">
            <a:avLst/>
          </a:prstGeom>
        </p:spPr>
      </p:pic>
      <p:sp>
        <p:nvSpPr>
          <p:cNvPr id="17" name="Text 12"/>
          <p:cNvSpPr/>
          <p:nvPr/>
        </p:nvSpPr>
        <p:spPr>
          <a:xfrm>
            <a:off x="6071616"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Polarization</a:t>
            </a:r>
            <a:endParaRPr lang="en-US" sz="1400" dirty="0"/>
          </a:p>
        </p:txBody>
      </p:sp>
      <p:sp>
        <p:nvSpPr>
          <p:cNvPr id="18" name="Text 13"/>
          <p:cNvSpPr/>
          <p:nvPr/>
        </p:nvSpPr>
        <p:spPr>
          <a:xfrm>
            <a:off x="6208776"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Sinclair matrices, not colors</a:t>
            </a:r>
            <a:endParaRPr lang="en-US" sz="1100" dirty="0"/>
          </a:p>
        </p:txBody>
      </p:sp>
      <p:sp>
        <p:nvSpPr>
          <p:cNvPr id="19" name="Shape 14"/>
          <p:cNvSpPr/>
          <p:nvPr/>
        </p:nvSpPr>
        <p:spPr>
          <a:xfrm>
            <a:off x="8833104"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9747504" y="2880360"/>
            <a:ext cx="731520" cy="731520"/>
          </a:xfrm>
          <a:prstGeom prst="ellipse">
            <a:avLst/>
          </a:prstGeom>
          <a:solidFill>
            <a:srgbClr val="FF9E2C"/>
          </a:solidFill>
          <a:ln/>
        </p:spPr>
      </p:sp>
      <p:pic>
        <p:nvPicPr>
          <p:cNvPr id="21" name="Image 3" descr="/sessions/sweet-friendly-mayer/mnt/outputs/presentation/icons/FaCloudRain_dark.png"/>
          <p:cNvPicPr>
            <a:picLocks noChangeAspect="1"/>
          </p:cNvPicPr>
          <p:nvPr/>
        </p:nvPicPr>
        <p:blipFill>
          <a:blip r:embed="rId6"/>
          <a:stretch>
            <a:fillRect/>
          </a:stretch>
        </p:blipFill>
        <p:spPr>
          <a:xfrm>
            <a:off x="9945014" y="3077870"/>
            <a:ext cx="336499" cy="336499"/>
          </a:xfrm>
          <a:prstGeom prst="rect">
            <a:avLst/>
          </a:prstGeom>
        </p:spPr>
      </p:pic>
      <p:sp>
        <p:nvSpPr>
          <p:cNvPr id="22" name="Text 16"/>
          <p:cNvSpPr/>
          <p:nvPr/>
        </p:nvSpPr>
        <p:spPr>
          <a:xfrm>
            <a:off x="8833104"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Atmosphere</a:t>
            </a:r>
            <a:endParaRPr lang="en-US" sz="1400" dirty="0"/>
          </a:p>
        </p:txBody>
      </p:sp>
      <p:sp>
        <p:nvSpPr>
          <p:cNvPr id="23" name="Text 17"/>
          <p:cNvSpPr/>
          <p:nvPr/>
        </p:nvSpPr>
        <p:spPr>
          <a:xfrm>
            <a:off x="8970264"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Moving volumetric clutter, not a post-processing filter</a:t>
            </a:r>
            <a:endParaRPr lang="en-US" sz="1100" dirty="0"/>
          </a:p>
        </p:txBody>
      </p:sp>
      <p:sp>
        <p:nvSpPr>
          <p:cNvPr id="24" name="Text 18"/>
          <p:cNvSpPr/>
          <p:nvPr/>
        </p:nvSpPr>
        <p:spPr>
          <a:xfrm>
            <a:off x="548640" y="5257800"/>
            <a:ext cx="10698480" cy="822960"/>
          </a:xfrm>
          <a:prstGeom prst="rect">
            <a:avLst/>
          </a:prstGeom>
          <a:noFill/>
          <a:ln/>
        </p:spPr>
        <p:txBody>
          <a:bodyPr wrap="square" lIns="0" tIns="0" rIns="0" bIns="0" rtlCol="0" anchor="ctr"/>
          <a:lstStyle/>
          <a:p>
            <a:pPr marL="0" indent="0">
              <a:lnSpc>
                <a:spcPct val="115000"/>
              </a:lnSpc>
              <a:buNone/>
            </a:pPr>
            <a:r>
              <a:rPr lang="en-US" sz="1300" dirty="0">
                <a:solidFill>
                  <a:srgbClr val="0B7285"/>
                </a:solidFill>
                <a:latin typeface="Calibri" pitchFamily="34" charset="0"/>
                <a:ea typeface="Calibri" pitchFamily="34" charset="-122"/>
                <a:cs typeface="Calibri" pitchFamily="34" charset="-120"/>
              </a:rPr>
              <a:t>Next: prototype the point-scatterer forward sim first, layer in SBR multi-bounce + polarimetry, add ASC compression once re-tracing is the bottleneck, and weather whenever atmospheric fidelity matters.</a:t>
            </a:r>
            <a:endParaRPr lang="en-US" sz="1300" dirty="0"/>
          </a:p>
        </p:txBody>
      </p:sp>
    </p:spTree>
    <p:extLst>
      <p:ext uri="{BB962C8B-B14F-4D97-AF65-F5344CB8AC3E}">
        <p14:creationId xmlns:p14="http://schemas.microsoft.com/office/powerpoint/2010/main" val="4231347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81E14-5C07-F98B-314E-94E4012AD1FB}"/>
              </a:ext>
            </a:extLst>
          </p:cNvPr>
          <p:cNvSpPr txBox="1"/>
          <p:nvPr/>
        </p:nvSpPr>
        <p:spPr>
          <a:xfrm>
            <a:off x="4306277" y="3235569"/>
            <a:ext cx="1454501" cy="369332"/>
          </a:xfrm>
          <a:prstGeom prst="rect">
            <a:avLst/>
          </a:prstGeom>
          <a:noFill/>
        </p:spPr>
        <p:txBody>
          <a:bodyPr wrap="none" rtlCol="0">
            <a:spAutoFit/>
          </a:bodyPr>
          <a:lstStyle/>
          <a:p>
            <a:r>
              <a:rPr lang="en-US" dirty="0"/>
              <a:t>Backup Slides</a:t>
            </a:r>
          </a:p>
        </p:txBody>
      </p:sp>
    </p:spTree>
    <p:extLst>
      <p:ext uri="{BB962C8B-B14F-4D97-AF65-F5344CB8AC3E}">
        <p14:creationId xmlns:p14="http://schemas.microsoft.com/office/powerpoint/2010/main" val="39532208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1</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Geometry &amp; material extraction from gaming engine tools</a:t>
            </a:r>
            <a:endParaRPr lang="en-US" sz="2800" dirty="0"/>
          </a:p>
        </p:txBody>
      </p:sp>
      <p:sp>
        <p:nvSpPr>
          <p:cNvPr id="4" name="Text 2"/>
          <p:cNvSpPr/>
          <p:nvPr/>
        </p:nvSpPr>
        <p:spPr>
          <a:xfrm>
            <a:off x="548640" y="1554480"/>
            <a:ext cx="10607040" cy="457200"/>
          </a:xfrm>
          <a:prstGeom prst="rect">
            <a:avLst/>
          </a:prstGeom>
          <a:noFill/>
          <a:ln/>
        </p:spPr>
        <p:txBody>
          <a:bodyPr wrap="square" lIns="0" tIns="0" rIns="0" bIns="0" rtlCol="0" anchor="ctr"/>
          <a:lstStyle/>
          <a:p>
            <a:pPr marL="0" indent="0">
              <a:buNone/>
            </a:pPr>
            <a:r>
              <a:rPr lang="en-US" sz="1450" dirty="0">
                <a:solidFill>
                  <a:srgbClr val="141A22"/>
                </a:solidFill>
                <a:latin typeface="Calibri" pitchFamily="34" charset="0"/>
                <a:ea typeface="Calibri" pitchFamily="34" charset="-122"/>
                <a:cs typeface="Calibri" pitchFamily="34" charset="-120"/>
              </a:rPr>
              <a:t>Pull the mesh out of the engine: facet centroids, normals, areas, material tags.</a:t>
            </a:r>
            <a:endParaRPr lang="en-US" sz="1450" dirty="0"/>
          </a:p>
        </p:txBody>
      </p:sp>
      <p:sp>
        <p:nvSpPr>
          <p:cNvPr id="5" name="Shape 3"/>
          <p:cNvSpPr/>
          <p:nvPr/>
        </p:nvSpPr>
        <p:spPr>
          <a:xfrm>
            <a:off x="548640"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97380" y="2496312"/>
            <a:ext cx="731520" cy="731520"/>
          </a:xfrm>
          <a:prstGeom prst="ellipse">
            <a:avLst/>
          </a:prstGeom>
          <a:solidFill>
            <a:srgbClr val="4FD8EB"/>
          </a:solidFill>
          <a:ln/>
        </p:spPr>
      </p:sp>
      <p:pic>
        <p:nvPicPr>
          <p:cNvPr id="7" name="Image 0" descr="/sessions/sweet-friendly-mayer/mnt/outputs/presentation/icons/FaCube_dark.png"/>
          <p:cNvPicPr>
            <a:picLocks noChangeAspect="1"/>
          </p:cNvPicPr>
          <p:nvPr/>
        </p:nvPicPr>
        <p:blipFill>
          <a:blip r:embed="rId3"/>
          <a:stretch>
            <a:fillRect/>
          </a:stretch>
        </p:blipFill>
        <p:spPr>
          <a:xfrm>
            <a:off x="2094890" y="2693822"/>
            <a:ext cx="336499" cy="336499"/>
          </a:xfrm>
          <a:prstGeom prst="rect">
            <a:avLst/>
          </a:prstGeom>
        </p:spPr>
      </p:pic>
      <p:sp>
        <p:nvSpPr>
          <p:cNvPr id="8" name="Text 5"/>
          <p:cNvSpPr/>
          <p:nvPr/>
        </p:nvSpPr>
        <p:spPr>
          <a:xfrm>
            <a:off x="548640"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Blender</a:t>
            </a:r>
            <a:endParaRPr lang="en-US" sz="1600" dirty="0"/>
          </a:p>
        </p:txBody>
      </p:sp>
      <p:sp>
        <p:nvSpPr>
          <p:cNvPr id="9" name="Text 6"/>
          <p:cNvSpPr/>
          <p:nvPr/>
        </p:nvSpPr>
        <p:spPr>
          <a:xfrm>
            <a:off x="548640"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`bpy` Python API</a:t>
            </a:r>
            <a:endParaRPr lang="en-US" sz="1150" dirty="0"/>
          </a:p>
        </p:txBody>
      </p:sp>
      <p:sp>
        <p:nvSpPr>
          <p:cNvPr id="10" name="Shape 7"/>
          <p:cNvSpPr/>
          <p:nvPr/>
        </p:nvSpPr>
        <p:spPr>
          <a:xfrm>
            <a:off x="4233672"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5582412" y="2496312"/>
            <a:ext cx="731520" cy="731520"/>
          </a:xfrm>
          <a:prstGeom prst="ellipse">
            <a:avLst/>
          </a:prstGeom>
          <a:solidFill>
            <a:srgbClr val="4FD8EB"/>
          </a:solidFill>
          <a:ln/>
        </p:spPr>
      </p:sp>
      <p:pic>
        <p:nvPicPr>
          <p:cNvPr id="12" name="Image 1" descr="/sessions/sweet-friendly-mayer/mnt/outputs/presentation/icons/FaBuilding_dark.png"/>
          <p:cNvPicPr>
            <a:picLocks noChangeAspect="1"/>
          </p:cNvPicPr>
          <p:nvPr/>
        </p:nvPicPr>
        <p:blipFill>
          <a:blip r:embed="rId4"/>
          <a:stretch>
            <a:fillRect/>
          </a:stretch>
        </p:blipFill>
        <p:spPr>
          <a:xfrm>
            <a:off x="5779922" y="2693822"/>
            <a:ext cx="336499" cy="336499"/>
          </a:xfrm>
          <a:prstGeom prst="rect">
            <a:avLst/>
          </a:prstGeom>
        </p:spPr>
      </p:pic>
      <p:sp>
        <p:nvSpPr>
          <p:cNvPr id="13" name="Text 9"/>
          <p:cNvSpPr/>
          <p:nvPr/>
        </p:nvSpPr>
        <p:spPr>
          <a:xfrm>
            <a:off x="4233672"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Unity</a:t>
            </a:r>
            <a:endParaRPr lang="en-US" sz="1600" dirty="0"/>
          </a:p>
        </p:txBody>
      </p:sp>
      <p:sp>
        <p:nvSpPr>
          <p:cNvPr id="14" name="Text 10"/>
          <p:cNvSpPr/>
          <p:nvPr/>
        </p:nvSpPr>
        <p:spPr>
          <a:xfrm>
            <a:off x="4233672"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`Mesh` class via C#</a:t>
            </a:r>
            <a:endParaRPr lang="en-US" sz="1150" dirty="0"/>
          </a:p>
        </p:txBody>
      </p:sp>
      <p:sp>
        <p:nvSpPr>
          <p:cNvPr id="15" name="Shape 11"/>
          <p:cNvSpPr/>
          <p:nvPr/>
        </p:nvSpPr>
        <p:spPr>
          <a:xfrm>
            <a:off x="7918704"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9267444" y="2496312"/>
            <a:ext cx="731520" cy="731520"/>
          </a:xfrm>
          <a:prstGeom prst="ellipse">
            <a:avLst/>
          </a:prstGeom>
          <a:solidFill>
            <a:srgbClr val="4FD8EB"/>
          </a:solidFill>
          <a:ln/>
        </p:spPr>
      </p:sp>
      <p:pic>
        <p:nvPicPr>
          <p:cNvPr id="17" name="Image 2" descr="/sessions/sweet-friendly-mayer/mnt/outputs/presentation/icons/FaLayerGroup_dark.png"/>
          <p:cNvPicPr>
            <a:picLocks noChangeAspect="1"/>
          </p:cNvPicPr>
          <p:nvPr/>
        </p:nvPicPr>
        <p:blipFill>
          <a:blip r:embed="rId5"/>
          <a:stretch>
            <a:fillRect/>
          </a:stretch>
        </p:blipFill>
        <p:spPr>
          <a:xfrm>
            <a:off x="9464954" y="2693822"/>
            <a:ext cx="336499" cy="336499"/>
          </a:xfrm>
          <a:prstGeom prst="rect">
            <a:avLst/>
          </a:prstGeom>
        </p:spPr>
      </p:pic>
      <p:sp>
        <p:nvSpPr>
          <p:cNvPr id="18" name="Text 13"/>
          <p:cNvSpPr/>
          <p:nvPr/>
        </p:nvSpPr>
        <p:spPr>
          <a:xfrm>
            <a:off x="7918704"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Unreal</a:t>
            </a:r>
            <a:endParaRPr lang="en-US" sz="1600" dirty="0"/>
          </a:p>
        </p:txBody>
      </p:sp>
      <p:sp>
        <p:nvSpPr>
          <p:cNvPr id="19" name="Text 14"/>
          <p:cNvSpPr/>
          <p:nvPr/>
        </p:nvSpPr>
        <p:spPr>
          <a:xfrm>
            <a:off x="7918704"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C++ / Blueprint mesh access</a:t>
            </a:r>
            <a:endParaRPr lang="en-US" sz="1150" dirty="0"/>
          </a:p>
        </p:txBody>
      </p:sp>
      <p:sp>
        <p:nvSpPr>
          <p:cNvPr id="20" name="Text 15"/>
          <p:cNvSpPr/>
          <p:nvPr/>
        </p:nvSpPr>
        <p:spPr>
          <a:xfrm>
            <a:off x="548640" y="4160520"/>
            <a:ext cx="10607040" cy="18288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Reassign real EM material properties per surface class -- complex permittivity, wavelength-scale roughness -- not the textures the engine ships with</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Roughness is wavelength-relative (Rayleigh criterion): a surface "smooth" at L-band can be "rough" at X-band</a:t>
            </a:r>
            <a:endParaRPr lang="en-US" sz="1400" dirty="0"/>
          </a:p>
        </p:txBody>
      </p:sp>
      <p:sp>
        <p:nvSpPr>
          <p:cNvPr id="21" name="Text 1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2</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hardware ray tracing is the right substrate</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058400" cy="301752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Hardware-accelerated ray-triangle intersection is identical math whether you’re computing pixel color or radar path length</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DXR/RTX hit shaders expose custom per-ray payloads -- swap "return RGB" for "return (path length, complex reflectivity)"</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Gives you a hardware-accelerated shooting-and-bouncing-rays (SBR) EM simulator for free, riding on infrastructure you didn’t build</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Alternative: skip the engine’s rendering pipeline and go straight to CUDA/OptiX (what SARCASTIC does) -- trades authoring convenience for less API-fighting</a:t>
            </a:r>
            <a:endParaRPr lang="en-US" sz="1500" dirty="0"/>
          </a:p>
        </p:txBody>
      </p:sp>
      <p:sp>
        <p:nvSpPr>
          <p:cNvPr id="7" name="Shape 4"/>
          <p:cNvSpPr/>
          <p:nvPr/>
        </p:nvSpPr>
        <p:spPr>
          <a:xfrm>
            <a:off x="548640" y="5074920"/>
            <a:ext cx="10058400" cy="1005840"/>
          </a:xfrm>
          <a:prstGeom prst="roundRect">
            <a:avLst>
              <a:gd name="adj" fmla="val 7273"/>
            </a:avLst>
          </a:prstGeom>
          <a:solidFill>
            <a:srgbClr val="F1F4F8"/>
          </a:solidFill>
          <a:ln/>
          <a:effectLst>
            <a:outerShdw blurRad="101600" dist="38100" dir="5400000" algn="bl" rotWithShape="0">
              <a:srgbClr val="9AA5B1">
                <a:alpha val="22000"/>
              </a:srgbClr>
            </a:outerShdw>
          </a:effectLst>
        </p:spPr>
      </p:sp>
      <p:sp>
        <p:nvSpPr>
          <p:cNvPr id="8" name="Text 5"/>
          <p:cNvSpPr/>
          <p:nvPr/>
        </p:nvSpPr>
        <p:spPr>
          <a:xfrm>
            <a:off x="822960" y="5074920"/>
            <a:ext cx="9509760" cy="1005840"/>
          </a:xfrm>
          <a:prstGeom prst="rect">
            <a:avLst/>
          </a:prstGeom>
          <a:noFill/>
          <a:ln/>
        </p:spPr>
        <p:txBody>
          <a:bodyPr wrap="square" lIns="0" tIns="0" rIns="0" bIns="0" rtlCol="0" anchor="ctr"/>
          <a:lstStyle/>
          <a:p>
            <a:pPr marL="0" indent="0">
              <a:buNone/>
            </a:pPr>
            <a:r>
              <a:rPr lang="en-US" sz="1400" b="1" dirty="0">
                <a:solidFill>
                  <a:srgbClr val="0B7285"/>
                </a:solidFill>
                <a:latin typeface="Calibri" pitchFamily="34" charset="0"/>
                <a:ea typeface="Calibri" pitchFamily="34" charset="-122"/>
                <a:cs typeface="Calibri" pitchFamily="34" charset="-120"/>
              </a:rPr>
              <a:t>Prior art:  </a:t>
            </a:r>
            <a:r>
              <a:rPr lang="en-US" sz="1400" dirty="0">
                <a:solidFill>
                  <a:srgbClr val="141A22"/>
                </a:solidFill>
                <a:latin typeface="Calibri" pitchFamily="34" charset="0"/>
                <a:ea typeface="Calibri" pitchFamily="34" charset="-122"/>
                <a:cs typeface="Calibri" pitchFamily="34" charset="-120"/>
              </a:rPr>
              <a:t>RaySAR (Blender/POV-Ray based)  •  SARCASTIC (Bristol/Dstl, GPU SBR — extension case study on Slides 20–23)</a:t>
            </a:r>
            <a:endParaRPr lang="en-US" sz="1400" dirty="0"/>
          </a:p>
        </p:txBody>
      </p:sp>
      <p:sp>
        <p:nvSpPr>
          <p:cNvPr id="9" name="Text 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3</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Multi-bounce ray tracing &amp; corner reflectors</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uilding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424160" cy="429768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A right-angle dihedral (wall-ground) retroreflects across a wide range of incidence angles -- this is why building-ground corners dominate urban SAR brightness, not unusual material reflectivity</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Trace recursively: at each bounce, accumulate path length and reflectivity; cap at 2–3 bounce order (each multiplies by Fresnel reflectivity &lt; 1)</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Return-path check: after each bounce, fire a visibility ray back toward the sensor -- only paths that clear this are valid contributors</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Every valid path (1-, 2-, 3-bounce) becomes a scatterer contribution in the same per-pulse coherent sum -- no new forward model needed, just more terms</a:t>
            </a:r>
            <a:endParaRPr lang="en-US" sz="150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6</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Point-scatterer forward model → raw phase history</a:t>
            </a:r>
            <a:endParaRPr lang="en-US" sz="28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420624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Collapse ray-traced structures, ASC-derived structures, and empirical-clutter cells into one common point/patch-scatterer cloud (position + complex/Sinclair reflectivity)</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Define the synthetic aperture trajectory in scene world coordinates (position vs. slow-time) -- trivially scriptable via engine rigidbody/spline/waypoint systems, including realistic platform jitter for autofocus stress-testing</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Per pulse: for each scatterer, compute round-trip range, delay, and phase; sum contributions gated by antenna beam illumination</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Add real/simulated thermal noise and background clutter additively, after the deterministic signal</a:t>
            </a:r>
            <a:endParaRPr lang="en-US" sz="14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7</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Image formation closes the loop</a:t>
            </a:r>
            <a:endParaRPr lang="en-US" sz="28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CheckCircl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320040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Run the simulated raw phase history through standard SAR image formation (RDA or ω-k) -- no special-casing needed</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Layover, shadow, double-bounce brightness, and speckle all emerge correctly here, because they were produced by genuine range/Doppler geometry upstream, not faked in image space</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This is also where the pipeline is falsifiable: compare simulated PSF/sidelobe structure and speckle statistics against known real-data behavior</a:t>
            </a:r>
            <a:endParaRPr lang="en-US" sz="15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SCOPING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Fidelity tiers — pick your starting point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480560"/>
        </p:xfrm>
        <a:graphic>
          <a:graphicData uri="http://schemas.openxmlformats.org/drawingml/2006/table">
            <a:tbl>
              <a:tblPr/>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746760">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1 (MVP)</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Facet-based PO for specular structures + empirical σ⁰ for terrain + point-scatterer forward sim</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Days, reuses engine geometry directly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SBR multi-bounce with Sinclair-matrix polarimetry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Meaningfully more effort -- what RaySAR/SARCASTIC do</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Tier 2, with ASC-compressed scattering centers replacing per-pulse re-tracing for canonical structures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Same fidelity, fraction of the runtime cost</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MoM/PTD EM solve (FEKO/Xpatch-class tools)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Production/calibration-grade, heavy compute -- likely overkill for prototyping</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 weather</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Volumetric rain layer added on top of any tier above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Orthogonal -- a clutter-layer addition, not a fidelity upgrade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5" name="Text 2"/>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Per-pulse phase history: dense SBR vs ASC</a:t>
            </a:r>
            <a:endParaRPr lang="en-US" sz="2300" dirty="0"/>
          </a:p>
        </p:txBody>
      </p:sp>
      <p:sp>
        <p:nvSpPr>
          <p:cNvPr id="4" name="Text 2"/>
          <p:cNvSpPr/>
          <p:nvPr/>
        </p:nvSpPr>
        <p:spPr>
          <a:xfrm>
            <a:off x="548640" y="1417320"/>
            <a:ext cx="10698480" cy="59436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Same city, same ~20,000 structures. Ray density: 6 rays/wavelength, 3-4 bounces (matches Ansys SBR+ documentation guidance). Diffuse terrain is excluded from the ray budget either way -- handled by the empirical clutter model, not ray-traced, regardless of which approach is used for structures.</a:t>
            </a:r>
            <a:endParaRPr lang="en-US" sz="1250" dirty="0"/>
          </a:p>
        </p:txBody>
      </p:sp>
      <p:graphicFrame>
        <p:nvGraphicFramePr>
          <p:cNvPr id="14" name="Table 0"/>
          <p:cNvGraphicFramePr>
            <a:graphicFrameLocks noGrp="1"/>
          </p:cNvGraphicFramePr>
          <p:nvPr/>
        </p:nvGraphicFramePr>
        <p:xfrm>
          <a:off x="548640" y="2194560"/>
          <a:ext cx="10698480" cy="2103120"/>
        </p:xfrm>
        <a:graphic>
          <a:graphicData uri="http://schemas.openxmlformats.org/drawingml/2006/table">
            <a:tbl>
              <a:tblPr/>
              <a:tblGrid>
                <a:gridCol w="61264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25780">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Per-pulse cost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500-pulse collect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extLst>
                  <a:ext uri="{0D108BD9-81ED-4DB2-BD59-A6C34878D82A}">
                    <a16:rowId xmlns:a16="http://schemas.microsoft.com/office/drawing/2014/main" val="10000"/>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Naive dense SBR (whole footprint, wavelength-scale density, no tiering)</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~1-3 min</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~8-25 hours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Fidelity-tiered dense SBR (structures only, terrain via empirical model)</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 sec</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~9-10 minutes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ASC-cached (structures replaced by closed-form sum)</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milliseconds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seconds, overhead-dominated</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572000"/>
            <a:ext cx="10698480" cy="960120"/>
          </a:xfrm>
          <a:prstGeom prst="roundRect">
            <a:avLst>
              <a:gd name="adj" fmla="val 761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572000"/>
            <a:ext cx="10149840" cy="960120"/>
          </a:xfrm>
          <a:prstGeom prst="rect">
            <a:avLst/>
          </a:prstGeom>
          <a:noFill/>
          <a:ln/>
        </p:spPr>
        <p:txBody>
          <a:bodyPr wrap="square" lIns="0" tIns="0" rIns="0" bIns="0" rtlCol="0" anchor="ctr"/>
          <a:lstStyle/>
          <a:p>
            <a:pPr marL="0" indent="0">
              <a:lnSpc>
                <a:spcPct val="115000"/>
              </a:lnSpc>
              <a:buNone/>
            </a:pPr>
            <a:r>
              <a:rPr lang="en-US" sz="1300" b="1" dirty="0">
                <a:solidFill>
                  <a:srgbClr val="0B7285"/>
                </a:solidFill>
                <a:latin typeface="Calibri" pitchFamily="34" charset="0"/>
                <a:ea typeface="Calibri" pitchFamily="34" charset="-122"/>
                <a:cs typeface="Calibri" pitchFamily="34" charset="-120"/>
              </a:rPr>
              <a:t>Two independent levers, and they stack:  </a:t>
            </a:r>
            <a:r>
              <a:rPr lang="en-US" sz="1300" dirty="0">
                <a:solidFill>
                  <a:srgbClr val="141A22"/>
                </a:solidFill>
                <a:latin typeface="Calibri" pitchFamily="34" charset="0"/>
                <a:ea typeface="Calibri" pitchFamily="34" charset="-122"/>
                <a:cs typeface="Calibri" pitchFamily="34" charset="-120"/>
              </a:rPr>
              <a:t>fidelity tiering alone (not ray-tracing bare terrain) buys roughly 100-200x over the naive approach, before ASC even enters. ASC on top of that buys another ~10^5x per pulse for the structures themselves.</a:t>
            </a:r>
            <a:endParaRPr lang="en-US" sz="1300" dirty="0"/>
          </a:p>
        </p:txBody>
      </p:sp>
      <p:sp>
        <p:nvSpPr>
          <p:cNvPr id="8" name="Shape 5"/>
          <p:cNvSpPr/>
          <p:nvPr/>
        </p:nvSpPr>
        <p:spPr>
          <a:xfrm>
            <a:off x="548640" y="5669280"/>
            <a:ext cx="10698480" cy="868680"/>
          </a:xfrm>
          <a:prstGeom prst="roundRect">
            <a:avLst>
              <a:gd name="adj" fmla="val 8421"/>
            </a:avLst>
          </a:prstGeom>
          <a:solidFill>
            <a:srgbClr val="F1F4F8"/>
          </a:solidFill>
          <a:ln/>
          <a:effectLst>
            <a:outerShdw blurRad="101600" dist="38100" dir="5400000" algn="bl" rotWithShape="0">
              <a:srgbClr val="9AA5B1">
                <a:alpha val="22000"/>
              </a:srgbClr>
            </a:outerShdw>
          </a:effectLst>
        </p:spPr>
      </p:sp>
      <p:sp>
        <p:nvSpPr>
          <p:cNvPr id="9" name="Text 6"/>
          <p:cNvSpPr/>
          <p:nvPr/>
        </p:nvSpPr>
        <p:spPr>
          <a:xfrm>
            <a:off x="822960" y="5669280"/>
            <a:ext cx="10149840" cy="86868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Fermi-estimate quality, not measured -- assumptions stated explicitly above. RT-core throughput and OptiX SAR acceleration are grounded in published benchmarks; the naive-vs-tiered ratio depends on how much of the footprint is actually built up. A city with 9,950 buildings has been ray-traced in ~100ms on 2004-era hardware (DLR/RaySAR lineage) at a coarser fidelity tier -- real evidence that the fidelity-tier choice, not just ASC caching, is a first-order lever.</a:t>
            </a:r>
            <a:endParaRPr lang="en-US" sz="1050" dirty="0"/>
          </a:p>
        </p:txBody>
      </p:sp>
      <p:sp>
        <p:nvSpPr>
          <p:cNvPr id="10" name="Text 7"/>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Where ASC wins, and where it doesn’t</a:t>
            </a:r>
            <a:endParaRPr lang="en-US" sz="28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200" dirty="0">
                <a:solidFill>
                  <a:srgbClr val="0B7285"/>
                </a:solidFill>
                <a:latin typeface="Calibri" pitchFamily="34" charset="0"/>
                <a:ea typeface="Calibri" pitchFamily="34" charset="-122"/>
                <a:cs typeface="Calibri" pitchFamily="34" charset="-120"/>
              </a:rPr>
              <a:t>WINS</a:t>
            </a:r>
            <a:endParaRPr lang="en-US" sz="14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Canonical dihedral/corner structures -- RCS-vs-aspect is analytically known; skip ray tracing, inject fitted/known ASC parameters directly</a:t>
            </a:r>
            <a:endParaRPr lang="en-US" sz="1350" dirty="0"/>
          </a:p>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Bonus: this is the same representation used for known-target matched-filter detection (model-based ATR) -- the sim doubles as the detector’s reference template</a:t>
            </a:r>
            <a:endParaRPr lang="en-US" sz="135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400" b="1" kern="0" spc="200" dirty="0">
                <a:solidFill>
                  <a:srgbClr val="B85C00"/>
                </a:solidFill>
                <a:latin typeface="Calibri" pitchFamily="34" charset="0"/>
                <a:ea typeface="Calibri" pitchFamily="34" charset="-122"/>
                <a:cs typeface="Calibri" pitchFamily="34" charset="-120"/>
              </a:rPr>
              <a:t>CAVEATS</a:t>
            </a:r>
            <a:endParaRPr lang="en-US" sz="14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Locality: valid over the aspect/frequency sector it was fit for -- fine for one bounded aperture, not a full 360° sweep without re-fitting</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Fitting cost is real (model order, initialization) -- but one-time per structure, amortized over many pulses</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Doesn’t help diffuse clutter -- vegetation/rough terrain has no discrete centers to fit</a:t>
            </a:r>
            <a:endParaRPr lang="en-US" sz="1350" dirty="0"/>
          </a:p>
        </p:txBody>
      </p:sp>
      <p:sp>
        <p:nvSpPr>
          <p:cNvPr id="10" name="Text 8"/>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7374</TotalTime>
  <Words>7128</Words>
  <Application>Microsoft Office PowerPoint</Application>
  <PresentationFormat>Widescreen</PresentationFormat>
  <Paragraphs>448</Paragraphs>
  <Slides>34</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Calibri</vt:lpstr>
      <vt:lpstr>Cambria</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3D Scene to SAR Image</dc:title>
  <dc:subject>PptxGenJS Presentation</dc:subject>
  <dc:creator>sar_sim</dc:creator>
  <cp:lastModifiedBy>Dana  Phillips</cp:lastModifiedBy>
  <cp:revision>16</cp:revision>
  <dcterms:created xsi:type="dcterms:W3CDTF">2026-07-21T15:45:59Z</dcterms:created>
  <dcterms:modified xsi:type="dcterms:W3CDTF">2026-07-26T19:06:39Z</dcterms:modified>
</cp:coreProperties>
</file>