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80" r:id="rId4"/>
    <p:sldId id="285" r:id="rId5"/>
    <p:sldId id="263" r:id="rId6"/>
    <p:sldId id="289" r:id="rId7"/>
    <p:sldId id="286" r:id="rId8"/>
    <p:sldId id="264" r:id="rId9"/>
    <p:sldId id="267" r:id="rId10"/>
    <p:sldId id="284" r:id="rId11"/>
    <p:sldId id="266" r:id="rId12"/>
    <p:sldId id="268" r:id="rId13"/>
    <p:sldId id="269" r:id="rId14"/>
    <p:sldId id="282" r:id="rId15"/>
    <p:sldId id="283" r:id="rId16"/>
    <p:sldId id="270" r:id="rId17"/>
    <p:sldId id="259" r:id="rId18"/>
    <p:sldId id="275" r:id="rId19"/>
    <p:sldId id="276" r:id="rId20"/>
    <p:sldId id="277" r:id="rId21"/>
    <p:sldId id="278" r:id="rId22"/>
    <p:sldId id="279" r:id="rId23"/>
    <p:sldId id="288" r:id="rId24"/>
    <p:sldId id="260" r:id="rId25"/>
    <p:sldId id="261" r:id="rId26"/>
    <p:sldId id="262" r:id="rId27"/>
    <p:sldId id="271" r:id="rId28"/>
    <p:sldId id="272" r:id="rId29"/>
    <p:sldId id="273" r:id="rId30"/>
    <p:sldId id="287" r:id="rId31"/>
    <p:sldId id="265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B4CF"/>
    <a:srgbClr val="ACCBDE"/>
    <a:srgbClr val="C3D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5512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State the goal in one sentence -- generate physically-grounded SAR raw data (and images) from an authored 3D scene, for algorithm testing / training data / detector development, without needing a real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motivates the whole pipeline -- it’s not "make pretty radar pictures," it’s "generate raw phase history with known, controllable ground truth."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Landscape slide -- positions everything discussed so far (SBR substrate, ASC, Sinclair-matrix polarimetry, empirical clutter) against the broader field, including tools not otherwise mentioned (XPatch, MoM solvers). Sets up the gap-analysis slide immediately following.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exists because of a direct pressure-test: does Ansys SBR+ already do full polarimetric multi-bounce with dense rays? Yes, confirmed against Ansys documentation (MBRDC ray density control, PO/GO hybrid with PTD/UTD diffraction). The honest answer is this pipeline is not novel relative to commercial SOTA -- it is a lower-cost, amortized-compute approximation of it, with a specific and measurable gap. State this plainly rather than let an interviewer who knows HFSS catch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slide to pause on -- it’s the most likely place a first implementation silently produces wrong-looking results (dim buildings) without erroring. Sets up the speedup slide that follows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Fermi-estimate quality, same caveat class as the other worked-example slides. Model: resolution held FIXED at 2m across all three scales (not re-tuned per scene -- that was an earlier, physically wrong draft: a 4m trihedral imaged at 20m GSD would be lost in clutter, since clutter power scales with resolution-cell area while target RCS is fixed). Pulse count instead scales with imaged footprint, assuming uniform structure density so footprint linear extent ~ sqrt(N); grounded at the real TerraSAR-X anchor (~4,497 pulses for the full 10km x 10km city at 2m). Build cost uses the worst-case B=2 sec/structure (blended ray-trace+classify+ML-fallback). n* is independent of platform/orbit choice given these assumptions -- it is NOT independent of the footprint-scaling assumption itself, which is the weakest-grounded piece here and worth saying so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generalization of Slide 8’s dihedral fix and Slide 10’s WINS column, now applied as the primary city-scale build strategy rather than a special case. The named prior art is "forward parametric scattering center modeling" (Hua et al. 2014 IEEE TAP; Huang et al. 2020 GPU-accelerated version, Microwave and Optical Technology Letters) -- ray-trace + geometric cluster + directly determine parameters, no inverse optimization. The fallback number (0.06s/scattering-center) is from Yue &amp; Xu, JEIT 2024, a physics-informed ML inversion method -- caveat clearly that this is inference cost for an already-trained network, not raw optimization-from-scratch, and training that network is a separate cost not covered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this as amortizing the Slide 8 cost, not avoiding physics -- the expensive step still happens, just once per structure instead of once per pulse.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Correction/refinement to the earlier scalar-reflectivity description -- worth explicitly noting that this replaces the simpler version once polarimetry is in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matters, made concrete: an H-polarized wave hitting a trihedral whose first face is a V-oriented dipole grid has zero projection onto that face’s axis -- the field is nulled at the very first bounce, before Faces 2/3 ever see anything. A scalar/PEC model (what SARCASTIC does today) has no per-face polarization state, so it cannot represent this -- it would predict the opposite: a trihedral is the textbook maximum-RCS, aspect-insensitive calibration target. This is the concrete payoff of Slide 12’s Sinclair-matrix treatment -- it is not a fidelity nicety, it changes the predicted answer from strong to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between "cross-pol from rotation" (predictable) vs "cross-pol from depolarization" (statistical) is worth dwelling on -- easy to conflate and it matters for interpreting/validating simulated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cost-control decision -- ray tracing (or ASC) buys you the deterministic bright returns that matter for detection; empirical models handle the diffuse background cheaply and realistically.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this claim comes up in Q&amp;A, this is the correction: neither ASC nor SBR alone determines whether you get Doppler. What’s missing for weather is a moving, distributed, stochastic scatterer population -- a different problem from picking a scattering representation for rigid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Movers reuse Step 6’s forward model unchanged -- just make position time-varying. Maneuvering contacts are where ASC earns its keep: its aspect-angle parameterization means a hard turn is just a different closed-form evaluation, not a re-trace. Contrast with raw SBR, which would need a full re-trace at the target’s new pose every pulse -- worst case of the Slide 8 gotcha, now driven by target rotation instead of platform 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scope-setting slide for this extension: GMTI is a sensor-architecture change (multiple coherent phase centers + clutter cancellation + a detection/track backend), not an add-on scatterer type. The bonus card captures the "fly JSTARS over a game-engine scene with actors" idea -- the key implementation gotcha is decoupling actor kinematics from the engine’s live tick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genuinely new model layer, not a re-use of ASC or SBR machinery -- say so plainly. Doviak &amp; Zrnić is the standard citation for the Doppler spectrum treatment if asked for a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One-slide map of everything that follows. Come back to this between sections if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 for the case-study section. This grounds the last several slides’ concepts (SBR substrate, ASC speedup, Sinclair-matrix polarimetry) against a real, publicly-available codebase rather than leaving them abstract.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2641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load-bearing fact for the whole case study: PEC-only, scalar, geometric-cross-pol-only. Everything on the next two slides is a consequence of this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3144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 a days-scale sanity check that validates the CPHD multi-channel plumbing end to end. B is the one that actually matches this deck’s Sinclair-matrix treatment (Slide 12) and gives correct material-dependent polarimetry, not just geometric dihedral cross-pol.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1743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 needs zero new code. Stage 2 is a one-time offline job, fine in Python even though the core is C/C++. Stage 3 is the only part that touches the hot per-pulse loop, and it’s deliberately much cheaper than the ray-traced path it’s replacing.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6039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Landing slide -- restate the core reframe (radar problem, not rendering problem) and give a concrete "what to build first"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036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this is a re-tagging step, not something you get from existing game assets -- you’re throwing away the visual material and keeping only 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engineering decision point. Staying inside Unity/Unreal buys procedural terrain, asset libraries, trajectory scripting, and batch scene automation for dataset generation -- worth it if generating many diverse scenes, less so for one careful scene.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mechanical heart of "how do buildings show up correctly." Flag clearly: single-bounce-only tracing will silently miss the brightest returns in any urban scene.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same point-scatterer forward model developed earlier for target injection -- the whole scene now flows through that one mechanism, regardless of whether a given contribution came from ray tracing or an ASC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closing-the-loop slide -- ties back to the earlier RDA/ω-k material if this deck follows that content, or stands alone as "and then you image it normally."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for setting expectations with an audience about scope/timeline. Tier 2.5 is the practical sweet spot once Tier 2 is working and per-pulse re-tracing shows up as the bottleneck. Weather is a separate axis -- call that out explicitly if asked "which tier includes rain."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Slide 11’s "the win only shows up at scale" claim concrete with worked numbers. Sources: RT-core Gigarays/s benchmarks (Turing 10+, Ampere ~2x, Ada 3rd-gen); Willis &amp; Hossain, "Hardware-Accelerated SAR Simulation with NVIDIA-RTX Technology," arXiv:2005.09736 (OptiX-based SAR phase history, orders-of-magnitude speedup, additional order of magnitude specifically from RT cores); Auer/Hinz/Bamler DLR lineage (RaySAR) for the 9,950-building/100ms city-scale benchmark, flagged explicitly as a coarser fidelity treatment, not directly comparable fidelity to the Ansys-class numbers above. H100/A100 explicitly excluded from this estimate -- confirmed via search to lack RT cores entirely; RTX-class hardware is architecturally correct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bonus point ties this back to the model-based/template-matching detection discussion earlier in the series, if this deck follows that thread -- reuse, not a new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2331720"/>
            <a:ext cx="1920240" cy="192024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3" name="Image 0" descr="/sessions/sweet-friendly-mayer/mnt/outputs/presentation/icons/FaSatelliteDish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1105" y="2850185"/>
            <a:ext cx="883310" cy="883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26517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/>
              <a:t>Beyond SARCASTIC: </a:t>
            </a:r>
          </a:p>
          <a:p>
            <a:r>
              <a:rPr lang="en-US" sz="4400" dirty="0"/>
              <a:t>Closing the Gap to Ansys SAR Simulation</a:t>
            </a:r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simulate Synthetic Aperture Radar (SAR) from a 3D scene?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685800" cy="68580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6" name="Image 0" descr="/sessions/sweet-friendly-mayer/mnt/outputs/presentation/icons/FaTools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126" y="2334006"/>
            <a:ext cx="315468" cy="3154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3055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collections are expensive and access-restricted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in target diversity; hard to get controlled variety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87452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2148840"/>
            <a:ext cx="685800" cy="68580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11" name="Image 1" descr="/sessions/sweet-friendly-mayer/mnt/outputs/presentation/icons/FaCheckCircl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686" y="2334006"/>
            <a:ext cx="315468" cy="3154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3055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you can’t get from real data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46520" y="292608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target pose, position, and material -- known, not estimated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16052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434840"/>
            <a:ext cx="685800" cy="68580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16" name="Image 2" descr="/sessions/sweet-friendly-mayer/mnt/outputs/presentation/icons/FaLayerGroup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126" y="4620006"/>
            <a:ext cx="315468" cy="3154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41655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experiments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22960" y="521208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geometry, aspect angle, material, and clutter independently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416052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4434840"/>
            <a:ext cx="685800" cy="68580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21" name="Image 3" descr="/sessions/sweet-friendly-mayer/mnt/outputs/presentation/icons/FaCube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1686" y="4620006"/>
            <a:ext cx="315468" cy="3154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41655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detector / Automatic Target Recognition (ATR) development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446520" y="521208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training data augmentation, e.g. target injection into real clutter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Classes &amp; Gap Analysis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709930"/>
              </p:ext>
            </p:extLst>
          </p:nvPr>
        </p:nvGraphicFramePr>
        <p:xfrm>
          <a:off x="457200" y="1203568"/>
          <a:ext cx="11247120" cy="457850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16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Scene scale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Polarization / examples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0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Full-wave (Method of Moments / Finite Element Mesh)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numerical Maxwell solve on the meshed surface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Electrically small objects only (a few λ)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vector, exact — FEKO MoM, HFSS FEM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90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Discrete-target Shooting/Bouncing Rays (SBR) + PTD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SBR  + physical optics (PO) + physical theory of diffraction (PTD) + rigorous multi-bounce on a fine mesh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target at a time — cost explodes with object count / scene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vector, per-material — XPatch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90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Scene-scale SBR</a:t>
                      </a:r>
                      <a:b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</a:b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(Gaming Engine World Creation)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ray-tracing core, relaxed: coarser mesh, PO only, PTD usually dropped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environments — terrain + many objects, tractable runtime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scalar / single real vector — SARCASTIC, </a:t>
                      </a:r>
                      <a:r>
                        <a:rPr lang="en-US" sz="1050" dirty="0" err="1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RaySAR</a:t>
                      </a: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MATLAB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90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Parametric / Attributed Scattering Center (ASC) – Geometric Theory of Diffraction (GTD)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fit to scattering-center parameters — not a first-principles solve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Wherever it was fit (bounded aspect / frequency sector)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Inherits whatever generated the fit — Potter &amp; Moses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90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Empirical / statistical clutter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or regression backscatter statistics, no geometry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area, cheaply — no scene-specific 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Per-channel σ⁰ only, no coherent phase — Barton, GIT, Billingsley, Oh/IEM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B4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90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SBR + UTD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SBR  + physical optics (PO) + Uniform Theory of Diffraction (UTD) + rigorous multi-bounce on a fine mesh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latin typeface="Calibri" charset="0"/>
                          <a:ea typeface="Calibri" charset="0"/>
                          <a:cs typeface="Calibri" charset="0"/>
                        </a:rPr>
                        <a:t>Open world with moving actors (current Gold Standard)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latin typeface="Calibri" charset="0"/>
                          <a:ea typeface="Calibri" charset="0"/>
                          <a:cs typeface="Calibri" charset="0"/>
                        </a:rPr>
                        <a:t>Ansys Perceive EM/SBR+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26751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EECEF6-EDBC-5573-7CB7-9D87C777B4A4}"/>
              </a:ext>
            </a:extLst>
          </p:cNvPr>
          <p:cNvSpPr txBox="1"/>
          <p:nvPr/>
        </p:nvSpPr>
        <p:spPr>
          <a:xfrm>
            <a:off x="2409306" y="6081978"/>
            <a:ext cx="7342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combine approaches to get close to Ansys with lower cost/compute?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 isn’t to beat Ansys -- it’s to get close, for less cost &amp; compute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282115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Ansys Perceive EM/SBR+ already does dense multi-bounce ray tracing with per-bounce polarimetric materials, plus PTD/</a:t>
            </a:r>
            <a:r>
              <a:rPr lang="en-US" sz="1400" dirty="0"/>
              <a:t> Uniform Theory of Diffraction  (</a:t>
            </a: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UTD) diffraction and creeping waves. That’s a mature, commercial, full-featured solver -- </a:t>
            </a:r>
            <a:r>
              <a:rPr lang="en-US" sz="14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pipeline does not out-perform it on physics.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120640" cy="2468880"/>
          </a:xfrm>
          <a:prstGeom prst="roundRect">
            <a:avLst>
              <a:gd name="adj" fmla="val 2963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CLAIM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572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dense SBR accuracy, for a fraction of the AMORTIZED compute -- ASC caches the expensive part once per structure and reuses it across every pulse, aspect, and scenario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 only shows up at scale (a full phase history, an ATR training sweep, a Ground Moving Target Interval channel set) -- not for a single one-off look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2331720"/>
            <a:ext cx="5120640" cy="2468880"/>
          </a:xfrm>
          <a:prstGeom prst="roundRect">
            <a:avLst>
              <a:gd name="adj" fmla="val 2963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GAP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0" y="2926080"/>
            <a:ext cx="4572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Diffraction (PTD, creeping waves) -- Ansys models it, this pipeline currently doesn’t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Near-field coupling between adjacent structures -- structurally invisible to a per-structure closed-form cache, not a bug to fix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is measured, not assumed -- quantified via the dense-SBR-vs-ASC regression suite (validation section)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507492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507492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engineering tradeoff claim -- most of the accuracy that matters for target use cases, with a lower amortized cost, with the gap stated precisely enough to defend in a room that knows Ansys.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oundRect">
            <a:avLst>
              <a:gd name="adj" fmla="val 1067"/>
            </a:avLst>
          </a:prstGeom>
          <a:solidFill>
            <a:srgbClr val="F1F4F8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4" name="Image 0" descr="/sessions/sweet-friendly-mayer/mnt/outputs/presentation/icons/FaExclamationTriangl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184" y="737464"/>
            <a:ext cx="399593" cy="3995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GOTCHA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600200" y="86868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 re-trace per pulse -- ray density alone won’t save you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(Ansys approach)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double/triple-bounce path exists and points at the sensor depends on platform position -- re-run SBR at every synthetic aperture position, not once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O(pulses × rays × bounces)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ray density can under-sample the narrow specular-alignment condition that makes a dihedral bright -- easy to get an artificially dim building edge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TRADEOFF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ASC build cost is real -- how many passes to pay it off?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sensor mode / resolution (2m GSD, real TerraSAR-X Spotlight) at every scale -- what changes is the footprint, so pulse count scales with it. n* = number of collects before ASC-cached total cost undercuts Ansys.</a:t>
            </a:r>
            <a:endParaRPr lang="en-US" sz="1200" dirty="0"/>
          </a:p>
        </p:txBody>
      </p:sp>
      <p:pic>
        <p:nvPicPr>
          <p:cNvPr id="5" name="Image 0" descr="/sessions/sweet-friendly-mayer/mnt/outputs/presentation/breakeven_three_anchors_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597408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751320" y="1828800"/>
            <a:ext cx="4980432" cy="4480560"/>
          </a:xfrm>
          <a:prstGeom prst="roundRect">
            <a:avLst>
              <a:gd name="adj" fmla="val 1633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25640" y="2011680"/>
            <a:ext cx="4431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BREAK-EVEN, BY SCALE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25640" y="2423160"/>
            <a:ext cx="443179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 trihedral (N=1): n*=844 collects -- a one-off cal target essentially never pays back on its own</a:t>
            </a:r>
            <a:endParaRPr lang="en-US" sz="120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(N=625): n*=34 collects -- amortizes within a modest revisit campaign</a:t>
            </a:r>
            <a:endParaRPr lang="en-US" sz="120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city (N=20,000): n*=6 collects -- pays for itself almost immediately at city scale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025640" y="4663440"/>
            <a:ext cx="4431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r>
              <a:rPr lang="en-US" sz="12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ASC library isn’t worth building for a single isolated target -- it’s a scale play. Build it once per structure, reuse it across every collect, scenario, and aspect that touches that structure.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city-scale world cost breakdown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km x 10 km smallish city, ~20,000 structures. The one-time library-build cost looks scary if you assume per-structure optimization -- it isn’t, if you build the library the right way.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457200" y="2011680"/>
          <a:ext cx="11247120" cy="2606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Ray tracing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aspect/frequency characterization sweep per 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RT-core throughput (10+ Gigarays/s, Turing/Ampere/Ada)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 / structure -- not the bottleneck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+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ray hits; classify against canonical mechanism 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computational geometry -- no GPU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Sub-second / 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assignment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alpha_k from type; amplitude from Fresnel x geometry; position/length read from mesh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 evaluation, not optimization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Effectively 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(irregular geometry)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ML-inference parameter estimate for what doesn’t classify cleanly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Trained-network inference (Yue &amp; Xu, 2024)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~1.8 sec / structure (30 x 0.06s)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484632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r>
              <a:rPr lang="en-US" sz="12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of a real building stock classifies cleanly as canonical primitives (flat walls, roof edges, wall-ground corners), total build cost lands in hours on a single workstation -- not the multi-day cluster job assumed when this is treated as a fitting problem.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Compressed parametric scattering centers (GTD / ASC)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378440" y="621792"/>
            <a:ext cx="914400" cy="914400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5" name="Image 0" descr="/sessions/sweet-friendly-mayer/mnt/outputs/presentation/icons/FaBolt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868680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4315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Scattering Center (ASC) model — Potter &amp; Moses, "Attributed Scattering Centers for SAR ATR," IEEE Trans. Image Processing, 1997 (Ohio State)/ </a:t>
            </a:r>
            <a:r>
              <a:rPr lang="en-US" sz="1400" dirty="0"/>
              <a:t>Jackson, Rigling &amp; Moses, "Canonical Scattering Feature Models for 3D and Bistatic SAR," IEEE Trans. Aerospace and Electronic Systems, 2010/ Deng, Yang, &amp; Song “Novel Extension of Full-Polarimetric Bistatic Scattering Modeling of Canonical Scatterers for Radar Recognition, ” Remote Sens. 2025,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6"/>
              <p:cNvSpPr/>
              <p:nvPr/>
            </p:nvSpPr>
            <p:spPr>
              <a:xfrm>
                <a:off x="548640" y="4709160"/>
                <a:ext cx="10698480" cy="17373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03200" indent="-203200">
                  <a:lnSpc>
                    <a:spcPct val="112000"/>
                  </a:lnSpc>
                  <a:spcAft>
                    <a:spcPts val="1000"/>
                  </a:spcAft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141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encodes the canonical scattering mechanism: 1=flat plate, 0.5=singly-curved, 0=sphere, −0.5=edge, −1=dihedral/corner -- matches our building-ground case directly</a:t>
                </a:r>
              </a:p>
              <a:p>
                <a:pPr marL="203200" indent="-203200">
                  <a:lnSpc>
                    <a:spcPct val="112000"/>
                  </a:lnSpc>
                  <a:spcAft>
                    <a:spcPts val="1000"/>
                  </a:spcAft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141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is the Sinclair matrix that describe how the polarization of the return is impacted by the bounce (next slide)</a:t>
                </a:r>
              </a:p>
              <a:p>
                <a:pPr marL="203200" indent="-203200">
                  <a:lnSpc>
                    <a:spcPct val="112000"/>
                  </a:lnSpc>
                  <a:spcAft>
                    <a:spcPts val="1000"/>
                  </a:spcAft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acc>
                      </m:e>
                      <m:sub>
                        <m: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</m:acc>
                      </m:e>
                      <m:sub>
                        <m:r>
                          <a:rPr lang="en-US" sz="12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/>
                  <a:t> angular offset from center of return</a:t>
                </a:r>
              </a:p>
              <a:p>
                <a:pPr marL="203200" indent="-203200">
                  <a:lnSpc>
                    <a:spcPct val="112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sz="1350" dirty="0">
                    <a:solidFill>
                      <a:srgbClr val="141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Workflow: trace once (or a sparse aspect sweep) → fit a handful of scattering centers → evaluate the closed-form sum at every pulse instead of re-tracing rays</a:t>
                </a:r>
                <a:endParaRPr lang="en-US" sz="1350" dirty="0"/>
              </a:p>
            </p:txBody>
          </p:sp>
        </mc:Choice>
        <mc:Fallback>
          <p:sp>
            <p:nvSpPr>
              <p:cNvPr id="9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4709160"/>
                <a:ext cx="10698480" cy="1737360"/>
              </a:xfrm>
              <a:prstGeom prst="rect">
                <a:avLst/>
              </a:prstGeom>
              <a:blipFill>
                <a:blip r:embed="rId4"/>
                <a:stretch>
                  <a:fillRect l="-1026" t="-2456" b="-701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7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C6D741-3B8A-A1F8-767F-6CFD4640DB0A}"/>
                  </a:ext>
                </a:extLst>
              </p:cNvPr>
              <p:cNvSpPr txBox="1"/>
              <p:nvPr/>
            </p:nvSpPr>
            <p:spPr>
              <a:xfrm>
                <a:off x="908216" y="2926184"/>
                <a:ext cx="10586369" cy="15298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𝑗𝑓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sSub>
                                <m:sSub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func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f>
                                <m:f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</m:func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</m:func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e>
                          <m: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× </m:t>
                          </m:r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sinc</m:t>
                              </m:r>
                            </m:fName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func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US" sz="1400" i="1" smtClean="0">
                                                  <a:solidFill>
                                                    <a:srgbClr val="0070C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400" i="1" smtClean="0">
                                                  <a:solidFill>
                                                    <a:srgbClr val="0070C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𝜑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func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𝜑</m:t>
                                          </m:r>
                                          <m: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400" i="1" smtClean="0">
                                                  <a:solidFill>
                                                    <a:srgbClr val="0070C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̅"/>
                                                  <m:ctrlPr>
                                                    <a:rPr lang="en-US" sz="1400" i="1" smtClean="0">
                                                      <a:solidFill>
                                                        <a:srgbClr val="0070C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sz="1400" i="1" smtClean="0">
                                                      <a:solidFill>
                                                        <a:srgbClr val="0070C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𝜑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sz="1400" i="1" smtClean="0">
                                                  <a:solidFill>
                                                    <a:srgbClr val="0070C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e>
                          <m: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× </m:t>
                          </m:r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sinc</m:t>
                              </m:r>
                            </m:fName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func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sup>
                              </m:sSubSup>
                              <m:func>
                                <m:func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  <m: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US" sz="1400" i="1" smtClean="0">
                                                  <a:solidFill>
                                                    <a:srgbClr val="0070C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400" i="1" smtClean="0">
                                                  <a:solidFill>
                                                    <a:srgbClr val="0070C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𝜓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func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sup>
                              </m:sSub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40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𝜓</m:t>
                                          </m:r>
                                          <m:r>
                                            <a:rPr lang="en-US" sz="140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400" i="1" smtClean="0">
                                                  <a:solidFill>
                                                    <a:srgbClr val="0070C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̅"/>
                                                  <m:ctrlPr>
                                                    <a:rPr lang="en-US" sz="1400" i="1" smtClean="0">
                                                      <a:solidFill>
                                                        <a:srgbClr val="0070C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sz="1400" i="1" smtClean="0">
                                                      <a:solidFill>
                                                        <a:srgbClr val="0070C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𝜓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sz="1400" i="1" smtClean="0">
                                                  <a:solidFill>
                                                    <a:srgbClr val="0070C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</m:eqAr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C6D741-3B8A-A1F8-767F-6CFD4640D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216" y="2926184"/>
                <a:ext cx="10586369" cy="15298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POLARIZATION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Sinclair matrix instead of scalar reflectivity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937760" cy="1554480"/>
          </a:xfrm>
          <a:prstGeom prst="roundRect">
            <a:avLst>
              <a:gd name="adj" fmla="val 4706"/>
            </a:avLst>
          </a:prstGeom>
          <a:solidFill>
            <a:srgbClr val="12161C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7452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4FD8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 [ S_hh   S_hv ]</a:t>
            </a:r>
            <a:endParaRPr lang="en-US" sz="2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4FD8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[ S_vh   S_vv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806440" y="1737360"/>
            <a:ext cx="5806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bounce: compute Fresnel R_s / R_p from local incidence angle + material permittivity, rotate into the sensor’s H/V basis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Multi-bounce path: chain bounces as a matrix product (Jones-calculus style), not a scalar product -- this is what makes rotated-dihedral cross-pol fall out naturally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10698480" cy="1371600"/>
          </a:xfrm>
          <a:prstGeom prst="roundRect">
            <a:avLst>
              <a:gd name="adj" fmla="val 5333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35204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Gotcha:  </a:t>
            </a: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polarization basis convention (BSA vs FSA) is a classic silent-bug source -- validate against a known trihedral calibration signature once the pipeline runs.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POLARIZATION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polarization-selective trihedral nulls the "textbook" return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48640" y="1399032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 illumination on a trihedral: Face 1 = V dipoles, Face 2 = H dipoles, Face 3 = V dipoles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B85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7556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5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· V̂ = 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02082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coupling → reflected field = 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00200" y="2258568"/>
            <a:ext cx="137160" cy="118872"/>
          </a:xfrm>
          <a:prstGeom prst="line">
            <a:avLst/>
          </a:prstGeom>
          <a:noFill/>
          <a:ln w="15875">
            <a:solidFill>
              <a:srgbClr val="B85C00"/>
            </a:solidFill>
            <a:prstDash val="dash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457200" y="2606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Tx: H-pol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94660"/>
            <a:ext cx="960120" cy="0"/>
          </a:xfrm>
          <a:prstGeom prst="line">
            <a:avLst/>
          </a:prstGeom>
          <a:noFill/>
          <a:ln w="28575">
            <a:solidFill>
              <a:srgbClr val="141A2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91640" y="2377440"/>
            <a:ext cx="1051560" cy="1234440"/>
          </a:xfrm>
          <a:prstGeom prst="rect">
            <a:avLst/>
          </a:prstGeom>
          <a:solidFill>
            <a:srgbClr val="F1F4F8"/>
          </a:solidFill>
          <a:ln w="15875">
            <a:solidFill>
              <a:srgbClr val="CBD3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10512" y="2468880"/>
            <a:ext cx="0" cy="1051560"/>
          </a:xfrm>
          <a:prstGeom prst="line">
            <a:avLst/>
          </a:prstGeom>
          <a:noFill/>
          <a:ln w="22225">
            <a:solidFill>
              <a:srgbClr val="0B7285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947672" y="2468880"/>
            <a:ext cx="0" cy="1051560"/>
          </a:xfrm>
          <a:prstGeom prst="line">
            <a:avLst/>
          </a:prstGeom>
          <a:noFill/>
          <a:ln w="22225">
            <a:solidFill>
              <a:srgbClr val="0B7285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2084832" y="2468880"/>
            <a:ext cx="0" cy="1051560"/>
          </a:xfrm>
          <a:prstGeom prst="line">
            <a:avLst/>
          </a:prstGeom>
          <a:noFill/>
          <a:ln w="22225">
            <a:solidFill>
              <a:srgbClr val="0B728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2221992" y="2468880"/>
            <a:ext cx="0" cy="1051560"/>
          </a:xfrm>
          <a:prstGeom prst="line">
            <a:avLst/>
          </a:prstGeom>
          <a:noFill/>
          <a:ln w="22225">
            <a:solidFill>
              <a:srgbClr val="0B728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2359152" y="2468880"/>
            <a:ext cx="0" cy="1051560"/>
          </a:xfrm>
          <a:prstGeom prst="line">
            <a:avLst/>
          </a:prstGeom>
          <a:noFill/>
          <a:ln w="22225">
            <a:solidFill>
              <a:srgbClr val="0B728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691640" y="365760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691640" y="381304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dipoles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0" y="2994660"/>
            <a:ext cx="1051560" cy="0"/>
          </a:xfrm>
          <a:prstGeom prst="line">
            <a:avLst/>
          </a:prstGeom>
          <a:noFill/>
          <a:ln w="22225">
            <a:solidFill>
              <a:srgbClr val="CBD3DB"/>
            </a:solidFill>
            <a:prstDash val="dash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794760" y="2377440"/>
            <a:ext cx="1051560" cy="1234440"/>
          </a:xfrm>
          <a:prstGeom prst="rect">
            <a:avLst/>
          </a:prstGeom>
          <a:solidFill>
            <a:srgbClr val="F1F4F8"/>
          </a:solidFill>
          <a:ln w="15875">
            <a:solidFill>
              <a:srgbClr val="CBD3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86200" y="2505456"/>
            <a:ext cx="868680" cy="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886200" y="2706624"/>
            <a:ext cx="868680" cy="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3886200" y="2907792"/>
            <a:ext cx="868680" cy="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3886200" y="3108960"/>
            <a:ext cx="868680" cy="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3886200" y="3310128"/>
            <a:ext cx="868680" cy="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886200" y="3493008"/>
            <a:ext cx="868680" cy="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3794760" y="365760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794760" y="381304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dipoles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2994660"/>
            <a:ext cx="1051560" cy="0"/>
          </a:xfrm>
          <a:prstGeom prst="line">
            <a:avLst/>
          </a:prstGeom>
          <a:noFill/>
          <a:ln w="22225">
            <a:solidFill>
              <a:srgbClr val="CBD3DB"/>
            </a:solidFill>
            <a:prstDash val="dash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897880" y="2377440"/>
            <a:ext cx="1051560" cy="1234440"/>
          </a:xfrm>
          <a:prstGeom prst="rect">
            <a:avLst/>
          </a:prstGeom>
          <a:solidFill>
            <a:srgbClr val="F1F4F8"/>
          </a:solidFill>
          <a:ln w="15875">
            <a:solidFill>
              <a:srgbClr val="CBD3D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16752" y="2468880"/>
            <a:ext cx="0" cy="105156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153912" y="2468880"/>
            <a:ext cx="0" cy="105156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291072" y="2468880"/>
            <a:ext cx="0" cy="105156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6428232" y="2468880"/>
            <a:ext cx="0" cy="105156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65392" y="2468880"/>
            <a:ext cx="0" cy="105156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6720840" y="2468880"/>
            <a:ext cx="0" cy="1051560"/>
          </a:xfrm>
          <a:prstGeom prst="line">
            <a:avLst/>
          </a:prstGeom>
          <a:noFill/>
          <a:ln w="19050">
            <a:solidFill>
              <a:srgbClr val="CBD3DB"/>
            </a:solidFill>
            <a:prstDash val="solid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5897880" y="365760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97880" y="381304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dipoles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949440" y="2994660"/>
            <a:ext cx="1051560" cy="0"/>
          </a:xfrm>
          <a:prstGeom prst="line">
            <a:avLst/>
          </a:prstGeom>
          <a:noFill/>
          <a:ln w="22225">
            <a:solidFill>
              <a:srgbClr val="CBD3DB"/>
            </a:solidFill>
            <a:prstDash val="dash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8092440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 H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8092440" y="29992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0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48640" y="4069080"/>
            <a:ext cx="10698480" cy="475488"/>
          </a:xfrm>
          <a:prstGeom prst="roundRect">
            <a:avLst>
              <a:gd name="adj" fmla="val 15385"/>
            </a:avLst>
          </a:prstGeom>
          <a:solidFill>
            <a:srgbClr val="12161C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77240" y="4206240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FD8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E_inc = Ĥ   →   E_refl,1 = (Ĥ·V̂)V̂ = 0   →   no field reaches Face 2 / Face 3   →   σ_HH ≈ 0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46634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822960" y="4828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 / PEC MODEL  (e.g. SARCASTIC/MATLAB)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22960" y="5120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Trihedral = orientation-insensitive, maximum-RCS calibration standard.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22960" y="55961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B85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RETURN</a:t>
            </a:r>
            <a:endParaRPr lang="en-US" sz="2100" dirty="0"/>
          </a:p>
        </p:txBody>
      </p:sp>
      <p:sp>
        <p:nvSpPr>
          <p:cNvPr id="48" name="Shape 46"/>
          <p:cNvSpPr/>
          <p:nvPr/>
        </p:nvSpPr>
        <p:spPr>
          <a:xfrm>
            <a:off x="6126480" y="46634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400800" y="4828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SINCLAIR-MATRIX MODEL (Ansys)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6400800" y="5120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field polarization per bounce against each face’s own grid axis.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400800" y="55961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72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HH RETURN ≈ 0</a:t>
            </a:r>
            <a:endParaRPr lang="en-US" sz="2100" dirty="0"/>
          </a:p>
        </p:txBody>
      </p:sp>
      <p:sp>
        <p:nvSpPr>
          <p:cNvPr id="52" name="Text 50"/>
          <p:cNvSpPr/>
          <p:nvPr/>
        </p:nvSpPr>
        <p:spPr>
          <a:xfrm>
            <a:off x="548640" y="608076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Idealized model: each face acts as a linear polarizer along its own wire axis. A scalar/PEC simulator has no per-face polarization state to null against — it would predict the opposite.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matter: different mechanisms, not just brightness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66360" cy="2103120"/>
          </a:xfrm>
          <a:prstGeom prst="roundRect">
            <a:avLst>
              <a:gd name="adj" fmla="val 3478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6" name="Image 0" descr="/sessions/sweet-friendly-mayer/mnt/outputs/presentation/icons/FaMicrochip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19" y="2235159"/>
            <a:ext cx="302849" cy="3028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3911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metal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Near-total conductor, R≈1 both polarizations → strong co-pol, weak cross-pol. Clean-mirror regime.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783080"/>
            <a:ext cx="5166360" cy="2103120"/>
          </a:xfrm>
          <a:prstGeom prst="roundRect">
            <a:avLst>
              <a:gd name="adj" fmla="val 3478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2057400"/>
            <a:ext cx="658368" cy="658368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11" name="Image 1" descr="/sessions/sweet-friendly-mayer/mnt/outputs/presentation/icons/FaLeaf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279" y="2235159"/>
            <a:ext cx="302849" cy="3028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03911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/ canopy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4465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scattering from many small random scatterers → genuine depolarization → strong cross-pol (HV).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160520"/>
            <a:ext cx="5166360" cy="2103120"/>
          </a:xfrm>
          <a:prstGeom prst="roundRect">
            <a:avLst>
              <a:gd name="adj" fmla="val 3478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434840"/>
            <a:ext cx="658368" cy="658368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16" name="Image 2" descr="/sessions/sweet-friendly-mayer/mnt/outputs/presentation/icons/FaCub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719" y="4612599"/>
            <a:ext cx="302849" cy="30284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41655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/ rough soil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" y="52120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Bragg regime, VV typically &gt; HH; some cross-pol, far less than vegetation.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4160520"/>
            <a:ext cx="5166360" cy="2103120"/>
          </a:xfrm>
          <a:prstGeom prst="roundRect">
            <a:avLst>
              <a:gd name="adj" fmla="val 3478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4434840"/>
            <a:ext cx="658368" cy="658368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21" name="Image 3" descr="/sessions/sweet-friendly-mayer/mnt/outputs/presentation/icons/FaBuilding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279" y="4612599"/>
            <a:ext cx="302849" cy="30284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69480" y="441655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Rotated dihedral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446520" y="52120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Apparent cross-pol from polarization rotation -- deterministic, not the vegetation’s random depolarization.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clutter model — don’t ray-trace grass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6" name="Image 0" descr="/sessions/sweet-friendly-mayer/mnt/outputs/presentation/icons/FaBuilding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782" y="2230222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1031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/ specular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Buildings, metal, smooth ground, water</a:t>
            </a:r>
            <a:endParaRPr lang="en-US" sz="135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ray-traced Sinclair-matrix treatment (Steps 3–4), or ASC parameters for canonical structures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26480" y="178308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2057400"/>
            <a:ext cx="640080" cy="640080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11" name="Image 1" descr="/sessions/sweet-friendly-mayer/mnt/outputs/presentation/icons/FaLeaf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622" y="2230222"/>
            <a:ext cx="294437" cy="29443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21031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/ volume-scattering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400800" y="29260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Vegetation, rough soil</a:t>
            </a:r>
            <a:endParaRPr lang="en-US" sz="135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σ⁰_hh/vv/hv vs. incidence angle per land-cover class (Oh/IEM, water-cloud model, or AIRSAR/PolSAR tables) -- statistical draw, not traced geometry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oundRect">
            <a:avLst>
              <a:gd name="adj" fmla="val 1067"/>
            </a:avLst>
          </a:prstGeom>
          <a:solidFill>
            <a:srgbClr val="F1F4F8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4" name="Image 0" descr="/sessions/sweet-friendly-mayer/mnt/outputs/presentation/icons/FaCloudRain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184" y="737464"/>
            <a:ext cx="399593" cy="3995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600200" y="86868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 isn’t an ASC-vs-SBR question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2011680"/>
            <a:ext cx="10698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Doppler content doesn’t come from choosing ASC over SBR -- it falls out of the per-pulse forward model computing delay and phase at every platform position. Both already get correct Doppler for free.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isn’t a rigid discrete structure -- it’s a large, volumetric population of individually falling/drifting drops. A fundamentally different kind of target than the scattering centers ASC and SBR represent.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distinguishes weather: each contributor moves between pulses -- closer to the diffuse-terrain treatment (Step 5) than to either scattering-representation choice.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EXTENSIONS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Movers &amp; maneuvering contacts – SAR/GMTI simulator?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378440" y="621792"/>
            <a:ext cx="914400" cy="91440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5" name="Image 0" descr="/sessions/sweet-friendly-mayer/mnt/outputs/presentation/icons/FaWaveSquar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868680"/>
            <a:ext cx="420624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83080"/>
            <a:ext cx="5120640" cy="4251960"/>
          </a:xfrm>
          <a:prstGeom prst="roundRect">
            <a:avLst>
              <a:gd name="adj" fmla="val 1720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CONSTANT-VELOCITY MOVERS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2423160"/>
            <a:ext cx="4572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 scatterer time-varying position pos0 + v·t instead of static -- forward model needs no other changes</a:t>
            </a:r>
            <a:endParaRPr lang="en-US" sz="13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Azimuth displacement Δx ≈ R·v_r / v_platform and Doppler-rate-mismatch defocus emerge automatically, not hand-coded</a:t>
            </a:r>
            <a:endParaRPr lang="en-US" sz="13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check: does the sim reproduce the analytic displacement formula for a single point mover?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26480" y="1783080"/>
            <a:ext cx="5120640" cy="4251960"/>
          </a:xfrm>
          <a:prstGeom prst="roundRect">
            <a:avLst>
              <a:gd name="adj" fmla="val 1720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MANEUVERING CONTACTS (ASC)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0" y="2423160"/>
            <a:ext cx="4572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is naturally suited: it’s already parameterized by aspect angle, and a maneuver is just a continuously varying aspect angle</a:t>
            </a:r>
            <a:endParaRPr lang="en-US" sz="130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the scattering-center library once per target type (offline SBR aspect sweep); evaluate the closed-form sum at whatever aspect the maneuver produces, per pulse -- same amortization as Slides 9–10</a:t>
            </a:r>
            <a:endParaRPr lang="en-US" sz="130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Gotchas: sector pop-in/out at persistence-sector boundaries, reference-frame bookkeeping (bulk translation vs. local ASC origin), rigid-body-only -- no independently moving substructure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oundRect">
            <a:avLst>
              <a:gd name="adj" fmla="val 1067"/>
            </a:avLst>
          </a:prstGeom>
          <a:solidFill>
            <a:srgbClr val="F1F4F8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4" name="Image 0" descr="/sessions/sweet-friendly-mayer/mnt/outputs/presentation/icons/FaLayerGroup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184" y="737464"/>
            <a:ext cx="399593" cy="3995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EXTENSIONS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600200" y="8686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 → GMTI: a new architecture axis, not a scatterer type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548640" y="2011680"/>
            <a:ext cx="10698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GMTI isn’t "notice a bright pixel moved" -- it needs N simultaneous receive phase centers (sub-aperture receive chains displaced along-track), all observing the same scene and pulse, coherently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Clutter cancellation (DPCA, or STAP for non-ideal clutter) separates movers from stationary background across channels -- a genuinely different processing chain from Step 7’s single-channel image formation, not a variant of it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the multi-channel mixture honestly and the minimum detectable velocity / clutter notch emerges physically -- slow-radial-velocity movers correctly vanish into clutter instead of a hand-set detection threshold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detections/tracks (range, azimuth, radial velocity) per contact, not an image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10698480" cy="1371600"/>
          </a:xfrm>
          <a:prstGeom prst="roundRect">
            <a:avLst>
              <a:gd name="adj" fmla="val 5333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48920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-- scene generation:  </a:t>
            </a: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multi-actor scenes with the engine’s own nav-mesh/crowd/traffic AI instead of hand-scripting tracks. Bake each actor’s trajectory once (position + heading vs. time), then replay it decoupled from the engine’s render tick -- a CPI can be well under a second of slow-time, faster than the nav-mesh update rate.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Injecting rain: backscatter + Doppler spectrum + attenuation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856232"/>
            <a:ext cx="502920" cy="502920"/>
          </a:xfrm>
          <a:prstGeom prst="ellipse">
            <a:avLst/>
          </a:prstGeom>
          <a:solidFill>
            <a:srgbClr val="4FD8E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10332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backscatter  </a:t>
            </a: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point scatterers fill the illuminated volume; reflectivity via Marshall-Palmer drop-size distribution → Z, standard Z–R relation.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752344"/>
            <a:ext cx="502920" cy="50292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752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80160" y="2679192"/>
            <a:ext cx="10332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Per-scatterer Doppler  </a:t>
            </a: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drop’s radial velocity = size-dependent terminal fall speed (projected) + ambient wind -- a genuine mean Doppler shift.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648456"/>
            <a:ext cx="502920" cy="502920"/>
          </a:xfrm>
          <a:prstGeom prst="ellipse">
            <a:avLst/>
          </a:prstGeom>
          <a:solidFill>
            <a:srgbClr val="4FD8E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48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80160" y="3575304"/>
            <a:ext cx="10332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 width  </a:t>
            </a: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Turbulence and wind shear spread the mean -- standard Doviak &amp; Zrnić treatment; sample per-scatterer velocity from a distribution.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4544568"/>
            <a:ext cx="502920" cy="50292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44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80160" y="4471416"/>
            <a:ext cx="10332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attenuation  </a:t>
            </a: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also attenuates the wave passing through it (dB/km, frequency- and rate-dependent) -- dims whatever is behind the cell.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541324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effect: the scatterer population re-randomizes faster than it coherently integrates -- rain shows up as diffuse, poorly-focused clutter, and can visibly shadow terrain behind it.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" y="1965960"/>
            <a:ext cx="36576" cy="3840480"/>
          </a:xfrm>
          <a:prstGeom prst="rect">
            <a:avLst/>
          </a:prstGeom>
          <a:solidFill>
            <a:srgbClr val="CBD3DB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3080"/>
            <a:ext cx="640080" cy="64008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417320" y="1764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geometry + assign real EM material properties (not game albedo)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542032"/>
            <a:ext cx="640080" cy="64008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5420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417320" y="252374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scene, trace rays with hardware-accelerated ray tracing where needed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300984"/>
            <a:ext cx="640080" cy="64008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300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417320" y="3282696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to point-scatterer contributions; empirical backscatter for diffuse terrain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059936"/>
            <a:ext cx="640080" cy="64008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059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17320" y="40416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Forward-simulate raw phase history per pulse across the synthetic aperture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818888"/>
            <a:ext cx="640080" cy="64008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818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417320" y="48006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standard SAR image formation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5577840"/>
            <a:ext cx="640080" cy="640080"/>
          </a:xfrm>
          <a:prstGeom prst="ellipse">
            <a:avLst/>
          </a:prstGeom>
          <a:solidFill>
            <a:srgbClr val="4FD8E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5577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417320" y="555955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Layover, shadow, double-bounce, speckle emerge naturally -- real geometry, not a hack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Extending SARCASTIC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Dstl’s SARCASTIC is the real-world reference implementation of the SBR approach from Step 2 — a working GPU/CPU shooting-and-bouncing-rays SAR simulator, validated against real CAD-model targets</a:t>
            </a:r>
            <a:endParaRPr lang="en-US" sz="1550" dirty="0"/>
          </a:p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follows: concretely what it computes today, and what it’d take to add this deck’s polarimetry and ASC speedup to it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4069080"/>
            <a:ext cx="10698480" cy="1554480"/>
          </a:xfrm>
          <a:prstGeom prst="roundRect">
            <a:avLst>
              <a:gd name="adj" fmla="val 4706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425196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 </a:t>
            </a: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Blacknell et al., "SARCASTIC v2.0 — High-Performance SAR Simulation for Next-Generation ATR Systems," Remote Sensing, 2022.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 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github.com/dstl/sarcastic — archived/read-only as of Jan 2025, so any extension is a fork, not an upstream contribution.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14562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STUDY, CONTINUED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SARCASTIC computes today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607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Scattering model is Knott’s physical optics for a flat PEC (perfectly conducting) plate only — no permittivity, no Fresnel R_s/R_p anywhere in the derivation</a:t>
            </a:r>
            <a:endParaRPr lang="en-US" sz="145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Polarization = one real 3-vector ĥ per ray, updated by geometric mirror reflection at each bounce — cross-pol only comes from bounce geometry (their own validation case is a dihedral), never from material response</a:t>
            </a:r>
            <a:endParaRPr lang="en-US" sz="145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real source: RCS.c (scalar contribution) · reflect.cpp (per-bounce ĥ update) · cpuPOField.cpp (accumulation) · CPHD I/O via cphdShell/cphdInfo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43484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443484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starting point:  </a:t>
            </a: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"SARTrace" module already exposes per-bounce ray history — extend from there rather than patching the scalar path.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371548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Sinclair-matrix polarimetry to SARCASTIC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4251960"/>
          </a:xfrm>
          <a:prstGeom prst="roundRect">
            <a:avLst>
              <a:gd name="adj" fmla="val 1720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TWO-PASS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572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h-pol and v-pol runs separately; project the final ĥ onto both receive axes → 4 channels</a:t>
            </a:r>
            <a:endParaRPr lang="en-US" sz="13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CPHD’s existing multi-channel schema — no file-format change needed</a:t>
            </a:r>
            <a:endParaRPr lang="en-US" sz="13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PEC underneath: geometric cross-pol only (dihedrals) — no material-dependent differential reflectivity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783080"/>
            <a:ext cx="5120640" cy="4251960"/>
          </a:xfrm>
          <a:prstGeom prst="roundRect">
            <a:avLst>
              <a:gd name="adj" fmla="val 1720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MATRIX PROPAGATION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423160"/>
            <a:ext cx="4572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facets with permittivity; decompose into local Fresnel s/p basis inside RCS.c</a:t>
            </a:r>
            <a:endParaRPr lang="en-US" sz="13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2×2 matrices through reflect.cpp instead of a 3-vector; widen cpuPOField.cpp to 4 complex accumulators</a:t>
            </a:r>
            <a:endParaRPr lang="en-US" sz="13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SARTrace, not the scalar path — per-bounce history is already exposed there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74102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CONTINUED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ASC compression to SARCASTIC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01952"/>
            <a:ext cx="502920" cy="50292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01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80160" y="182880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Extract (reuse as-is)
</a:t>
            </a: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the structure’s CAD sub-mesh, sweep aspect angle with the unmodified SARCASTIC/SARTrace binary — produces the wideband, multi-aspect training data.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136392"/>
            <a:ext cx="502920" cy="502920"/>
          </a:xfrm>
          <a:prstGeom prst="ellipse">
            <a:avLst/>
          </a:prstGeom>
          <a:solidFill>
            <a:srgbClr val="4FD8E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80160" y="306324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Fit (new, external)
</a:t>
            </a: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CLEAN / matrix-pencil tool reads the resulting CPHD via cphdInfo and outputs a compact ASC parameter table — no C++ changes needed for this stage.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370832"/>
            <a:ext cx="502920" cy="502920"/>
          </a:xfrm>
          <a:prstGeom prst="ellipse">
            <a:avLst/>
          </a:prstGeom>
          <a:solidFill>
            <a:srgbClr val="FF9E2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370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2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80160" y="429768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Evaluate (new, in-core)
</a:t>
            </a: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ascField.cpp, parallel to cpuPOField.cpp: facet stays in the BVH for occlusion but opts out of RCS.c; one shadow ray per pulse gates the contribution; threadCore.cpp combines it additively with a per-pulse validity-sector fallback to full ray tracing.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5577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mechanism, dual purpose: the parallel-evaluator-plus-additive-injection pattern here is exactly what target injection needs too — one piece of infrastructure serves both.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7374754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simulation from a 3D scene is a physics forward-model problem wearing a graphics costume -- geometry and ray tracing infrastructure transfer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880360"/>
            <a:ext cx="731520" cy="73152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6" name="Image 0" descr="/sessions/sweet-friendly-mayer/mnt/outputs/presentation/icons/FaLayerGroup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550" y="3077870"/>
            <a:ext cx="336499" cy="3364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Multi-bounce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Resolvable RCS contributors, not aesthetic reflections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10128" y="260604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24528" y="2880360"/>
            <a:ext cx="731520" cy="73152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11" name="Image 1" descr="/sessions/sweet-friendly-mayer/mnt/outputs/presentation/icons/FaCub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038" y="307787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10128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447288" y="4114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permittivity, not albedo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71616" y="260604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986016" y="2880360"/>
            <a:ext cx="731520" cy="73152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16" name="Image 2" descr="/sessions/sweet-friendly-mayer/mnt/outputs/presentation/icons/FaWaveSquar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3526" y="307787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71616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Polarization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08776" y="4114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Sinclair matrices, not colors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833104" y="260604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747504" y="2880360"/>
            <a:ext cx="731520" cy="73152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21" name="Image 3" descr="/sessions/sweet-friendly-mayer/mnt/outputs/presentation/icons/FaCloudRain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5014" y="307787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833104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970264" y="4114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volumetric clutter, not a post-processing filter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48640" y="52578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prototype the point-scatterer forward sim first, layer in SBR multi-bounce + polarimetry, add ASC compression once re-tracing is the bottleneck, and weather whenever atmospheric fidelity matters.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23134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81E14-5C07-F98B-314E-94E4012AD1FB}"/>
              </a:ext>
            </a:extLst>
          </p:cNvPr>
          <p:cNvSpPr txBox="1"/>
          <p:nvPr/>
        </p:nvSpPr>
        <p:spPr>
          <a:xfrm>
            <a:off x="4306277" y="3235569"/>
            <a:ext cx="1454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Backup Slides</a:t>
            </a:r>
          </a:p>
        </p:txBody>
      </p:sp>
    </p:spTree>
    <p:extLst>
      <p:ext uri="{BB962C8B-B14F-4D97-AF65-F5344CB8AC3E}">
        <p14:creationId xmlns:p14="http://schemas.microsoft.com/office/powerpoint/2010/main" val="39532208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&amp; material extraction from gaming engine tools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mesh out of the engine: facet centroids, normals, areas, material tags.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97380" y="2496312"/>
            <a:ext cx="731520" cy="731520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7" name="Image 0" descr="/sessions/sweet-friendly-mayer/mnt/outputs/presentation/icons/FaCub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890" y="2693822"/>
            <a:ext cx="336499" cy="33649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291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35661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`bpy` Python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33672" y="2240280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82412" y="2496312"/>
            <a:ext cx="731520" cy="731520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12" name="Image 1" descr="/sessions/sweet-friendly-mayer/mnt/outputs/presentation/icons/FaBuilding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922" y="2693822"/>
            <a:ext cx="336499" cy="33649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33672" y="3291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Unity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233672" y="35661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`Mesh` class via C#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918704" y="2240280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267444" y="2496312"/>
            <a:ext cx="731520" cy="731520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17" name="Image 2" descr="/sessions/sweet-friendly-mayer/mnt/outputs/presentation/icons/FaLayerGroup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954" y="2693822"/>
            <a:ext cx="336499" cy="33649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918704" y="3291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Unreal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7918704" y="35661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C++ / Blueprint mesh access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548640" y="416052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Reassign real EM material properties per surface class -- complex permittivity, wavelength-scale roughness -- not the textures the engine ships with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Roughness is wavelength-relative (Rayleigh criterion): a surface "smooth" at L-band can be "rough" at X-band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hardware ray tracing is the right substrate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32720" y="594360"/>
            <a:ext cx="1005840" cy="100584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5" name="Image 0" descr="/sessions/sweet-friendly-mayer/mnt/outputs/presentation/icons/FaBolt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4297" y="865937"/>
            <a:ext cx="462686" cy="4626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783080"/>
            <a:ext cx="10058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Hardware-accelerated ray-triangle intersection is identical math whether you’re computing pixel color or radar path length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DXR/RTX hit shaders expose custom per-ray payloads -- swap "return RGB" for "return (path length, complex reflectivity)"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you a hardware-accelerated shooting-and-bouncing-rays (SBR) EM simulator for free, riding on infrastructure you didn’t build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skip the engine’s rendering pipeline and go straight to CUDA/OptiX (what SARCASTIC does) -- trades authoring convenience for less API-fighting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5074920"/>
            <a:ext cx="1005840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507492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art:  </a:t>
            </a:r>
            <a:r>
              <a:rPr lang="en-US" sz="14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RaySAR (Blender/POV-Ray based)  •  SARCASTIC (Bristol/Dstl, GPU SBR — extension case study on Slides 20–23)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Multi-bounce ray tracing &amp; corner reflectors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32720" y="594360"/>
            <a:ext cx="1005840" cy="100584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5" name="Image 0" descr="/sessions/sweet-friendly-mayer/mnt/outputs/presentation/icons/FaBuilding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4297" y="865937"/>
            <a:ext cx="462686" cy="4626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783080"/>
            <a:ext cx="104241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right-angle dihedral (wall-ground) retroreflects across a wide range of incidence angles -- this is why building-ground corners dominate urban SAR brightness, not unusual material reflectivity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recursively: at each bounce, accumulate path length and reflectivity; cap at 2–3 bounce order (each multiplies by Fresnel reflectivity &lt; 1)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Return-path check: after each bounce, fire a visibility ray back toward the sensor -- only paths that clear this are valid contributors</a:t>
            </a:r>
            <a:endParaRPr lang="en-US" sz="1500" dirty="0"/>
          </a:p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valid path (1-, 2-, 3-bounce) becomes a scatterer contribution in the same per-pulse coherent sum -- no new forward model needed, just more terms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Point-scatterer forward model → raw phase history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621792"/>
            <a:ext cx="914400" cy="914400"/>
          </a:xfrm>
          <a:prstGeom prst="ellipse">
            <a:avLst/>
          </a:prstGeom>
          <a:solidFill>
            <a:srgbClr val="FF9E2C"/>
          </a:solidFill>
          <a:ln/>
        </p:spPr>
      </p:sp>
      <p:pic>
        <p:nvPicPr>
          <p:cNvPr id="5" name="Image 0" descr="/sessions/sweet-friendly-mayer/mnt/outputs/presentation/icons/FaWaveSquar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868680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78308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ray-traced structures, ASC-derived structures, and empirical-clutter cells into one common point/patch-scatterer cloud (position + complex/Sinclair reflectivity)</a:t>
            </a:r>
            <a:endParaRPr lang="en-US" sz="1450" dirty="0"/>
          </a:p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synthetic aperture trajectory in scene world coordinates (position vs. slow-time) -- trivially scriptable via engine rigidbody/spline/waypoint systems, including realistic platform jitter for autofocus stress-testing</a:t>
            </a:r>
            <a:endParaRPr lang="en-US" sz="1450" dirty="0"/>
          </a:p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pulse: for each scatterer, compute round-trip range, delay, and phase; sum contributions gated by antenna beam illumination</a:t>
            </a:r>
            <a:endParaRPr lang="en-US" sz="1450" dirty="0"/>
          </a:p>
          <a:p>
            <a:pPr marL="203200" indent="-203200">
              <a:lnSpc>
                <a:spcPct val="112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real/simulated thermal noise and background clutter additively, after the deterministic signal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formation closes the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621792"/>
            <a:ext cx="914400" cy="914400"/>
          </a:xfrm>
          <a:prstGeom prst="ellipse">
            <a:avLst/>
          </a:prstGeom>
          <a:solidFill>
            <a:srgbClr val="4FD8EB"/>
          </a:solidFill>
          <a:ln/>
        </p:spPr>
      </p:sp>
      <p:pic>
        <p:nvPicPr>
          <p:cNvPr id="5" name="Image 0" descr="/sessions/sweet-friendly-mayer/mnt/outputs/presentation/icons/FaCheckCircl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868680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783080"/>
            <a:ext cx="10515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5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simulated raw phase history through standard SAR image formation (RDA or ω-k) -- no special-casing needed</a:t>
            </a:r>
            <a:endParaRPr lang="en-US" sz="1550" dirty="0"/>
          </a:p>
          <a:p>
            <a:pPr marL="203200" indent="-2032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5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Layover, shadow, double-bounce brightness, and speckle all emerge correctly here, because they were produced by genuine range/Doppler geometry upstream, not faked in image space</a:t>
            </a:r>
            <a:endParaRPr lang="en-US" sz="1550" dirty="0"/>
          </a:p>
          <a:p>
            <a:pPr marL="203200" indent="-2032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5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also where the pipeline is falsifiable: compare simulated PSF/sidelobe structure and speckle statistics against known real-data behavior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Fidelity tiers — pick your starting point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4805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(MVP)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Facet-based PO for specular structures + empirical σ⁰ for terrain + point-scatterer forward 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Days, reuses engine geometry directly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SBR multi-bounce with Sinclair-matrix polarimetry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Meaningfully more effort -- what RaySAR/SARCASTIC 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2, with ASC-compressed scattering centers replacing per-pulse re-tracing for canonical structures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fidelity, fraction of the runtime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MoM/PTD EM solve (FEKO/Xpatch-class tools)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Production/calibration-grade, heavy compute -- likely overkill for prototyping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weather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Volumetric rain layer added on top of any tier above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Orthogonal -- a clutter-layer addition, not a fidelity upgrade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EXAMPLE, CONTINUED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Per-pulse phase history: dense SBR vs ASC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city, same ~20,000 structures. Ray density: 6 rays/wavelength, 3-4 bounces (matches Ansys SBR+ documentation guidance). Diffuse terrain is excluded from the ray budget either way -- handled by the empirical clutter model, not ray-traced, regardless of which approach is used for structures.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548640" y="2194560"/>
          <a:ext cx="10698480" cy="2103120"/>
        </p:xfrm>
        <a:graphic>
          <a:graphicData uri="http://schemas.openxmlformats.org/drawingml/2006/table">
            <a:tbl>
              <a:tblPr/>
              <a:tblGrid>
                <a:gridCol w="6126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8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Per-pulse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8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500-pulse collect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8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dense SBR (whole footprint, wavelength-scale density, no tiering)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~1-3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~8-25 hours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Fidelity-tiered dense SBR (structures only, terrain via empirical model)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sec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~9-10 minutes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ASC-cached (structures replaced by closed-form sum)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seconds, overhead-dominated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0698480" cy="960120"/>
          </a:xfrm>
          <a:prstGeom prst="roundRect">
            <a:avLst>
              <a:gd name="adj" fmla="val 7619"/>
            </a:avLst>
          </a:prstGeom>
          <a:solidFill>
            <a:srgbClr val="E6EAF0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457200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levers, and they stack:  </a:t>
            </a:r>
            <a:r>
              <a:rPr lang="en-US" sz="130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tiering alone (not ray-tracing bare terrain) buys roughly 100-200x over the naive approach, before ASC even enters. ASC on top of that buys another ~10^5x per pulse for the structures themselves.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5669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Fermi-estimate quality, not measured -- assumptions stated explicitly above. RT-core throughput and OptiX SAR acceleration are grounded in published benchmarks; the naive-vs-tiered ratio depends on how much of the footprint is actually built up. A city with 9,950 buildings has been ray-traced in ~100ms on 2004-era hardware (DLR/RaySAR lineage) at a coarser fidelity tier -- real evidence that the fidelity-tier choice, not just ASC caching, is a first-order lever.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SPEEDUP, CONTINUED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ASC wins, and where it doesn’t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4251960"/>
          </a:xfrm>
          <a:prstGeom prst="roundRect">
            <a:avLst>
              <a:gd name="adj" fmla="val 1720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572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dihedral/corner structures -- RCS-vs-aspect is analytically known; skip ray tracing, inject fitted/known ASC parameters directly</a:t>
            </a:r>
            <a:endParaRPr lang="en-US" sz="1350" dirty="0"/>
          </a:p>
          <a:p>
            <a:pPr marL="203200" indent="-2032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this is the same representation used for known-target matched-filter detection (model-based ATR) -- the sim doubles as the detector’s reference template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26480" y="1783080"/>
            <a:ext cx="5120640" cy="4251960"/>
          </a:xfrm>
          <a:prstGeom prst="roundRect">
            <a:avLst>
              <a:gd name="adj" fmla="val 1720"/>
            </a:avLst>
          </a:prstGeom>
          <a:solidFill>
            <a:srgbClr val="F1F4F8"/>
          </a:solidFill>
          <a:ln/>
          <a:effectLst>
            <a:outerShdw blurRad="101600" dist="38100" dir="5400000" algn="bl" rotWithShape="0">
              <a:srgbClr val="9AA5B1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2423160"/>
            <a:ext cx="4572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Locality: valid over the aspect/frequency sector it was fit for -- fine for one bounded aperture, not a full 360° sweep without re-fitting</a:t>
            </a:r>
            <a:endParaRPr lang="en-US" sz="135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cost is real (model order, initialization) -- but one-time per structure, amortized over many pulses</a:t>
            </a:r>
            <a:endParaRPr lang="en-US" sz="1350" dirty="0"/>
          </a:p>
          <a:p>
            <a:pPr marL="203200" indent="-2032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help diffuse clutter -- vegetation/rough terrain has no discrete centers to fit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5782</TotalTime>
  <Words>5669</Words>
  <Application>Microsoft Office PowerPoint</Application>
  <PresentationFormat>Widescreen</PresentationFormat>
  <Paragraphs>409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Cambria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3D Scene to SAR Image</dc:title>
  <dc:subject>PptxGenJS Presentation</dc:subject>
  <dc:creator>sar_sim</dc:creator>
  <cp:lastModifiedBy>Dana  Phillips</cp:lastModifiedBy>
  <cp:revision>11</cp:revision>
  <dcterms:created xsi:type="dcterms:W3CDTF">2026-07-21T15:45:59Z</dcterms:created>
  <dcterms:modified xsi:type="dcterms:W3CDTF">2026-07-25T16:34:31Z</dcterms:modified>
</cp:coreProperties>
</file>