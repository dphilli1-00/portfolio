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80" r:id="rId5"/>
    <p:sldId id="285" r:id="rId6"/>
    <p:sldId id="263" r:id="rId7"/>
    <p:sldId id="289" r:id="rId8"/>
    <p:sldId id="291" r:id="rId9"/>
    <p:sldId id="286" r:id="rId10"/>
    <p:sldId id="264" r:id="rId11"/>
    <p:sldId id="267" r:id="rId12"/>
    <p:sldId id="284" r:id="rId13"/>
    <p:sldId id="266" r:id="rId14"/>
    <p:sldId id="268" r:id="rId15"/>
    <p:sldId id="269" r:id="rId16"/>
    <p:sldId id="282" r:id="rId17"/>
    <p:sldId id="283" r:id="rId18"/>
    <p:sldId id="270" r:id="rId19"/>
    <p:sldId id="259" r:id="rId20"/>
    <p:sldId id="290" r:id="rId21"/>
    <p:sldId id="293" r:id="rId22"/>
    <p:sldId id="294" r:id="rId23"/>
    <p:sldId id="296" r:id="rId24"/>
    <p:sldId id="297" r:id="rId25"/>
    <p:sldId id="279" r:id="rId26"/>
    <p:sldId id="288" r:id="rId27"/>
    <p:sldId id="275" r:id="rId28"/>
    <p:sldId id="276" r:id="rId29"/>
    <p:sldId id="277" r:id="rId30"/>
    <p:sldId id="278" r:id="rId31"/>
    <p:sldId id="260" r:id="rId32"/>
    <p:sldId id="261" r:id="rId33"/>
    <p:sldId id="262" r:id="rId34"/>
    <p:sldId id="271" r:id="rId35"/>
    <p:sldId id="272" r:id="rId36"/>
    <p:sldId id="273" r:id="rId37"/>
    <p:sldId id="287" r:id="rId38"/>
    <p:sldId id="265"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7B4CF"/>
    <a:srgbClr val="ACCBDE"/>
    <a:srgbClr val="C3D9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09" autoAdjust="0"/>
  </p:normalViewPr>
  <p:slideViewPr>
    <p:cSldViewPr snapToGrid="0" snapToObjects="1">
      <p:cViewPr varScale="1">
        <p:scale>
          <a:sx n="120" d="100"/>
          <a:sy n="120" d="100"/>
        </p:scale>
        <p:origin x="1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5512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State the goal in one sentence -- generate physically-grounded SAR raw data (and images) from an authored 3D scene, for algorithm testing / training data / detector development, without needing a real collection.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motivates the whole pipeline -- it’s not "make pretty radar pictures," it’s "generate raw phase history with known, controllable ground truth."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distinct from the previous slide's "why simulate at all" framing -- this is "who specifically uses it and for what," so it should survive a "sure, but what would you actually use it for" follow-up question. The tasking cost figures are from Airbus/Astrium GEO's published TerraSAR-X International Price List (2011 issue, the most granular public one available) -- new-acquisition scene prices run €1,375 (StripMap, 3m) up to €6,750 (High-Resolution SpotLight, 1m), with 90-day archive data at roughly half that; more recent retail quotes for other resolution/urgency combinations run higher (up to €13,500 for rush high-res tasking), so €1,375-€6,750 is a defensible, sourced floor-to-typical range rather than a worst-case. The "pre-fly the collection plan" point is the sharpest version of the economic argument: it's not just that simulated collects are cheaper than real ones, it's that simulation lets you find the standoff/altitude/resolution combination that actually resolves the target of interest BEFORE spending real tasking budget on a collect that might turn out to have the wrong geometry -- exactly the standoff/altitude/depression-angle tuning this deck's own Tier 2 validation collect went through this session (accidentally grazing incidence at one point, corrected before the final run).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Landscape slide -- positions everything discussed so far (SBR substrate, ASC, Sinclair-matrix polarimetry, empirical clutter) against the broader field, including tools not otherwise mentioned (XPatch, MoM solvers). Sets up the gap-analysis slide immediately following.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of a direct pressure-test: does Ansys SBR+ already do full polarimetric multi-bounce with dense rays? Yes, confirmed against Ansys documentation (MBRDC ray density control, PO/GO hybrid with PTD/UTD diffraction). The honest answer is this pipeline is not novel relative to commercial SOTA -- it is a lower-cost, amortized-compute approximation of it, with a specific and measurable gap. State this plainly rather than let an interviewer who knows HFSS catch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slide to pause on -- it’s the most likely place a first implementation silently produces wrong-looking results (dim buildings) without erroring. Sets up the speedup slide that follows directly.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Fermi-estimate quality, same caveat class as the other worked-example slides. Model: resolution held FIXED at 2m across all three scales (not re-tuned per scene -- that was an earlier, physically wrong draft: a 4m trihedral imaged at 20m GSD would be lost in clutter, since clutter power scales with resolution-cell area while target RCS is fixed). Pulse count instead scales with imaged footprint, assuming uniform structure density so footprint linear extent ~ sqrt(N); grounded at the real TerraSAR-X anchor (~4,497 pulses for the full 10km x 10km city at 2m). Build cost uses the worst-case B=2 sec/structure (blended ray-trace+classify+ML-fallback). n* is independent of platform/orbit choice given these assumptions -- it is NOT independent of the footprint-scaling assumption itself, which is the weakest-grounded piece here and worth saying so if asked.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Fermi-estimate quality, same caveat class as the other worked-example slides -- not measured. Range deliberately clipped to 100km^2 down to 0.1km^2 to stay inside the TerraSAR-X-anchored structure-density assumption (20,000 structures / 100km^2, held constant); extrapolating the same flat density up to 1000km^2 (~200,000 structures, roughly Tokyo-23-wards scale) pushes ASC-cached time to ~24 minutes vs ~59 hours for Ansys SBR+, but that's beyond the grounded anchor and worth flagging as extrapolation if it comes up. Per-pulse cost is T_FIXED (2ms, fixed overhead independent of scene content) plus N times the per-structure ray cost -- ASC's 0.5us/structure vs Ansys's 75us/structure. At small N the fixed overhead dominates for both methods and the gap between them closes; the advantage is entirely in the N-dependent term, which only matters once N gets large. This is phase-history generation only, not image formation, and it is a STEADY-STATE per-collect number -- a moving-target/moving-sensor sequence pays this cost again every frame unless a frame-differencing cache (reusing the static background's phase sum, recomputing only the moved geometry) is built, which is not reflected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generalization of Slide 8’s dihedral fix and Slide 10’s WINS column, now applied as the primary city-scale build strategy rather than a special case. The named prior art is "forward parametric scattering center modeling" (Hua et al. 2014 IEEE TAP; Huang et al. 2020 GPU-accelerated version, Microwave and Optical Technology Letters) -- ray-trace + geometric cluster + directly determine parameters, no inverse optimization. The fallback number (0.06s/scattering-center) is from Yue &amp; Xu, JEIT 2024, a physics-informed ML inversion method -- caveat clearly that this is inference cost for an already-trained network, not raw optimization-from-scratch, and training that network is a separate cost not covered 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this as amortizing the Slide 8 cost, not avoiding physics -- the expensive step still happens, just once per structure instead of once per pulse.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Correction/refinement to the earlier scalar-reflectivity description -- worth explicitly noting that this replaces the simpler version once polarimetry is in scope.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made concrete: an H-polarized wave hitting a trihedral whose first face is a V-oriented dipole grid has zero projection onto that face’s axis -- the field is nulled at the very first bounce, before Faces 2/3 ever see anything. A scalar/PEC model (what SARCASTIC does today) has no per-face polarization state, so it cannot represent this -- it would predict the opposite: a trihedral is the textbook maximum-RCS, aspect-insensitive calibration target. This is the concrete payoff of Slide 12’s Sinclair-matrix treatment -- it is not a fidelity nicety, it changes the predicted answer from strong to zero.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between "cross-pol from rotation" (predictable) vs "cross-pol from depolarization" (statistical) is worth dwelling on -- easy to conflate and it matters for interpreting/validating simulated output.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cost-control decision -- ray tracing (or ASC) buys you the deterministic bright returns that matter for detection; empirical models handle the diffuse background cheaply and realistically.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claim comes up in Q&amp;A, this is the correction: neither ASC nor SBR alone determines whether you get Doppler. What’s missing for weather is a moving, distributed, stochastic scatterer population -- a different problem from picking a scattering representation for rigid structures.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Movers reuse Step 6’s forward model unchanged -- just make position time-varying. Maneuvering contacts are where ASC earns its keep: its aspect-angle parameterization means a hard turn is just a different closed-form evaluation, not a re-trace. Contrast with raw SBR, which would need a full re-trace at the target’s new pose every pulse -- worst case of the Slide 8 gotcha, now driven by target rotation instead of platform motion.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scope-setting slide for this extension: GMTI is a sensor-architecture change (multiple coherent phase centers + clutter cancellation + a detection/track backend), not an add-on scatterer type. The bonus card captures the "fly JSTARS over a game-engine scene with actors" idea -- the key implementation gotcha is decoupling actor kinematics from the engine’s live tick rate.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genuinely new model layer, not a re-use of ASC or SBR machinery -- say so plainly. Doviak &amp; Zrnić is the standard citation for the Doppler spectrum treatment if asked for a reference.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map of everything that follows. Come back to this between sections if useful.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"gap is measured, not assumed" line from the Positioning slide and the "this is also where the pipeline is falsifiable" line from Step 7 -- both promised a validation section, this is it. Ordering is deliberate: cheap/diagnostic first, expensive/holistic last. A failure at tier 1 or 2 pinpoints the bug (forward model vs. ASC compression); a failure only visible at tier 4 is much harder to localize, which is exactly why it should not be the first or only check run. Tier 4 is grounded in existing public reference data (MSTAR/SAMPLE) rather than a hypothetical "real SAR imagery" placeholder -- per explicit request, the validation approach should leverage existing reference datasets rather than assume a bespoke real collection. Note MSTAR/SAMPLE targets are ground vehicles, not idealized canonical shapes, so they enter at Tier 4 (scene/target-level statistics) rather than Tier 1 (which stays a synthetic trihedral/dihedral/sphere check against closed-form theory). Tier 2 gotcha worth saying out loud if asked: SSIM has to be computed with the SAME noise realization (or noiseless) in both the dense-SBR and ASC-cached branches -- SAR speckle is multiplicative, so two structurally identical images with independent speckle draws will show a depressed SSIM that has nothing to do with the compression being tested. Tier 2.5 gotcha, worth being precise about if asked: the ASC model's x_k/y_k(/z_k) are aperture-relative down-range/cross-range coordinates for the fitted sector, not free-standing world-frame Cartesian positions -- they are only well-determined along whatever dimensions the aperture has real diversity in (bandwidth gives range, integration angle gives cross-range; out-of-plane/height needs actual elevation-angle diversity, e.g. multi-pass or circular SAR, or it is ill-conditioned even though the model formally carries a z_k term). This pipeline's own build stage reads position directly from the mesh rather than inverting it from data, so comparing THAT number to the mesh is circular -- the real test extracts position from the phase history via CLEAN/matrix-pencil as if it were unknown, the same way the SARCASTIC integration's "Fit" stage would, and checks whether that recovers the true mesh position, with the expected anisotropy reported rather than hidden in a single combined error number.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Tier 2 row from the Validation table, actually executed rather than described: a primitive-level dense-SBR ray tracer (flat rectangular facets, front-face-only single-bounce visibility, no PTD/UTD) built and run against a closed-form ASC-cached forward model on the identical building scene, same aperture, same noiseless realization. Whole-image SSIM is reported for completeness but is not the number to trust -- it is inflated by the concrete ground-clutter background (added identically to both branches, so it contributes "free" agreement to the average) and simultaneously diluted by real per-building differences averaging out across 200 structures. Per-building SSIM, cropping to each building's own footprint plus its height-dependent layover margin, is the metric that actually matches the table's "per structure type, same sector" language, and is what should be quoted: 197/200 (98.5%) pass. The 3 failing buildings (worst: 0.923) are consistently the SHORTEST in the scene (6.5-19m, vs. up to 40m elsewhere) with the smallest crops (35-68px) -- least layover margin and least spatial context for the SSIM window, not a systemic geometry problem; the geometry itself (standoff/altitude/resolution) was iterated specifically to remove an earlier, much worse failure mode where edge-of-scene buildings viewed at large incidence-angle swings (7 deg edge-to-edge at an earlier, too-short standoff) or a too-shallow ~2.9 deg depression angle (an intermediate misstep, altitude not scaled with standoff) drove per-building SSIM as low as 0.92-0.92 for a third of the scene. Real measured cost, not modeled, both from the same 450-pulse run on the RTX 4050: dense SBR 3108ms/pulse, 1398s (23.3 min) total; ASC-cached 3.8ms/pulse, 1.7s total -- 818x faster per pulse, 822x faster end to end. This is bigger than the Generation Speed slide's 125x (slide 7) because that number was never measured -- it came from flat per-structure cost constants (R_ANSYS=75us/structure, R_ASC=0.5us/structure in radar_params.py) standing in for a dense ray tracer that was never actually built or profiled. Once a real ray-facet intersector was built for this validation (O(rays x facets) occlusion, 67,081 rays x 1000 facets per pulse) and measured against the same O(facets) ASC backface-cull evaluation, real geometric occlusion turned out substantially more expensive per structure than the 75us placeholder assumed. GPU memory chunking (added to keep ray-facet intersection within VRAM budget on the RTX 4050) is not the explanation for the gap -- at this scene's facet count chunking adds roughly 8 kernel launches per pulse, negligible against 3.1s/pulse. The right reading: 125x was a napkin estimate for an unbuilt comparison; 818x is what the real cost of ray-traced occlusion vs a closed-form cache actually looks like once both sides exist and get profiled.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scoring pass on the exact same phase history as the previous slide -- no re-simulation, just a different, InSAR-standard metric (complex coherence) applied to the same dense-SBR and ASC-cached complex images. Coherence differs from SSIM in a specific way worth being precise about if asked: SSIM operates on the normalized dB-clipped magnitude image (a structural/perceptual comparison), so it can stay high even when the underlying complex field has areas of joint amplitude+phase misalignment that do not show up as an obvious structural difference in log-magnitude. Coherence is directly sensitive to that joint misalignment because it correlates the actual complex values, not a derived magnitude image. The headline finding: 16/200 buildings (8%) pass the Tier 2 SSIM&gt;=0.95 criterion but fail an equivalent coherence&gt;=0.95 threshold -- the worst case, building 8 (h=25.4m), scores SSIM=0.971 (a clean pass) but coherence=0.678, one of only two buildings below 0.70 in the whole scene (the other, building 33 at h=7.1m, was already flagged in the previous slide's notes as having an anomalously high phase RMS of 40.6 degrees -- coherence explains why: it is the single worst-agreeing building in the scene by this metric too). Notably this coherence-flagged population is NOT the same population as the SSIM-worst-5 from the previous slide: the SSIM failures were the shortest buildings (least layover margin, smallest crops); most of the coherence mismatches are mid-to-tall buildings (17-37m) with large, well-sampled crops, so this is a genuinely different, additional signal, not just the same short-building effect showing up twice. Phase bias sitting at -0.04 degrees (whole-image) and similarly near-zero per-building confirms there is no systematic reference-range or mocomp convention mismatch between the two branches -- whatever is driving the coherence gap is localized disagreement (candidate explanation, not yet confirmed: sub-pixel misalignment of the dominant scatterer position between the ray-traced dense-SBR return and the analytic ASC point-return for these specific facets), not a global bug. Correct interpretation to give in the room: this does not overturn the Tier 2 pass -- SSIM plus per-building scoring is still the primary, deck-stated criterion -- but it is real evidence that SSIM alone has a blind spot for a meaningful minority (8%) of structures, and a coherence threshold is worth adding alongside SSIM in the Tier 2 pass criteria on the Validation table, not swapped in to replace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54513-44E0-1974-5A82-1602EA3CE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B058E-5B8B-0C58-E9F5-76AEFF84B7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7415F-5D90-E24E-4E9B-627A6A0EECCA}"/>
              </a:ext>
            </a:extLst>
          </p:cNvPr>
          <p:cNvSpPr>
            <a:spLocks noGrp="1"/>
          </p:cNvSpPr>
          <p:nvPr>
            <p:ph type="body" idx="1"/>
          </p:nvPr>
        </p:nvSpPr>
        <p:spPr/>
        <p:txBody>
          <a:bodyPr/>
          <a:lstStyle/>
          <a:p>
            <a:r>
              <a:rPr lang="en-US" dirty="0"/>
              <a:t>This is the Tier 2 row from the Validation table, actually executed rather than described: a primitive-level dense-SBR ray tracer (flat rectangular facets, front-face-only single-bounce visibility, no PTD/UTD) built and run against a closed-form ASC-cached forward model on the identical building scene, same aperture, same noiseless realization. Whole-image SSIM is reported for completeness but is not the number to trust -- it is inflated by the concrete ground-clutter background (added identically to both branches, so it contributes "free" agreement to the average) and simultaneously diluted by real per-building differences averaging out across 200 structures. Per-building SSIM, cropping to each building's own footprint plus its height-dependent layover margin, is the metric that actually matches the table's "per structure type, same sector" language, and is what should be quoted: 197/200 (98.5%) pass. The 3 failing buildings (worst: 0.923) are consistently the SHORTEST in the scene (6.5-19m, vs. up to 40m elsewhere) with the smallest crops (35-68px) -- least layover margin and least spatial context for the SSIM window, not a systemic geometry problem; the geometry itself (standoff/altitude/resolution) was iterated specifically to remove an earlier, much worse failure mode where edge-of-scene buildings viewed at large incidence-angle swings (7 deg edge-to-edge at an earlier, too-short standoff) or a too-shallow ~2.9 deg depression angle (an intermediate misstep, altitude not scaled with standoff) drove per-building SSIM as low as 0.92-0.92 for a third of the scene. Real measured cost, not modeled, both from the same 450-pulse run on the RTX 4050: dense SBR 3108ms/pulse, 1398s (23.3 min) total; ASC-cached 3.8ms/pulse, 1.7s total -- 818x faster per pulse, 822x faster end to end. This is bigger than the Generation Speed slide's 125x (slide 7) because that number was never measured -- it came from flat per-structure cost constants (R_ANSYS=75us/structure, R_ASC=0.5us/structure in radar_params.py) standing in for a dense ray tracer that was never actually built or profiled. Once a real ray-facet intersector was built for this validation (O(rays x facets) occlusion, 67,081 rays x 1000 facets per pulse) and measured against the same O(facets) ASC backface-cull evaluation, real geometric occlusion turned out substantially more expensive per structure than the 75us placeholder assumed. GPU memory chunking (added to keep ray-facet intersection within VRAM budget on the RTX 4050) is not the explanation for the gap -- at this scene's facet count chunking adds roughly 8 kernel launches per pulse, negligible against 3.1s/pulse. The right reading: 125x was a napkin estimate for an unbuilt comparison; 818x is what the real cost of ray-traced occlusion vs a closed-form cache actually looks like once both sides exist and get profiled.</a:t>
            </a:r>
          </a:p>
        </p:txBody>
      </p:sp>
      <p:sp>
        <p:nvSpPr>
          <p:cNvPr id="4" name="Slide Number Placeholder 3">
            <a:extLst>
              <a:ext uri="{FF2B5EF4-FFF2-40B4-BE49-F238E27FC236}">
                <a16:creationId xmlns:a16="http://schemas.microsoft.com/office/drawing/2014/main" id="{17698E2C-DD03-A0C9-66EA-E1631B2FFB04}"/>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6688104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C3719-DF00-72A8-E431-07A060FD3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1F3F1-4100-7F09-793C-F1EEAAB5F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FFD04-F4EE-48FD-160E-B35DBED15F41}"/>
              </a:ext>
            </a:extLst>
          </p:cNvPr>
          <p:cNvSpPr>
            <a:spLocks noGrp="1"/>
          </p:cNvSpPr>
          <p:nvPr>
            <p:ph type="body" idx="1"/>
          </p:nvPr>
        </p:nvSpPr>
        <p:spPr/>
        <p:txBody>
          <a:bodyPr/>
          <a:lstStyle/>
          <a:p>
            <a:r>
              <a:rPr lang="en-US" dirty="0"/>
              <a:t>Second scoring pass on the exact same phase history as the previous slide -- no re-simulation, just a different, InSAR-standard metric (complex coherence) applied to the same dense-SBR and ASC-cached complex images. Coherence differs from SSIM in a specific way worth being precise about if asked: SSIM operates on the normalized dB-clipped magnitude image (a structural/perceptual comparison), so it can stay high even when the underlying complex field has areas of joint amplitude+phase misalignment that do not show up as an obvious structural difference in log-magnitude. Coherence is directly sensitive to that joint misalignment because it correlates the actual complex values, not a derived magnitude image. The headline finding: 16/200 buildings (8%) pass the Tier 2 SSIM&gt;=0.95 criterion but fail an equivalent coherence&gt;=0.95 threshold -- the worst case, building 8 (h=25.4m), scores SSIM=0.971 (a clean pass) but coherence=0.678, one of only two buildings below 0.70 in the whole scene (the other, building 33 at h=7.1m, was already flagged in the previous slide's notes as having an anomalously high phase RMS of 40.6 degrees -- coherence explains why: it is the single worst-agreeing building in the scene by this metric too). Notably this coherence-flagged population is NOT the same population as the SSIM-worst-5 from the previous slide: the SSIM failures were the shortest buildings (least layover margin, smallest crops); most of the coherence mismatches are mid-to-tall buildings (17-37m) with large, well-sampled crops, so this is a genuinely different, additional signal, not just the same short-building effect showing up twice. Phase bias sitting at -0.04 degrees (whole-image) and similarly near-zero per-building confirms there is no systematic reference-range or mocomp convention mismatch between the two branches -- whatever is driving the coherence gap is localized disagreement (candidate explanation, not yet confirmed: sub-pixel misalignment of the dominant scatterer position between the ray-traced dense-SBR return and the analytic ASC point-return for these specific facets), not a global bug. Correct interpretation to give in the room: this does not overturn the Tier 2 pass -- SSIM plus per-building scoring is still the primary, deck-stated criterion -- but it is real evidence that SSIM alone has a blind spot for a meaningful minority (8%) of structures, and a coherence threshold is worth adding alongside SSIM in the Tier 2 pass criteria on the Validation table, not swapped in to replace it.</a:t>
            </a:r>
          </a:p>
        </p:txBody>
      </p:sp>
      <p:sp>
        <p:nvSpPr>
          <p:cNvPr id="4" name="Slide Number Placeholder 3">
            <a:extLst>
              <a:ext uri="{FF2B5EF4-FFF2-40B4-BE49-F238E27FC236}">
                <a16:creationId xmlns:a16="http://schemas.microsoft.com/office/drawing/2014/main" id="{E9F70507-381A-2F37-2A50-37994BBCB3B5}"/>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7702739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Landing slide -- restate the core reframe (radar problem, not rendering problem) and give a concrete "what to build first" recommendation.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806036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for the case-study section. This grounds the last several slides’ concepts (SBR substrate, ASC speedup, Sinclair-matrix polarimetry) against a real, publicly-available codebase rather than leaving them abstract.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4422641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load-bearing fact for the whole case study: PEC-only, scalar, geometric-cross-pol-only. Everything on the next two slides is a consequence of this baseline.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419314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is a days-scale sanity check that validates the CPHD multi-channel plumbing end to end. B is the one that actually matches this deck’s Sinclair-matrix treatment (Slide 12) and gives correct material-dependent polarimetry, not just geometric dihedral cross-pol.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015174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needs zero new code. Stage 2 is a one-time offline job, fine in Python even though the core is C/C++. Stage 3 is the only part that touches the hot per-pulse loop, and it’s deliberately much cheaper than the ray-traced path it’s replacing.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806039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is a re-tagging step, not something you get from existing game assets -- you’re throwing away the visual material and keeping only geometry.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engineering decision point. Staying inside Unity/Unreal buys procedural terrain, asset libraries, trajectory scripting, and batch scene automation for dataset generation -- worth it if generating many diverse scenes, less so for one careful scene.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mechanical heart of "how do buildings show up correctly." Flag clearly: single-bounce-only tracing will silently miss the brightest returns in any urban scene.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point-scatterer forward model developed earlier for target injection -- the whole scene now flows through that one mechanism, regardless of whether a given contribution came from ray tracing or an ASC evaluation.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closing-the-loop slide -- ties back to the earlier RDA/ω-k material if this deck follows that content, or stands alone as "and then you image it normally."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for setting expectations with an audience about scope/timeline. Tier 2.5 is the practical sweet spot once Tier 2 is working and per-pulse re-tracing shows up as the bottleneck. Weather is a separate axis -- call that out explicitly if asked "which tier includes rain."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Makes Slide 11’s "the win only shows up at scale" claim concrete with worked numbers. Sources: RT-core Gigarays/s benchmarks (Turing 10+, Ampere ~2x, Ada 3rd-gen); Willis &amp; Hossain, "Hardware-Accelerated SAR Simulation with NVIDIA-RTX Technology," arXiv:2005.09736 (OptiX-based SAR phase history, orders-of-magnitude speedup, additional order of magnitude specifically from RT cores); Auer/Hinz/Bamler DLR lineage (RaySAR) for the 9,950-building/100ms city-scale benchmark, flagged explicitly as a coarser fidelity treatment, not directly comparable fidelity to the Ansys-class numbers above. H100/A100 explicitly excluded from this estimate -- confirmed via search to lack RT cores entirely; RTX-class hardware is architecturally correct here.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bonus point ties this back to the model-based/template-matching detection discussion earlier in the series, if this deck follows that thread -- reuse, not a new concept.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692640" y="2331720"/>
            <a:ext cx="1920240" cy="1920240"/>
          </a:xfrm>
          <a:prstGeom prst="ellipse">
            <a:avLst/>
          </a:prstGeom>
          <a:solidFill>
            <a:srgbClr val="FF9E2C"/>
          </a:solidFill>
          <a:ln/>
        </p:spPr>
      </p:sp>
      <p:pic>
        <p:nvPicPr>
          <p:cNvPr id="3" name="Image 0" descr="/sessions/sweet-friendly-mayer/mnt/outputs/presentation/icons/FaSatelliteDish_dark.png"/>
          <p:cNvPicPr>
            <a:picLocks noChangeAspect="1"/>
          </p:cNvPicPr>
          <p:nvPr/>
        </p:nvPicPr>
        <p:blipFill>
          <a:blip r:embed="rId3"/>
          <a:stretch>
            <a:fillRect/>
          </a:stretch>
        </p:blipFill>
        <p:spPr>
          <a:xfrm>
            <a:off x="10211105" y="2850185"/>
            <a:ext cx="883310" cy="883310"/>
          </a:xfrm>
          <a:prstGeom prst="rect">
            <a:avLst/>
          </a:prstGeom>
        </p:spPr>
      </p:pic>
      <p:sp>
        <p:nvSpPr>
          <p:cNvPr id="5" name="Text 2"/>
          <p:cNvSpPr/>
          <p:nvPr/>
        </p:nvSpPr>
        <p:spPr>
          <a:xfrm>
            <a:off x="594360" y="2651760"/>
            <a:ext cx="8686800" cy="1463040"/>
          </a:xfrm>
          <a:prstGeom prst="rect">
            <a:avLst/>
          </a:prstGeom>
          <a:noFill/>
          <a:ln/>
        </p:spPr>
        <p:txBody>
          <a:bodyPr wrap="square" lIns="0" tIns="0" rIns="0" bIns="0" rtlCol="0" anchor="ctr"/>
          <a:lstStyle/>
          <a:p>
            <a:r>
              <a:rPr lang="en-US" sz="4400" b="1" dirty="0"/>
              <a:t>Beyond SARCASTIC: </a:t>
            </a:r>
          </a:p>
          <a:p>
            <a:r>
              <a:rPr lang="en-US" sz="4400" dirty="0"/>
              <a:t>Closing the Gap to Ansys</a:t>
            </a:r>
          </a:p>
        </p:txBody>
      </p:sp>
      <p:sp>
        <p:nvSpPr>
          <p:cNvPr id="7" name="Text 4"/>
          <p:cNvSpPr/>
          <p:nvPr/>
        </p:nvSpPr>
        <p:spPr>
          <a:xfrm>
            <a:off x="11430000" y="6473952"/>
            <a:ext cx="548640" cy="274320"/>
          </a:xfrm>
          <a:prstGeom prst="rect">
            <a:avLst/>
          </a:prstGeom>
          <a:noFill/>
          <a:ln/>
        </p:spPr>
        <p:txBody>
          <a:bodyPr wrap="square" lIns="0" tIns="0" rIns="0" bIns="0" rtlCol="0" anchor="ctr"/>
          <a:lstStyle/>
          <a:p>
            <a:pPr marL="0" indent="0" algn="r">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Why simulate Synthetic Aperture Radar (SAR) from a 3D scene?</a:t>
            </a:r>
            <a:endParaRPr lang="en-US" sz="2800" dirty="0"/>
          </a:p>
        </p:txBody>
      </p:sp>
      <p:sp>
        <p:nvSpPr>
          <p:cNvPr id="4" name="Shape 2"/>
          <p:cNvSpPr/>
          <p:nvPr/>
        </p:nvSpPr>
        <p:spPr>
          <a:xfrm>
            <a:off x="548640" y="1874520"/>
            <a:ext cx="5166360" cy="1965960"/>
          </a:xfrm>
          <a:prstGeom prst="roundRect">
            <a:avLst>
              <a:gd name="adj" fmla="val 3721"/>
            </a:avLst>
          </a:prstGeom>
          <a:solidFill>
            <a:srgbClr val="F1F4F8"/>
          </a:solidFill>
          <a:ln/>
          <a:effectLst>
            <a:outerShdw blurRad="101600" dist="38100" dir="5400000" algn="bl" rotWithShape="0">
              <a:srgbClr val="9AA5B1">
                <a:alpha val="22000"/>
              </a:srgbClr>
            </a:outerShdw>
          </a:effectLst>
        </p:spPr>
      </p:sp>
      <p:sp>
        <p:nvSpPr>
          <p:cNvPr id="5" name="Shape 3"/>
          <p:cNvSpPr/>
          <p:nvPr/>
        </p:nvSpPr>
        <p:spPr>
          <a:xfrm>
            <a:off x="822960" y="2148840"/>
            <a:ext cx="685800" cy="685800"/>
          </a:xfrm>
          <a:prstGeom prst="ellipse">
            <a:avLst/>
          </a:prstGeom>
          <a:solidFill>
            <a:srgbClr val="FF9E2C"/>
          </a:solidFill>
          <a:ln/>
        </p:spPr>
      </p:sp>
      <p:pic>
        <p:nvPicPr>
          <p:cNvPr id="6" name="Image 0" descr="/sessions/sweet-friendly-mayer/mnt/outputs/presentation/icons/FaTools_dark.png"/>
          <p:cNvPicPr>
            <a:picLocks noChangeAspect="1"/>
          </p:cNvPicPr>
          <p:nvPr/>
        </p:nvPicPr>
        <p:blipFill>
          <a:blip r:embed="rId3"/>
          <a:stretch>
            <a:fillRect/>
          </a:stretch>
        </p:blipFill>
        <p:spPr>
          <a:xfrm>
            <a:off x="1008126" y="2334006"/>
            <a:ext cx="315468" cy="315468"/>
          </a:xfrm>
          <a:prstGeom prst="rect">
            <a:avLst/>
          </a:prstGeom>
        </p:spPr>
      </p:pic>
      <p:sp>
        <p:nvSpPr>
          <p:cNvPr id="7" name="Text 4"/>
          <p:cNvSpPr/>
          <p:nvPr/>
        </p:nvSpPr>
        <p:spPr>
          <a:xfrm>
            <a:off x="1691640" y="2130552"/>
            <a:ext cx="3794760" cy="731520"/>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Real collections are expensive and access-restricted</a:t>
            </a:r>
            <a:endParaRPr lang="en-US" sz="1450" dirty="0"/>
          </a:p>
        </p:txBody>
      </p:sp>
      <p:sp>
        <p:nvSpPr>
          <p:cNvPr id="8" name="Text 5"/>
          <p:cNvSpPr/>
          <p:nvPr/>
        </p:nvSpPr>
        <p:spPr>
          <a:xfrm>
            <a:off x="822960" y="2926080"/>
            <a:ext cx="4617720" cy="777240"/>
          </a:xfrm>
          <a:prstGeom prst="rect">
            <a:avLst/>
          </a:prstGeom>
          <a:noFill/>
          <a:ln/>
        </p:spPr>
        <p:txBody>
          <a:bodyPr wrap="square" lIns="0" tIns="0" rIns="0" bIns="0" rtlCol="0" anchor="t"/>
          <a:lstStyle/>
          <a:p>
            <a:pPr marL="0" indent="0">
              <a:lnSpc>
                <a:spcPct val="115000"/>
              </a:lnSpc>
              <a:buNone/>
            </a:pPr>
            <a:r>
              <a:rPr lang="en-US" sz="1200" i="1" dirty="0">
                <a:solidFill>
                  <a:srgbClr val="5B6672"/>
                </a:solidFill>
                <a:latin typeface="Calibri" pitchFamily="34" charset="0"/>
                <a:ea typeface="Calibri" pitchFamily="34" charset="-122"/>
                <a:cs typeface="Calibri" pitchFamily="34" charset="-120"/>
              </a:rPr>
              <a:t>Sparse in target diversity; hard to get controlled variety</a:t>
            </a:r>
            <a:endParaRPr lang="en-US" sz="1200" dirty="0"/>
          </a:p>
        </p:txBody>
      </p:sp>
      <p:sp>
        <p:nvSpPr>
          <p:cNvPr id="9" name="Shape 6"/>
          <p:cNvSpPr/>
          <p:nvPr/>
        </p:nvSpPr>
        <p:spPr>
          <a:xfrm>
            <a:off x="6172200" y="1874520"/>
            <a:ext cx="5166360" cy="1965960"/>
          </a:xfrm>
          <a:prstGeom prst="roundRect">
            <a:avLst>
              <a:gd name="adj" fmla="val 3721"/>
            </a:avLst>
          </a:prstGeom>
          <a:solidFill>
            <a:srgbClr val="F1F4F8"/>
          </a:solidFill>
          <a:ln/>
          <a:effectLst>
            <a:outerShdw blurRad="101600" dist="38100" dir="5400000" algn="bl" rotWithShape="0">
              <a:srgbClr val="9AA5B1">
                <a:alpha val="22000"/>
              </a:srgbClr>
            </a:outerShdw>
          </a:effectLst>
        </p:spPr>
      </p:sp>
      <p:sp>
        <p:nvSpPr>
          <p:cNvPr id="10" name="Shape 7"/>
          <p:cNvSpPr/>
          <p:nvPr/>
        </p:nvSpPr>
        <p:spPr>
          <a:xfrm>
            <a:off x="6446520" y="2148840"/>
            <a:ext cx="685800" cy="685800"/>
          </a:xfrm>
          <a:prstGeom prst="ellipse">
            <a:avLst/>
          </a:prstGeom>
          <a:solidFill>
            <a:srgbClr val="FF9E2C"/>
          </a:solidFill>
          <a:ln/>
        </p:spPr>
      </p:sp>
      <p:pic>
        <p:nvPicPr>
          <p:cNvPr id="11" name="Image 1" descr="/sessions/sweet-friendly-mayer/mnt/outputs/presentation/icons/FaCheckCircle_dark.png"/>
          <p:cNvPicPr>
            <a:picLocks noChangeAspect="1"/>
          </p:cNvPicPr>
          <p:nvPr/>
        </p:nvPicPr>
        <p:blipFill>
          <a:blip r:embed="rId4"/>
          <a:stretch>
            <a:fillRect/>
          </a:stretch>
        </p:blipFill>
        <p:spPr>
          <a:xfrm>
            <a:off x="6631686" y="2334006"/>
            <a:ext cx="315468" cy="315468"/>
          </a:xfrm>
          <a:prstGeom prst="rect">
            <a:avLst/>
          </a:prstGeom>
        </p:spPr>
      </p:pic>
      <p:sp>
        <p:nvSpPr>
          <p:cNvPr id="12" name="Text 8"/>
          <p:cNvSpPr/>
          <p:nvPr/>
        </p:nvSpPr>
        <p:spPr>
          <a:xfrm>
            <a:off x="7315200" y="2130552"/>
            <a:ext cx="3794760" cy="731520"/>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Ground truth you can’t get from real data</a:t>
            </a:r>
            <a:endParaRPr lang="en-US" sz="1450" dirty="0"/>
          </a:p>
        </p:txBody>
      </p:sp>
      <p:sp>
        <p:nvSpPr>
          <p:cNvPr id="13" name="Text 9"/>
          <p:cNvSpPr/>
          <p:nvPr/>
        </p:nvSpPr>
        <p:spPr>
          <a:xfrm>
            <a:off x="6446520" y="2926080"/>
            <a:ext cx="4617720" cy="777240"/>
          </a:xfrm>
          <a:prstGeom prst="rect">
            <a:avLst/>
          </a:prstGeom>
          <a:noFill/>
          <a:ln/>
        </p:spPr>
        <p:txBody>
          <a:bodyPr wrap="square" lIns="0" tIns="0" rIns="0" bIns="0" rtlCol="0" anchor="t"/>
          <a:lstStyle/>
          <a:p>
            <a:pPr marL="0" indent="0">
              <a:lnSpc>
                <a:spcPct val="115000"/>
              </a:lnSpc>
              <a:buNone/>
            </a:pPr>
            <a:r>
              <a:rPr lang="en-US" sz="1200" i="1" dirty="0">
                <a:solidFill>
                  <a:srgbClr val="5B6672"/>
                </a:solidFill>
                <a:latin typeface="Calibri" pitchFamily="34" charset="0"/>
                <a:ea typeface="Calibri" pitchFamily="34" charset="-122"/>
                <a:cs typeface="Calibri" pitchFamily="34" charset="-120"/>
              </a:rPr>
              <a:t>Exact target pose, position, and material -- known, not estimated</a:t>
            </a:r>
            <a:endParaRPr lang="en-US" sz="1200" dirty="0"/>
          </a:p>
        </p:txBody>
      </p:sp>
      <p:sp>
        <p:nvSpPr>
          <p:cNvPr id="14" name="Shape 10"/>
          <p:cNvSpPr/>
          <p:nvPr/>
        </p:nvSpPr>
        <p:spPr>
          <a:xfrm>
            <a:off x="548640" y="4160520"/>
            <a:ext cx="5166360" cy="1965960"/>
          </a:xfrm>
          <a:prstGeom prst="roundRect">
            <a:avLst>
              <a:gd name="adj" fmla="val 3721"/>
            </a:avLst>
          </a:prstGeom>
          <a:solidFill>
            <a:srgbClr val="F1F4F8"/>
          </a:solidFill>
          <a:ln/>
          <a:effectLst>
            <a:outerShdw blurRad="101600" dist="38100" dir="5400000" algn="bl" rotWithShape="0">
              <a:srgbClr val="9AA5B1">
                <a:alpha val="22000"/>
              </a:srgbClr>
            </a:outerShdw>
          </a:effectLst>
        </p:spPr>
      </p:sp>
      <p:sp>
        <p:nvSpPr>
          <p:cNvPr id="15" name="Shape 11"/>
          <p:cNvSpPr/>
          <p:nvPr/>
        </p:nvSpPr>
        <p:spPr>
          <a:xfrm>
            <a:off x="822960" y="4434840"/>
            <a:ext cx="685800" cy="685800"/>
          </a:xfrm>
          <a:prstGeom prst="ellipse">
            <a:avLst/>
          </a:prstGeom>
          <a:solidFill>
            <a:srgbClr val="FF9E2C"/>
          </a:solidFill>
          <a:ln/>
        </p:spPr>
      </p:sp>
      <p:pic>
        <p:nvPicPr>
          <p:cNvPr id="16" name="Image 2" descr="/sessions/sweet-friendly-mayer/mnt/outputs/presentation/icons/FaLayerGroup_dark.png"/>
          <p:cNvPicPr>
            <a:picLocks noChangeAspect="1"/>
          </p:cNvPicPr>
          <p:nvPr/>
        </p:nvPicPr>
        <p:blipFill>
          <a:blip r:embed="rId5"/>
          <a:stretch>
            <a:fillRect/>
          </a:stretch>
        </p:blipFill>
        <p:spPr>
          <a:xfrm>
            <a:off x="1008126" y="4620006"/>
            <a:ext cx="315468" cy="315468"/>
          </a:xfrm>
          <a:prstGeom prst="rect">
            <a:avLst/>
          </a:prstGeom>
        </p:spPr>
      </p:pic>
      <p:sp>
        <p:nvSpPr>
          <p:cNvPr id="17" name="Text 12"/>
          <p:cNvSpPr/>
          <p:nvPr/>
        </p:nvSpPr>
        <p:spPr>
          <a:xfrm>
            <a:off x="1691640" y="4416552"/>
            <a:ext cx="3794760" cy="731520"/>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Controlled experiments</a:t>
            </a:r>
            <a:endParaRPr lang="en-US" sz="1450" dirty="0"/>
          </a:p>
        </p:txBody>
      </p:sp>
      <p:sp>
        <p:nvSpPr>
          <p:cNvPr id="18" name="Text 13"/>
          <p:cNvSpPr/>
          <p:nvPr/>
        </p:nvSpPr>
        <p:spPr>
          <a:xfrm>
            <a:off x="822960" y="5212080"/>
            <a:ext cx="4617720" cy="777240"/>
          </a:xfrm>
          <a:prstGeom prst="rect">
            <a:avLst/>
          </a:prstGeom>
          <a:noFill/>
          <a:ln/>
        </p:spPr>
        <p:txBody>
          <a:bodyPr wrap="square" lIns="0" tIns="0" rIns="0" bIns="0" rtlCol="0" anchor="t"/>
          <a:lstStyle/>
          <a:p>
            <a:pPr marL="0" indent="0">
              <a:lnSpc>
                <a:spcPct val="115000"/>
              </a:lnSpc>
              <a:buNone/>
            </a:pPr>
            <a:r>
              <a:rPr lang="en-US" sz="1200" i="1" dirty="0">
                <a:solidFill>
                  <a:srgbClr val="5B6672"/>
                </a:solidFill>
                <a:latin typeface="Calibri" pitchFamily="34" charset="0"/>
                <a:ea typeface="Calibri" pitchFamily="34" charset="-122"/>
                <a:cs typeface="Calibri" pitchFamily="34" charset="-120"/>
              </a:rPr>
              <a:t>Vary geometry, aspect angle, material, and clutter independently</a:t>
            </a:r>
            <a:endParaRPr lang="en-US" sz="1200" dirty="0"/>
          </a:p>
        </p:txBody>
      </p:sp>
      <p:sp>
        <p:nvSpPr>
          <p:cNvPr id="19" name="Shape 14"/>
          <p:cNvSpPr/>
          <p:nvPr/>
        </p:nvSpPr>
        <p:spPr>
          <a:xfrm>
            <a:off x="6172200" y="4160520"/>
            <a:ext cx="5166360" cy="1965960"/>
          </a:xfrm>
          <a:prstGeom prst="roundRect">
            <a:avLst>
              <a:gd name="adj" fmla="val 3721"/>
            </a:avLst>
          </a:prstGeom>
          <a:solidFill>
            <a:srgbClr val="F1F4F8"/>
          </a:solidFill>
          <a:ln/>
          <a:effectLst>
            <a:outerShdw blurRad="101600" dist="38100" dir="5400000" algn="bl" rotWithShape="0">
              <a:srgbClr val="9AA5B1">
                <a:alpha val="22000"/>
              </a:srgbClr>
            </a:outerShdw>
          </a:effectLst>
        </p:spPr>
      </p:sp>
      <p:sp>
        <p:nvSpPr>
          <p:cNvPr id="20" name="Shape 15"/>
          <p:cNvSpPr/>
          <p:nvPr/>
        </p:nvSpPr>
        <p:spPr>
          <a:xfrm>
            <a:off x="6446520" y="4434840"/>
            <a:ext cx="685800" cy="685800"/>
          </a:xfrm>
          <a:prstGeom prst="ellipse">
            <a:avLst/>
          </a:prstGeom>
          <a:solidFill>
            <a:srgbClr val="FF9E2C"/>
          </a:solidFill>
          <a:ln/>
        </p:spPr>
      </p:sp>
      <p:pic>
        <p:nvPicPr>
          <p:cNvPr id="21" name="Image 3" descr="/sessions/sweet-friendly-mayer/mnt/outputs/presentation/icons/FaCube_dark.png"/>
          <p:cNvPicPr>
            <a:picLocks noChangeAspect="1"/>
          </p:cNvPicPr>
          <p:nvPr/>
        </p:nvPicPr>
        <p:blipFill>
          <a:blip r:embed="rId6"/>
          <a:stretch>
            <a:fillRect/>
          </a:stretch>
        </p:blipFill>
        <p:spPr>
          <a:xfrm>
            <a:off x="6631686" y="4620006"/>
            <a:ext cx="315468" cy="315468"/>
          </a:xfrm>
          <a:prstGeom prst="rect">
            <a:avLst/>
          </a:prstGeom>
        </p:spPr>
      </p:pic>
      <p:sp>
        <p:nvSpPr>
          <p:cNvPr id="22" name="Text 16"/>
          <p:cNvSpPr/>
          <p:nvPr/>
        </p:nvSpPr>
        <p:spPr>
          <a:xfrm>
            <a:off x="7315200" y="4416552"/>
            <a:ext cx="3794760" cy="731520"/>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Feeds detector / Automatic Target Recognition (ATR) development</a:t>
            </a:r>
            <a:endParaRPr lang="en-US" sz="1450" dirty="0"/>
          </a:p>
        </p:txBody>
      </p:sp>
      <p:sp>
        <p:nvSpPr>
          <p:cNvPr id="23" name="Text 17"/>
          <p:cNvSpPr/>
          <p:nvPr/>
        </p:nvSpPr>
        <p:spPr>
          <a:xfrm>
            <a:off x="6446520" y="5212080"/>
            <a:ext cx="4617720" cy="777240"/>
          </a:xfrm>
          <a:prstGeom prst="rect">
            <a:avLst/>
          </a:prstGeom>
          <a:noFill/>
          <a:ln/>
        </p:spPr>
        <p:txBody>
          <a:bodyPr wrap="square" lIns="0" tIns="0" rIns="0" bIns="0" rtlCol="0" anchor="t"/>
          <a:lstStyle/>
          <a:p>
            <a:pPr marL="0" indent="0">
              <a:lnSpc>
                <a:spcPct val="115000"/>
              </a:lnSpc>
              <a:buNone/>
            </a:pPr>
            <a:r>
              <a:rPr lang="en-US" sz="1200" i="1" dirty="0">
                <a:solidFill>
                  <a:srgbClr val="5B6672"/>
                </a:solidFill>
                <a:latin typeface="Calibri" pitchFamily="34" charset="0"/>
                <a:ea typeface="Calibri" pitchFamily="34" charset="-122"/>
                <a:cs typeface="Calibri" pitchFamily="34" charset="-120"/>
              </a:rPr>
              <a:t>Synthetic training data augmentation, e.g. target injection into real clutter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MOTIVATION, CONTINUED</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400" b="1" dirty="0">
                <a:solidFill>
                  <a:srgbClr val="141A22"/>
                </a:solidFill>
                <a:latin typeface="Cambria" pitchFamily="34" charset="0"/>
                <a:ea typeface="Cambria" pitchFamily="34" charset="-122"/>
                <a:cs typeface="Cambria" pitchFamily="34" charset="-120"/>
              </a:rPr>
              <a:t>Concrete use cases: who runs this, and for what</a:t>
            </a:r>
            <a:endParaRPr lang="en-US" sz="2400" dirty="0"/>
          </a:p>
        </p:txBody>
      </p:sp>
      <p:sp>
        <p:nvSpPr>
          <p:cNvPr id="4" name="Text 2"/>
          <p:cNvSpPr/>
          <p:nvPr/>
        </p:nvSpPr>
        <p:spPr>
          <a:xfrm>
            <a:off x="548640" y="1234440"/>
            <a:ext cx="11091672" cy="457200"/>
          </a:xfrm>
          <a:prstGeom prst="rect">
            <a:avLst/>
          </a:prstGeom>
          <a:noFill/>
          <a:ln/>
        </p:spPr>
        <p:txBody>
          <a:bodyPr wrap="square" lIns="0" tIns="0" rIns="0" bIns="0" rtlCol="0" anchor="ctr"/>
          <a:lstStyle/>
          <a:p>
            <a:pPr marL="0" indent="0">
              <a:lnSpc>
                <a:spcPct val="112000"/>
              </a:lnSpc>
              <a:buNone/>
            </a:pPr>
            <a:r>
              <a:rPr lang="en-US" sz="1250" i="1" dirty="0">
                <a:solidFill>
                  <a:srgbClr val="5B6672"/>
                </a:solidFill>
                <a:latin typeface="Calibri" pitchFamily="34" charset="0"/>
                <a:ea typeface="Calibri" pitchFamily="34" charset="-122"/>
                <a:cs typeface="Calibri" pitchFamily="34" charset="-120"/>
              </a:rPr>
              <a:t>Beyond the general motivation (previous slide): three places a controllable, ground-truthed SAR forward model earns its keep in practice.</a:t>
            </a:r>
            <a:endParaRPr lang="en-US" sz="1250" dirty="0"/>
          </a:p>
        </p:txBody>
      </p:sp>
      <p:sp>
        <p:nvSpPr>
          <p:cNvPr id="5" name="Shape 3"/>
          <p:cNvSpPr/>
          <p:nvPr/>
        </p:nvSpPr>
        <p:spPr>
          <a:xfrm>
            <a:off x="548640" y="1828800"/>
            <a:ext cx="3511296" cy="4160520"/>
          </a:xfrm>
          <a:prstGeom prst="roundRect">
            <a:avLst>
              <a:gd name="adj" fmla="val 2083"/>
            </a:avLst>
          </a:prstGeom>
          <a:solidFill>
            <a:srgbClr val="F1F4F8"/>
          </a:solidFill>
          <a:ln/>
          <a:effectLst>
            <a:outerShdw blurRad="101600" dist="38100" dir="5400000" algn="bl" rotWithShape="0">
              <a:srgbClr val="9AA5B1">
                <a:alpha val="22000"/>
              </a:srgbClr>
            </a:outerShdw>
          </a:effectLst>
        </p:spPr>
      </p:sp>
      <p:sp>
        <p:nvSpPr>
          <p:cNvPr id="6" name="Shape 4"/>
          <p:cNvSpPr/>
          <p:nvPr/>
        </p:nvSpPr>
        <p:spPr>
          <a:xfrm>
            <a:off x="822960" y="2103120"/>
            <a:ext cx="566928" cy="566928"/>
          </a:xfrm>
          <a:prstGeom prst="ellipse">
            <a:avLst/>
          </a:prstGeom>
          <a:solidFill>
            <a:srgbClr val="FF9E2C"/>
          </a:solidFill>
          <a:ln/>
        </p:spPr>
      </p:sp>
      <p:pic>
        <p:nvPicPr>
          <p:cNvPr id="7" name="Image 0" descr="/sessions/sweet-friendly-mayer/mnt/outputs/presentation/icons/FaCheckCircle_dark.png"/>
          <p:cNvPicPr>
            <a:picLocks noChangeAspect="1"/>
          </p:cNvPicPr>
          <p:nvPr/>
        </p:nvPicPr>
        <p:blipFill>
          <a:blip r:embed="rId3"/>
          <a:stretch>
            <a:fillRect/>
          </a:stretch>
        </p:blipFill>
        <p:spPr>
          <a:xfrm>
            <a:off x="976031" y="2256191"/>
            <a:ext cx="260787" cy="260787"/>
          </a:xfrm>
          <a:prstGeom prst="rect">
            <a:avLst/>
          </a:prstGeom>
        </p:spPr>
      </p:pic>
      <p:sp>
        <p:nvSpPr>
          <p:cNvPr id="8" name="Text 5"/>
          <p:cNvSpPr/>
          <p:nvPr/>
        </p:nvSpPr>
        <p:spPr>
          <a:xfrm>
            <a:off x="822960" y="2788920"/>
            <a:ext cx="2962656" cy="502920"/>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ATR &amp; Detection</a:t>
            </a:r>
            <a:endParaRPr lang="en-US" sz="1450" dirty="0"/>
          </a:p>
        </p:txBody>
      </p:sp>
      <p:sp>
        <p:nvSpPr>
          <p:cNvPr id="9" name="Text 6"/>
          <p:cNvSpPr/>
          <p:nvPr/>
        </p:nvSpPr>
        <p:spPr>
          <a:xfrm>
            <a:off x="822960" y="3337560"/>
            <a:ext cx="2962656" cy="246888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050" dirty="0">
                <a:solidFill>
                  <a:srgbClr val="141A22"/>
                </a:solidFill>
                <a:latin typeface="Calibri" pitchFamily="34" charset="0"/>
                <a:ea typeface="Calibri" pitchFamily="34" charset="-122"/>
                <a:cs typeface="Calibri" pitchFamily="34" charset="-120"/>
              </a:rPr>
              <a:t>Training data augmentation via target injection into real clutter -- covers rare target classes/poses real collections can't supply on demand</a:t>
            </a:r>
            <a:endParaRPr lang="en-US" sz="1050" dirty="0"/>
          </a:p>
          <a:p>
            <a:pPr marL="203200" indent="-203200">
              <a:lnSpc>
                <a:spcPct val="112000"/>
              </a:lnSpc>
              <a:spcAft>
                <a:spcPts val="1000"/>
              </a:spcAft>
              <a:buSzPct val="100000"/>
              <a:buChar char="•"/>
            </a:pPr>
            <a:r>
              <a:rPr lang="en-US" sz="1050" dirty="0">
                <a:solidFill>
                  <a:srgbClr val="141A22"/>
                </a:solidFill>
                <a:latin typeface="Calibri" pitchFamily="34" charset="0"/>
                <a:ea typeface="Calibri" pitchFamily="34" charset="-122"/>
                <a:cs typeface="Calibri" pitchFamily="34" charset="-120"/>
              </a:rPr>
              <a:t>Model-based / matched-filter detection templates – simulated model double as the detector's reference signature</a:t>
            </a:r>
            <a:endParaRPr lang="en-US" sz="1050" dirty="0"/>
          </a:p>
          <a:p>
            <a:pPr marL="203200" indent="-203200">
              <a:lnSpc>
                <a:spcPct val="112000"/>
              </a:lnSpc>
              <a:spcAft>
                <a:spcPts val="1000"/>
              </a:spcAft>
              <a:buSzPct val="100000"/>
              <a:buChar char="•"/>
            </a:pPr>
            <a:r>
              <a:rPr lang="en-US" sz="1050" dirty="0">
                <a:solidFill>
                  <a:srgbClr val="141A22"/>
                </a:solidFill>
                <a:latin typeface="Calibri" pitchFamily="34" charset="0"/>
                <a:ea typeface="Calibri" pitchFamily="34" charset="-122"/>
                <a:cs typeface="Calibri" pitchFamily="34" charset="-120"/>
              </a:rPr>
              <a:t>Synthetic scenario generation for analyst training and benchmark construction, with exact ground-truth labels no manual annotation can match</a:t>
            </a:r>
            <a:endParaRPr lang="en-US" sz="1050" dirty="0"/>
          </a:p>
        </p:txBody>
      </p:sp>
      <p:sp>
        <p:nvSpPr>
          <p:cNvPr id="10" name="Shape 7"/>
          <p:cNvSpPr/>
          <p:nvPr/>
        </p:nvSpPr>
        <p:spPr>
          <a:xfrm>
            <a:off x="4334256" y="1828800"/>
            <a:ext cx="3511296" cy="4160520"/>
          </a:xfrm>
          <a:prstGeom prst="roundRect">
            <a:avLst>
              <a:gd name="adj" fmla="val 2083"/>
            </a:avLst>
          </a:prstGeom>
          <a:solidFill>
            <a:srgbClr val="F1F4F8"/>
          </a:solidFill>
          <a:ln/>
          <a:effectLst>
            <a:outerShdw blurRad="101600" dist="38100" dir="5400000" algn="bl" rotWithShape="0">
              <a:srgbClr val="9AA5B1">
                <a:alpha val="22000"/>
              </a:srgbClr>
            </a:outerShdw>
          </a:effectLst>
        </p:spPr>
      </p:sp>
      <p:sp>
        <p:nvSpPr>
          <p:cNvPr id="11" name="Shape 8"/>
          <p:cNvSpPr/>
          <p:nvPr/>
        </p:nvSpPr>
        <p:spPr>
          <a:xfrm>
            <a:off x="4608576" y="2103120"/>
            <a:ext cx="566928" cy="566928"/>
          </a:xfrm>
          <a:prstGeom prst="ellipse">
            <a:avLst/>
          </a:prstGeom>
          <a:solidFill>
            <a:srgbClr val="4FD8EB"/>
          </a:solidFill>
          <a:ln/>
        </p:spPr>
      </p:sp>
      <p:pic>
        <p:nvPicPr>
          <p:cNvPr id="12" name="Image 1" descr="/sessions/sweet-friendly-mayer/mnt/outputs/presentation/icons/FaTools_dark.png"/>
          <p:cNvPicPr>
            <a:picLocks noChangeAspect="1"/>
          </p:cNvPicPr>
          <p:nvPr/>
        </p:nvPicPr>
        <p:blipFill>
          <a:blip r:embed="rId4"/>
          <a:stretch>
            <a:fillRect/>
          </a:stretch>
        </p:blipFill>
        <p:spPr>
          <a:xfrm>
            <a:off x="4761647" y="2256191"/>
            <a:ext cx="260787" cy="260787"/>
          </a:xfrm>
          <a:prstGeom prst="rect">
            <a:avLst/>
          </a:prstGeom>
        </p:spPr>
      </p:pic>
      <p:sp>
        <p:nvSpPr>
          <p:cNvPr id="13" name="Text 9"/>
          <p:cNvSpPr/>
          <p:nvPr/>
        </p:nvSpPr>
        <p:spPr>
          <a:xfrm>
            <a:off x="4608576" y="2788920"/>
            <a:ext cx="2962656" cy="502920"/>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Algorithm Development &amp; Test</a:t>
            </a:r>
            <a:endParaRPr lang="en-US" sz="1450" dirty="0"/>
          </a:p>
        </p:txBody>
      </p:sp>
      <p:sp>
        <p:nvSpPr>
          <p:cNvPr id="14" name="Text 10"/>
          <p:cNvSpPr/>
          <p:nvPr/>
        </p:nvSpPr>
        <p:spPr>
          <a:xfrm>
            <a:off x="4608576" y="3337560"/>
            <a:ext cx="2962656" cy="246888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050" dirty="0">
                <a:solidFill>
                  <a:srgbClr val="141A22"/>
                </a:solidFill>
                <a:latin typeface="Calibri" pitchFamily="34" charset="0"/>
                <a:ea typeface="Calibri" pitchFamily="34" charset="-122"/>
                <a:cs typeface="Calibri" pitchFamily="34" charset="-120"/>
              </a:rPr>
              <a:t>Ground Moving Target Indicator (GMTI) -- exercise a mover detector against known-truth radial velocity and clutter notch before recording live multi-channel data</a:t>
            </a:r>
            <a:endParaRPr lang="en-US" sz="1050" dirty="0"/>
          </a:p>
          <a:p>
            <a:pPr marL="203200" indent="-203200">
              <a:lnSpc>
                <a:spcPct val="112000"/>
              </a:lnSpc>
              <a:spcAft>
                <a:spcPts val="1000"/>
              </a:spcAft>
              <a:buSzPct val="100000"/>
              <a:buChar char="•"/>
            </a:pPr>
            <a:r>
              <a:rPr lang="en-US" sz="1050" dirty="0">
                <a:solidFill>
                  <a:srgbClr val="141A22"/>
                </a:solidFill>
                <a:latin typeface="Calibri" pitchFamily="34" charset="0"/>
                <a:ea typeface="Calibri" pitchFamily="34" charset="-122"/>
                <a:cs typeface="Calibri" pitchFamily="34" charset="-120"/>
              </a:rPr>
              <a:t>Change-detection algorithm testing -- paired before/after scenes with exactly known ground-truth changes, on demand</a:t>
            </a:r>
            <a:endParaRPr lang="en-US" sz="1050" dirty="0"/>
          </a:p>
          <a:p>
            <a:pPr marL="203200" indent="-203200">
              <a:lnSpc>
                <a:spcPct val="112000"/>
              </a:lnSpc>
              <a:spcAft>
                <a:spcPts val="1000"/>
              </a:spcAft>
              <a:buSzPct val="100000"/>
              <a:buChar char="•"/>
            </a:pPr>
            <a:r>
              <a:rPr lang="en-US" sz="1050" dirty="0">
                <a:solidFill>
                  <a:srgbClr val="141A22"/>
                </a:solidFill>
                <a:latin typeface="Calibri" pitchFamily="34" charset="0"/>
                <a:ea typeface="Calibri" pitchFamily="34" charset="-122"/>
                <a:cs typeface="Calibri" pitchFamily="34" charset="-120"/>
              </a:rPr>
              <a:t>Image-formation / autofocus validation</a:t>
            </a:r>
            <a:endParaRPr lang="en-US" sz="1050" dirty="0"/>
          </a:p>
        </p:txBody>
      </p:sp>
      <p:sp>
        <p:nvSpPr>
          <p:cNvPr id="15" name="Shape 11"/>
          <p:cNvSpPr/>
          <p:nvPr/>
        </p:nvSpPr>
        <p:spPr>
          <a:xfrm>
            <a:off x="8119872" y="1828800"/>
            <a:ext cx="3511296" cy="4160520"/>
          </a:xfrm>
          <a:prstGeom prst="roundRect">
            <a:avLst>
              <a:gd name="adj" fmla="val 2083"/>
            </a:avLst>
          </a:prstGeom>
          <a:solidFill>
            <a:srgbClr val="F1F4F8"/>
          </a:solidFill>
          <a:ln/>
          <a:effectLst>
            <a:outerShdw blurRad="101600" dist="38100" dir="5400000" algn="bl" rotWithShape="0">
              <a:srgbClr val="9AA5B1">
                <a:alpha val="22000"/>
              </a:srgbClr>
            </a:outerShdw>
          </a:effectLst>
        </p:spPr>
      </p:sp>
      <p:sp>
        <p:nvSpPr>
          <p:cNvPr id="16" name="Shape 12"/>
          <p:cNvSpPr/>
          <p:nvPr/>
        </p:nvSpPr>
        <p:spPr>
          <a:xfrm>
            <a:off x="8394192" y="2103120"/>
            <a:ext cx="566928" cy="566928"/>
          </a:xfrm>
          <a:prstGeom prst="ellipse">
            <a:avLst/>
          </a:prstGeom>
          <a:solidFill>
            <a:srgbClr val="FF9E2C"/>
          </a:solidFill>
          <a:ln/>
        </p:spPr>
      </p:sp>
      <p:pic>
        <p:nvPicPr>
          <p:cNvPr id="17" name="Image 2" descr="/sessions/sweet-friendly-mayer/mnt/outputs/presentation/icons/FaSatelliteDish_dark.png"/>
          <p:cNvPicPr>
            <a:picLocks noChangeAspect="1"/>
          </p:cNvPicPr>
          <p:nvPr/>
        </p:nvPicPr>
        <p:blipFill>
          <a:blip r:embed="rId5"/>
          <a:stretch>
            <a:fillRect/>
          </a:stretch>
        </p:blipFill>
        <p:spPr>
          <a:xfrm>
            <a:off x="8547263" y="2256191"/>
            <a:ext cx="260787" cy="260787"/>
          </a:xfrm>
          <a:prstGeom prst="rect">
            <a:avLst/>
          </a:prstGeom>
        </p:spPr>
      </p:pic>
      <p:sp>
        <p:nvSpPr>
          <p:cNvPr id="18" name="Text 13"/>
          <p:cNvSpPr/>
          <p:nvPr/>
        </p:nvSpPr>
        <p:spPr>
          <a:xfrm>
            <a:off x="8394192" y="2788920"/>
            <a:ext cx="2962656" cy="502920"/>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Mission Planning &amp; Sensor Trade Studies</a:t>
            </a:r>
            <a:endParaRPr lang="en-US" sz="1450" dirty="0"/>
          </a:p>
        </p:txBody>
      </p:sp>
      <p:sp>
        <p:nvSpPr>
          <p:cNvPr id="19" name="Text 14"/>
          <p:cNvSpPr/>
          <p:nvPr/>
        </p:nvSpPr>
        <p:spPr>
          <a:xfrm>
            <a:off x="8394192" y="3337560"/>
            <a:ext cx="2962656" cy="246888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050" dirty="0">
                <a:solidFill>
                  <a:srgbClr val="141A22"/>
                </a:solidFill>
                <a:latin typeface="Calibri" pitchFamily="34" charset="0"/>
                <a:ea typeface="Calibri" pitchFamily="34" charset="-122"/>
                <a:cs typeface="Calibri" pitchFamily="34" charset="-120"/>
              </a:rPr>
              <a:t>Pre-fly the collection plan to find what actually resolves the target before spending real tasking budget</a:t>
            </a:r>
            <a:endParaRPr lang="en-US" sz="1050" dirty="0"/>
          </a:p>
          <a:p>
            <a:pPr marL="203200" indent="-203200">
              <a:lnSpc>
                <a:spcPct val="112000"/>
              </a:lnSpc>
              <a:spcAft>
                <a:spcPts val="1000"/>
              </a:spcAft>
              <a:buSzPct val="100000"/>
              <a:buChar char="•"/>
            </a:pPr>
            <a:r>
              <a:rPr lang="en-US" sz="1050" dirty="0">
                <a:solidFill>
                  <a:srgbClr val="141A22"/>
                </a:solidFill>
                <a:latin typeface="Calibri" pitchFamily="34" charset="0"/>
                <a:ea typeface="Calibri" pitchFamily="34" charset="-122"/>
                <a:cs typeface="Calibri" pitchFamily="34" charset="-120"/>
              </a:rPr>
              <a:t>Real commercial tasking runs roughly $1300-$7000 per scene (Airbus/Astrium GEO TerraSAR-X price list) vs. seconds per simulated pass on a Graphical Processing Unit (GPU)-- cheap enough to optimize collection value first</a:t>
            </a:r>
            <a:endParaRPr lang="en-US" sz="1050" dirty="0"/>
          </a:p>
          <a:p>
            <a:pPr marL="203200" indent="-203200">
              <a:lnSpc>
                <a:spcPct val="112000"/>
              </a:lnSpc>
              <a:spcAft>
                <a:spcPts val="1000"/>
              </a:spcAft>
              <a:buSzPct val="100000"/>
              <a:buChar char="•"/>
            </a:pPr>
            <a:r>
              <a:rPr lang="en-US" sz="1050" dirty="0">
                <a:solidFill>
                  <a:srgbClr val="141A22"/>
                </a:solidFill>
                <a:latin typeface="Calibri" pitchFamily="34" charset="0"/>
                <a:ea typeface="Calibri" pitchFamily="34" charset="-122"/>
                <a:cs typeface="Calibri" pitchFamily="34" charset="-120"/>
              </a:rPr>
              <a:t>Sensor design trade studies -- bandwidth/resolution choice before committing to hardware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LANDSCAPE</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400" b="1" dirty="0">
                <a:solidFill>
                  <a:srgbClr val="141A22"/>
                </a:solidFill>
                <a:latin typeface="Cambria" pitchFamily="34" charset="0"/>
                <a:ea typeface="Cambria" pitchFamily="34" charset="-122"/>
                <a:cs typeface="Cambria" pitchFamily="34" charset="-120"/>
              </a:rPr>
              <a:t>Simulation Classes &amp; Gap Analysis</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662709930"/>
              </p:ext>
            </p:extLst>
          </p:nvPr>
        </p:nvGraphicFramePr>
        <p:xfrm>
          <a:off x="457200" y="1203568"/>
          <a:ext cx="11247120" cy="4578508"/>
        </p:xfrm>
        <a:graphic>
          <a:graphicData uri="http://schemas.openxmlformats.org/drawingml/2006/table">
            <a:tbl>
              <a:tblPr/>
              <a:tblGrid>
                <a:gridCol w="19202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351693">
                <a:tc>
                  <a:txBody>
                    <a:bodyPr/>
                    <a:lstStyle/>
                    <a:p>
                      <a:pPr marL="0" indent="0">
                        <a:buNone/>
                      </a:pPr>
                      <a:r>
                        <a:rPr lang="en-US" sz="1150" b="1" dirty="0">
                          <a:solidFill>
                            <a:srgbClr val="12161C"/>
                          </a:solidFill>
                          <a:latin typeface="Calibri" pitchFamily="34" charset="0"/>
                          <a:ea typeface="Calibri" pitchFamily="34" charset="-122"/>
                          <a:cs typeface="Calibri" pitchFamily="34" charset="-120"/>
                        </a:rPr>
                        <a:t>Class</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150" b="1" dirty="0">
                          <a:solidFill>
                            <a:srgbClr val="12161C"/>
                          </a:solidFill>
                          <a:latin typeface="Calibri" pitchFamily="34" charset="0"/>
                          <a:ea typeface="Calibri" pitchFamily="34" charset="-122"/>
                          <a:cs typeface="Calibri" pitchFamily="34" charset="-120"/>
                        </a:rPr>
                        <a:t>Physics</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150" b="1" dirty="0">
                          <a:solidFill>
                            <a:srgbClr val="12161C"/>
                          </a:solidFill>
                          <a:latin typeface="Calibri" pitchFamily="34" charset="0"/>
                          <a:ea typeface="Calibri" pitchFamily="34" charset="-122"/>
                          <a:cs typeface="Calibri" pitchFamily="34" charset="-120"/>
                        </a:rPr>
                        <a:t>Scene scale</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150" b="1" dirty="0">
                          <a:solidFill>
                            <a:srgbClr val="12161C"/>
                          </a:solidFill>
                          <a:latin typeface="Calibri" pitchFamily="34" charset="0"/>
                          <a:ea typeface="Calibri" pitchFamily="34" charset="-122"/>
                          <a:cs typeface="Calibri" pitchFamily="34" charset="-120"/>
                        </a:rPr>
                        <a:t>Polarization / examples</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extLst>
                  <a:ext uri="{0D108BD9-81ED-4DB2-BD59-A6C34878D82A}">
                    <a16:rowId xmlns:a16="http://schemas.microsoft.com/office/drawing/2014/main" val="10000"/>
                  </a:ext>
                </a:extLst>
              </a:tr>
              <a:tr h="699059">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Full-wave (Method of Moments / Finite Element Mesh)</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Exact numerical Maxwell solve on the meshed surface</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Electrically small objects only (a few λ)</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Full vector, exact — FEKO MoM, HFSS FEM</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699059">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Discrete-target Shooting/Bouncing Rays (SBR) + PTD</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SBR  + physical optics (PO) + physical theory of diffraction (PTD) + rigorous multi-bounce on a fine mesh</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One target at a time — cost explodes with object count / scene size</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Full vector, per-material — XPatch</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699059">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Scene-scale SBR</a:t>
                      </a:r>
                      <a:br>
                        <a:rPr lang="en-US" sz="1050" dirty="0">
                          <a:solidFill>
                            <a:srgbClr val="141A22"/>
                          </a:solidFill>
                          <a:latin typeface="Calibri" pitchFamily="34" charset="0"/>
                          <a:ea typeface="Calibri" pitchFamily="34" charset="-122"/>
                          <a:cs typeface="Calibri" pitchFamily="34" charset="-120"/>
                        </a:rPr>
                      </a:br>
                      <a:r>
                        <a:rPr lang="en-US" sz="1050" dirty="0">
                          <a:solidFill>
                            <a:srgbClr val="141A22"/>
                          </a:solidFill>
                          <a:latin typeface="Calibri" pitchFamily="34" charset="0"/>
                          <a:ea typeface="Calibri" pitchFamily="34" charset="-122"/>
                          <a:cs typeface="Calibri" pitchFamily="34" charset="-120"/>
                        </a:rPr>
                        <a:t>(Gaming Engine World Creation)</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Same ray-tracing core, relaxed: coarser mesh, PO only, PTD usually dropped</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Whole environments — terrain + many objects, tractable runtime</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Usually scalar / single real vector — SARCASTIC, </a:t>
                      </a:r>
                      <a:r>
                        <a:rPr lang="en-US" sz="1050" dirty="0" err="1">
                          <a:solidFill>
                            <a:srgbClr val="141A22"/>
                          </a:solidFill>
                          <a:latin typeface="Calibri" pitchFamily="34" charset="0"/>
                          <a:ea typeface="Calibri" pitchFamily="34" charset="-122"/>
                          <a:cs typeface="Calibri" pitchFamily="34" charset="-120"/>
                        </a:rPr>
                        <a:t>RaySAR</a:t>
                      </a:r>
                      <a:r>
                        <a:rPr lang="en-US" sz="1050" dirty="0">
                          <a:solidFill>
                            <a:srgbClr val="141A22"/>
                          </a:solidFill>
                          <a:latin typeface="Calibri" pitchFamily="34" charset="0"/>
                          <a:ea typeface="Calibri" pitchFamily="34" charset="-122"/>
                          <a:cs typeface="Calibri" pitchFamily="34" charset="-120"/>
                        </a:rPr>
                        <a:t>, MATLAB</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extLst>
                  <a:ext uri="{0D108BD9-81ED-4DB2-BD59-A6C34878D82A}">
                    <a16:rowId xmlns:a16="http://schemas.microsoft.com/office/drawing/2014/main" val="10003"/>
                  </a:ext>
                </a:extLst>
              </a:tr>
              <a:tr h="699059">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Parametric / Attributed Scattering Center (ASC) – Geometric Theory of Diffraction (GTD)</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Closed-form fit to scattering-center parameters — not a first-principles solve</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Wherever it was fit (bounded aspect / frequency sector)</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Inherits whatever generated the fit — Potter &amp; Moses</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extLst>
                  <a:ext uri="{0D108BD9-81ED-4DB2-BD59-A6C34878D82A}">
                    <a16:rowId xmlns:a16="http://schemas.microsoft.com/office/drawing/2014/main" val="10004"/>
                  </a:ext>
                </a:extLst>
              </a:tr>
              <a:tr h="699059">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Empirical / statistical clutter</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Measured or regression backscatter statistics, no geometry</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Any area, cheaply — no scene-specific structure</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Per-channel σ⁰ only, no coherent phase — Barton, GIT, Billingsley, Oh/IEM</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87B4CF"/>
                    </a:solidFill>
                  </a:tcPr>
                </a:tc>
                <a:extLst>
                  <a:ext uri="{0D108BD9-81ED-4DB2-BD59-A6C34878D82A}">
                    <a16:rowId xmlns:a16="http://schemas.microsoft.com/office/drawing/2014/main" val="10005"/>
                  </a:ext>
                </a:extLst>
              </a:tr>
              <a:tr h="699059">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Dense SBR + UTD</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FF00"/>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SBR  + physical optics (PO) + Uniform Theory of Diffraction (UTD) + rigorous multi-bounce on a fine mesh</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FF00"/>
                    </a:solidFill>
                  </a:tcPr>
                </a:tc>
                <a:tc>
                  <a:txBody>
                    <a:bodyPr/>
                    <a:lstStyle/>
                    <a:p>
                      <a:pPr marL="0" indent="0">
                        <a:buNone/>
                      </a:pPr>
                      <a:r>
                        <a:rPr lang="en-US" sz="1050" dirty="0">
                          <a:latin typeface="Calibri" charset="0"/>
                          <a:ea typeface="Calibri" charset="0"/>
                          <a:cs typeface="Calibri" charset="0"/>
                        </a:rPr>
                        <a:t>Open world with moving actors (current Gold Standard)</a:t>
                      </a: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FF00"/>
                    </a:solidFill>
                  </a:tcPr>
                </a:tc>
                <a:tc>
                  <a:txBody>
                    <a:bodyPr/>
                    <a:lstStyle/>
                    <a:p>
                      <a:pPr marL="0" indent="0">
                        <a:buNone/>
                      </a:pPr>
                      <a:r>
                        <a:rPr lang="en-US" sz="1050" dirty="0">
                          <a:latin typeface="Calibri" charset="0"/>
                          <a:ea typeface="Calibri" charset="0"/>
                          <a:cs typeface="Calibri" charset="0"/>
                        </a:rPr>
                        <a:t>Ansys Perceive EM/SBR+</a:t>
                      </a: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FF00"/>
                    </a:solidFill>
                  </a:tcPr>
                </a:tc>
                <a:extLst>
                  <a:ext uri="{0D108BD9-81ED-4DB2-BD59-A6C34878D82A}">
                    <a16:rowId xmlns:a16="http://schemas.microsoft.com/office/drawing/2014/main" val="888267518"/>
                  </a:ext>
                </a:extLst>
              </a:tr>
            </a:tbl>
          </a:graphicData>
        </a:graphic>
      </p:graphicFrame>
      <p:sp>
        <p:nvSpPr>
          <p:cNvPr id="4" name="TextBox 3">
            <a:extLst>
              <a:ext uri="{FF2B5EF4-FFF2-40B4-BE49-F238E27FC236}">
                <a16:creationId xmlns:a16="http://schemas.microsoft.com/office/drawing/2014/main" id="{B3EECEF6-EDBC-5573-7CB7-9D87C777B4A4}"/>
              </a:ext>
            </a:extLst>
          </p:cNvPr>
          <p:cNvSpPr txBox="1"/>
          <p:nvPr/>
        </p:nvSpPr>
        <p:spPr>
          <a:xfrm>
            <a:off x="2409306" y="6081978"/>
            <a:ext cx="7342908" cy="369332"/>
          </a:xfrm>
          <a:prstGeom prst="rect">
            <a:avLst/>
          </a:prstGeom>
          <a:noFill/>
        </p:spPr>
        <p:txBody>
          <a:bodyPr wrap="none" rtlCol="0">
            <a:spAutoFit/>
          </a:bodyPr>
          <a:lstStyle/>
          <a:p>
            <a:r>
              <a:rPr lang="en-US" dirty="0"/>
              <a:t>Can we combine approaches to get close to Ansys with lower cost/compute?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POSITIONING</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300" b="1" dirty="0">
                <a:solidFill>
                  <a:srgbClr val="141A22"/>
                </a:solidFill>
                <a:latin typeface="Cambria" pitchFamily="34" charset="0"/>
                <a:ea typeface="Cambria" pitchFamily="34" charset="-122"/>
                <a:cs typeface="Cambria" pitchFamily="34" charset="-120"/>
              </a:rPr>
              <a:t>The goal isn’t to beat Ansys -- it’s to get close, for less compute</a:t>
            </a:r>
            <a:endParaRPr lang="en-US" sz="2300" dirty="0"/>
          </a:p>
        </p:txBody>
      </p:sp>
      <p:sp>
        <p:nvSpPr>
          <p:cNvPr id="4" name="Text 2"/>
          <p:cNvSpPr/>
          <p:nvPr/>
        </p:nvSpPr>
        <p:spPr>
          <a:xfrm>
            <a:off x="548640" y="1282115"/>
            <a:ext cx="10698480" cy="685800"/>
          </a:xfrm>
          <a:prstGeom prst="rect">
            <a:avLst/>
          </a:prstGeom>
          <a:noFill/>
          <a:ln/>
        </p:spPr>
        <p:txBody>
          <a:bodyPr wrap="square" lIns="0" tIns="0" rIns="0" bIns="0" rtlCol="0" anchor="t"/>
          <a:lstStyle/>
          <a:p>
            <a:pPr>
              <a:lnSpc>
                <a:spcPct val="115000"/>
              </a:lnSpc>
            </a:pPr>
            <a:r>
              <a:rPr lang="en-US" sz="1400" dirty="0">
                <a:solidFill>
                  <a:srgbClr val="141A22"/>
                </a:solidFill>
                <a:latin typeface="Calibri" pitchFamily="34" charset="0"/>
                <a:ea typeface="Calibri" pitchFamily="34" charset="-122"/>
                <a:cs typeface="Calibri" pitchFamily="34" charset="-120"/>
              </a:rPr>
              <a:t>Ansys Perceive EM/SBR+ already does dense multi-bounce ray tracing with per-bounce polarimetric materials, plus PTD/UTD diffraction and creeping waves. That’s a mature, commercial, full-featured solver -- </a:t>
            </a:r>
            <a:r>
              <a:rPr lang="en-US" sz="1400" b="1" dirty="0">
                <a:solidFill>
                  <a:srgbClr val="141A22"/>
                </a:solidFill>
                <a:latin typeface="Calibri" pitchFamily="34" charset="0"/>
                <a:ea typeface="Calibri" pitchFamily="34" charset="-122"/>
                <a:cs typeface="Calibri" pitchFamily="34" charset="-120"/>
              </a:rPr>
              <a:t>this pipeline does not out-perform it on physics.</a:t>
            </a:r>
            <a:endParaRPr lang="en-US" sz="1400" dirty="0"/>
          </a:p>
        </p:txBody>
      </p:sp>
      <p:sp>
        <p:nvSpPr>
          <p:cNvPr id="5" name="Shape 3"/>
          <p:cNvSpPr/>
          <p:nvPr/>
        </p:nvSpPr>
        <p:spPr>
          <a:xfrm>
            <a:off x="548640" y="2331720"/>
            <a:ext cx="5120640" cy="2468880"/>
          </a:xfrm>
          <a:prstGeom prst="roundRect">
            <a:avLst>
              <a:gd name="adj" fmla="val 2963"/>
            </a:avLst>
          </a:prstGeom>
          <a:solidFill>
            <a:srgbClr val="F1F4F8"/>
          </a:solidFill>
          <a:ln/>
          <a:effectLst>
            <a:outerShdw blurRad="101600" dist="38100" dir="5400000" algn="bl" rotWithShape="0">
              <a:srgbClr val="9AA5B1">
                <a:alpha val="22000"/>
              </a:srgbClr>
            </a:outerShdw>
          </a:effectLst>
        </p:spPr>
      </p:sp>
      <p:sp>
        <p:nvSpPr>
          <p:cNvPr id="6" name="Text 4"/>
          <p:cNvSpPr/>
          <p:nvPr/>
        </p:nvSpPr>
        <p:spPr>
          <a:xfrm>
            <a:off x="822960" y="2514600"/>
            <a:ext cx="4572000" cy="320040"/>
          </a:xfrm>
          <a:prstGeom prst="rect">
            <a:avLst/>
          </a:prstGeom>
          <a:noFill/>
          <a:ln/>
        </p:spPr>
        <p:txBody>
          <a:bodyPr wrap="square" lIns="0" tIns="0" rIns="0" bIns="0" rtlCol="0" anchor="ctr"/>
          <a:lstStyle/>
          <a:p>
            <a:pPr marL="0" indent="0">
              <a:buNone/>
            </a:pPr>
            <a:r>
              <a:rPr lang="en-US" sz="1300" b="1" kern="0" spc="150" dirty="0">
                <a:solidFill>
                  <a:srgbClr val="0B7285"/>
                </a:solidFill>
                <a:latin typeface="Calibri" pitchFamily="34" charset="0"/>
                <a:ea typeface="Calibri" pitchFamily="34" charset="-122"/>
                <a:cs typeface="Calibri" pitchFamily="34" charset="-120"/>
              </a:rPr>
              <a:t>THE ACTUAL CLAIM</a:t>
            </a:r>
            <a:endParaRPr lang="en-US" sz="1300" dirty="0"/>
          </a:p>
        </p:txBody>
      </p:sp>
      <p:sp>
        <p:nvSpPr>
          <p:cNvPr id="7" name="Text 5"/>
          <p:cNvSpPr/>
          <p:nvPr/>
        </p:nvSpPr>
        <p:spPr>
          <a:xfrm>
            <a:off x="822960" y="2926080"/>
            <a:ext cx="4572000" cy="169164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250" dirty="0">
                <a:solidFill>
                  <a:srgbClr val="141A22"/>
                </a:solidFill>
                <a:latin typeface="Calibri" pitchFamily="34" charset="0"/>
                <a:ea typeface="Calibri" pitchFamily="34" charset="-122"/>
                <a:cs typeface="Calibri" pitchFamily="34" charset="-120"/>
              </a:rPr>
              <a:t>Close to dense SBR accuracy, for a fraction of the AMORTIZED compute -- ASC caches the expensive part once per structure and reuses it across every pulse, aspect, and scenario</a:t>
            </a:r>
            <a:endParaRPr lang="en-US" sz="1250" dirty="0"/>
          </a:p>
          <a:p>
            <a:pPr marL="203200" indent="-203200">
              <a:lnSpc>
                <a:spcPct val="112000"/>
              </a:lnSpc>
              <a:spcAft>
                <a:spcPts val="1000"/>
              </a:spcAft>
              <a:buSzPct val="100000"/>
              <a:buChar char="•"/>
            </a:pPr>
            <a:r>
              <a:rPr lang="en-US" sz="1250" dirty="0">
                <a:solidFill>
                  <a:srgbClr val="141A22"/>
                </a:solidFill>
                <a:latin typeface="Calibri" pitchFamily="34" charset="0"/>
                <a:ea typeface="Calibri" pitchFamily="34" charset="-122"/>
                <a:cs typeface="Calibri" pitchFamily="34" charset="-120"/>
              </a:rPr>
              <a:t>The win only shows up at scale -- not for a single one-off look</a:t>
            </a:r>
            <a:endParaRPr lang="en-US" sz="1250" dirty="0"/>
          </a:p>
        </p:txBody>
      </p:sp>
      <p:sp>
        <p:nvSpPr>
          <p:cNvPr id="8" name="Shape 6"/>
          <p:cNvSpPr/>
          <p:nvPr/>
        </p:nvSpPr>
        <p:spPr>
          <a:xfrm>
            <a:off x="6126480" y="2331720"/>
            <a:ext cx="5120640" cy="2468880"/>
          </a:xfrm>
          <a:prstGeom prst="roundRect">
            <a:avLst>
              <a:gd name="adj" fmla="val 2963"/>
            </a:avLst>
          </a:prstGeom>
          <a:solidFill>
            <a:srgbClr val="F1F4F8"/>
          </a:solidFill>
          <a:ln/>
          <a:effectLst>
            <a:outerShdw blurRad="101600" dist="38100" dir="5400000" algn="bl" rotWithShape="0">
              <a:srgbClr val="9AA5B1">
                <a:alpha val="22000"/>
              </a:srgbClr>
            </a:outerShdw>
          </a:effectLst>
        </p:spPr>
      </p:sp>
      <p:sp>
        <p:nvSpPr>
          <p:cNvPr id="9" name="Text 7"/>
          <p:cNvSpPr/>
          <p:nvPr/>
        </p:nvSpPr>
        <p:spPr>
          <a:xfrm>
            <a:off x="6400800" y="2514600"/>
            <a:ext cx="4572000" cy="320040"/>
          </a:xfrm>
          <a:prstGeom prst="rect">
            <a:avLst/>
          </a:prstGeom>
          <a:noFill/>
          <a:ln/>
        </p:spPr>
        <p:txBody>
          <a:bodyPr wrap="square" lIns="0" tIns="0" rIns="0" bIns="0" rtlCol="0" anchor="ctr"/>
          <a:lstStyle/>
          <a:p>
            <a:pPr marL="0" indent="0">
              <a:buNone/>
            </a:pPr>
            <a:r>
              <a:rPr lang="en-US" sz="1300" b="1" kern="0" spc="150" dirty="0">
                <a:solidFill>
                  <a:srgbClr val="B85C00"/>
                </a:solidFill>
                <a:latin typeface="Calibri" pitchFamily="34" charset="0"/>
                <a:ea typeface="Calibri" pitchFamily="34" charset="-122"/>
                <a:cs typeface="Calibri" pitchFamily="34" charset="-120"/>
              </a:rPr>
              <a:t>THE HONEST GAP</a:t>
            </a:r>
            <a:endParaRPr lang="en-US" sz="1300" dirty="0"/>
          </a:p>
        </p:txBody>
      </p:sp>
      <p:sp>
        <p:nvSpPr>
          <p:cNvPr id="10" name="Text 8"/>
          <p:cNvSpPr/>
          <p:nvPr/>
        </p:nvSpPr>
        <p:spPr>
          <a:xfrm>
            <a:off x="6400800" y="2926080"/>
            <a:ext cx="4572000" cy="169164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250" dirty="0">
                <a:solidFill>
                  <a:srgbClr val="141A22"/>
                </a:solidFill>
                <a:latin typeface="Calibri" pitchFamily="34" charset="0"/>
                <a:ea typeface="Calibri" pitchFamily="34" charset="-122"/>
                <a:cs typeface="Calibri" pitchFamily="34" charset="-120"/>
              </a:rPr>
              <a:t>Diffraction (PTD, creeping waves) -- Ansys models it, this pipeline currently doesn’t</a:t>
            </a:r>
            <a:endParaRPr lang="en-US" sz="1250" dirty="0"/>
          </a:p>
          <a:p>
            <a:pPr marL="203200" indent="-203200">
              <a:lnSpc>
                <a:spcPct val="112000"/>
              </a:lnSpc>
              <a:spcAft>
                <a:spcPts val="1000"/>
              </a:spcAft>
              <a:buSzPct val="100000"/>
              <a:buChar char="•"/>
            </a:pPr>
            <a:r>
              <a:rPr lang="en-US" sz="1250" dirty="0">
                <a:solidFill>
                  <a:srgbClr val="141A22"/>
                </a:solidFill>
                <a:latin typeface="Calibri" pitchFamily="34" charset="0"/>
                <a:ea typeface="Calibri" pitchFamily="34" charset="-122"/>
                <a:cs typeface="Calibri" pitchFamily="34" charset="-120"/>
              </a:rPr>
              <a:t>Near-field coupling between adjacent structures -- structurally invisible to a per-structure closed-form cache, not a bug to fix</a:t>
            </a:r>
            <a:endParaRPr lang="en-US" sz="1250" dirty="0"/>
          </a:p>
          <a:p>
            <a:pPr marL="203200" indent="-203200">
              <a:lnSpc>
                <a:spcPct val="112000"/>
              </a:lnSpc>
              <a:spcAft>
                <a:spcPts val="1000"/>
              </a:spcAft>
              <a:buSzPct val="100000"/>
              <a:buChar char="•"/>
            </a:pPr>
            <a:r>
              <a:rPr lang="en-US" sz="1250" dirty="0">
                <a:solidFill>
                  <a:srgbClr val="141A22"/>
                </a:solidFill>
                <a:latin typeface="Calibri" pitchFamily="34" charset="0"/>
                <a:ea typeface="Calibri" pitchFamily="34" charset="-122"/>
                <a:cs typeface="Calibri" pitchFamily="34" charset="-120"/>
              </a:rPr>
              <a:t>Gap is measured, not assumed -- quantified via the dense-SBR-vs-ASC regression suite (validation section)</a:t>
            </a:r>
            <a:endParaRPr lang="en-US" sz="1250" dirty="0"/>
          </a:p>
        </p:txBody>
      </p:sp>
      <p:sp>
        <p:nvSpPr>
          <p:cNvPr id="11" name="Shape 9"/>
          <p:cNvSpPr/>
          <p:nvPr/>
        </p:nvSpPr>
        <p:spPr>
          <a:xfrm>
            <a:off x="548640" y="5074920"/>
            <a:ext cx="10698480" cy="1051560"/>
          </a:xfrm>
          <a:prstGeom prst="roundRect">
            <a:avLst>
              <a:gd name="adj" fmla="val 6957"/>
            </a:avLst>
          </a:prstGeom>
          <a:solidFill>
            <a:srgbClr val="E6EAF0"/>
          </a:solidFill>
          <a:ln/>
          <a:effectLst>
            <a:outerShdw blurRad="101600" dist="38100" dir="5400000" algn="bl" rotWithShape="0">
              <a:srgbClr val="9AA5B1">
                <a:alpha val="22000"/>
              </a:srgbClr>
            </a:outerShdw>
          </a:effectLst>
        </p:spPr>
      </p:sp>
      <p:sp>
        <p:nvSpPr>
          <p:cNvPr id="12" name="Text 10"/>
          <p:cNvSpPr/>
          <p:nvPr/>
        </p:nvSpPr>
        <p:spPr>
          <a:xfrm>
            <a:off x="822960" y="5074920"/>
            <a:ext cx="10149840" cy="1051560"/>
          </a:xfrm>
          <a:prstGeom prst="rect">
            <a:avLst/>
          </a:prstGeom>
          <a:noFill/>
          <a:ln/>
        </p:spPr>
        <p:txBody>
          <a:bodyPr wrap="square" lIns="0" tIns="0" rIns="0" bIns="0" rtlCol="0" anchor="ctr"/>
          <a:lstStyle/>
          <a:p>
            <a:pPr marL="0" indent="0">
              <a:lnSpc>
                <a:spcPct val="115000"/>
              </a:lnSpc>
              <a:buNone/>
            </a:pPr>
            <a:r>
              <a:rPr lang="en-US" sz="1300" b="1" dirty="0">
                <a:solidFill>
                  <a:srgbClr val="B85C00"/>
                </a:solidFill>
                <a:latin typeface="Calibri" pitchFamily="34" charset="0"/>
                <a:ea typeface="Calibri" pitchFamily="34" charset="-122"/>
                <a:cs typeface="Calibri" pitchFamily="34" charset="-120"/>
              </a:rPr>
              <a:t>Bottom line:  </a:t>
            </a:r>
            <a:r>
              <a:rPr lang="en-US" sz="1300" dirty="0">
                <a:solidFill>
                  <a:srgbClr val="141A22"/>
                </a:solidFill>
                <a:latin typeface="Calibri" pitchFamily="34" charset="0"/>
                <a:ea typeface="Calibri" pitchFamily="34" charset="-122"/>
                <a:cs typeface="Calibri" pitchFamily="34" charset="-120"/>
              </a:rPr>
              <a:t>this is an engineering tradeoff claim -- most of the accuracy that matters for target use cases, with a lower amortized cost, with the gap stated precisely enough to defend in a room that knows Ansys.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oundRect">
            <a:avLst>
              <a:gd name="adj" fmla="val 1067"/>
            </a:avLst>
          </a:prstGeom>
          <a:solidFill>
            <a:srgbClr val="F1F4F8"/>
          </a:solidFill>
          <a:ln/>
        </p:spPr>
      </p:sp>
      <p:sp>
        <p:nvSpPr>
          <p:cNvPr id="3" name="Shape 1"/>
          <p:cNvSpPr/>
          <p:nvPr/>
        </p:nvSpPr>
        <p:spPr>
          <a:xfrm>
            <a:off x="548640" y="502920"/>
            <a:ext cx="868680" cy="868680"/>
          </a:xfrm>
          <a:prstGeom prst="ellipse">
            <a:avLst/>
          </a:prstGeom>
          <a:solidFill>
            <a:srgbClr val="FF9E2C"/>
          </a:solidFill>
          <a:ln/>
        </p:spPr>
      </p:sp>
      <p:pic>
        <p:nvPicPr>
          <p:cNvPr id="4" name="Image 0" descr="/sessions/sweet-friendly-mayer/mnt/outputs/presentation/icons/FaExclamationTriangle_dark.png"/>
          <p:cNvPicPr>
            <a:picLocks noChangeAspect="1"/>
          </p:cNvPicPr>
          <p:nvPr/>
        </p:nvPicPr>
        <p:blipFill>
          <a:blip r:embed="rId3"/>
          <a:stretch>
            <a:fillRect/>
          </a:stretch>
        </p:blipFill>
        <p:spPr>
          <a:xfrm>
            <a:off x="783184" y="737464"/>
            <a:ext cx="399593" cy="399593"/>
          </a:xfrm>
          <a:prstGeom prst="rect">
            <a:avLst/>
          </a:prstGeom>
        </p:spPr>
      </p:pic>
      <p:sp>
        <p:nvSpPr>
          <p:cNvPr id="5" name="Text 2"/>
          <p:cNvSpPr/>
          <p:nvPr/>
        </p:nvSpPr>
        <p:spPr>
          <a:xfrm>
            <a:off x="1600200" y="566928"/>
            <a:ext cx="5486400" cy="320040"/>
          </a:xfrm>
          <a:prstGeom prst="rect">
            <a:avLst/>
          </a:prstGeom>
          <a:noFill/>
          <a:ln/>
        </p:spPr>
        <p:txBody>
          <a:bodyPr wrap="square" lIns="0" tIns="0" rIns="0" bIns="0" rtlCol="0" anchor="ctr"/>
          <a:lstStyle/>
          <a:p>
            <a:pPr marL="0" indent="0">
              <a:buNone/>
            </a:pPr>
            <a:r>
              <a:rPr lang="en-US" sz="1300" b="1" kern="0" spc="200" dirty="0">
                <a:solidFill>
                  <a:srgbClr val="B85C00"/>
                </a:solidFill>
                <a:latin typeface="Calibri" pitchFamily="34" charset="0"/>
                <a:ea typeface="Calibri" pitchFamily="34" charset="-122"/>
                <a:cs typeface="Calibri" pitchFamily="34" charset="-120"/>
              </a:rPr>
              <a:t>GOTCHA</a:t>
            </a:r>
            <a:endParaRPr lang="en-US" sz="1300" dirty="0"/>
          </a:p>
        </p:txBody>
      </p:sp>
      <p:sp>
        <p:nvSpPr>
          <p:cNvPr id="6" name="Text 3"/>
          <p:cNvSpPr/>
          <p:nvPr/>
        </p:nvSpPr>
        <p:spPr>
          <a:xfrm>
            <a:off x="1600200" y="868680"/>
            <a:ext cx="9966960" cy="868680"/>
          </a:xfrm>
          <a:prstGeom prst="rect">
            <a:avLst/>
          </a:prstGeom>
          <a:noFill/>
          <a:ln/>
        </p:spPr>
        <p:txBody>
          <a:bodyPr wrap="square" lIns="0" tIns="0" rIns="0" bIns="0" rtlCol="0" anchor="t"/>
          <a:lstStyle/>
          <a:p>
            <a:pPr marL="0" indent="0">
              <a:buNone/>
            </a:pPr>
            <a:r>
              <a:rPr lang="en-US" sz="2400" b="1" dirty="0">
                <a:solidFill>
                  <a:srgbClr val="141A22"/>
                </a:solidFill>
                <a:latin typeface="Cambria" pitchFamily="34" charset="0"/>
                <a:ea typeface="Cambria" pitchFamily="34" charset="-122"/>
                <a:cs typeface="Cambria" pitchFamily="34" charset="-120"/>
              </a:rPr>
              <a:t>Why is Ansys so computationally expensive?</a:t>
            </a:r>
          </a:p>
          <a:p>
            <a:pPr marL="0" indent="0">
              <a:buNone/>
            </a:pPr>
            <a:r>
              <a:rPr lang="en-US" sz="2400" b="1" dirty="0">
                <a:solidFill>
                  <a:srgbClr val="141A22"/>
                </a:solidFill>
                <a:latin typeface="Cambria" pitchFamily="34" charset="0"/>
                <a:ea typeface="Cambria" pitchFamily="34" charset="-122"/>
                <a:cs typeface="Cambria" pitchFamily="34" charset="-120"/>
              </a:rPr>
              <a:t> </a:t>
            </a:r>
            <a:endParaRPr lang="en-US" sz="2400" dirty="0"/>
          </a:p>
        </p:txBody>
      </p:sp>
      <p:sp>
        <p:nvSpPr>
          <p:cNvPr id="7" name="Text 4"/>
          <p:cNvSpPr/>
          <p:nvPr/>
        </p:nvSpPr>
        <p:spPr>
          <a:xfrm>
            <a:off x="548640" y="1965960"/>
            <a:ext cx="10698480" cy="2743200"/>
          </a:xfrm>
          <a:prstGeom prst="rect">
            <a:avLst/>
          </a:prstGeom>
          <a:noFill/>
          <a:ln/>
        </p:spPr>
        <p:txBody>
          <a:bodyPr wrap="square" lIns="0" tIns="0" rIns="0" bIns="0" rtlCol="0" anchor="t"/>
          <a:lstStyle/>
          <a:p>
            <a:pPr marL="203200" indent="-203200">
              <a:lnSpc>
                <a:spcPct val="112000"/>
              </a:lnSpc>
              <a:spcAft>
                <a:spcPts val="1400"/>
              </a:spcAft>
              <a:buSzPct val="100000"/>
              <a:buChar char="•"/>
            </a:pPr>
            <a:r>
              <a:rPr lang="en-US" sz="1500" dirty="0">
                <a:solidFill>
                  <a:srgbClr val="141A22"/>
                </a:solidFill>
                <a:latin typeface="Calibri" pitchFamily="34" charset="0"/>
                <a:ea typeface="Calibri" pitchFamily="34" charset="-122"/>
                <a:cs typeface="Calibri" pitchFamily="34" charset="-120"/>
              </a:rPr>
              <a:t>Whether a double/triple-bounce path exists and points at the sensor depends on platform position -- re-run SBR at every synthetic aperture position, not once</a:t>
            </a:r>
            <a:endParaRPr lang="en-US" sz="1500" dirty="0"/>
          </a:p>
          <a:p>
            <a:pPr marL="203200" indent="-203200">
              <a:lnSpc>
                <a:spcPct val="112000"/>
              </a:lnSpc>
              <a:spcAft>
                <a:spcPts val="1400"/>
              </a:spcAft>
              <a:buSzPct val="100000"/>
              <a:buChar char="•"/>
            </a:pPr>
            <a:r>
              <a:rPr lang="en-US" sz="1500" dirty="0">
                <a:solidFill>
                  <a:srgbClr val="141A22"/>
                </a:solidFill>
                <a:latin typeface="Calibri" pitchFamily="34" charset="0"/>
                <a:ea typeface="Calibri" pitchFamily="34" charset="-122"/>
                <a:cs typeface="Calibri" pitchFamily="34" charset="-120"/>
              </a:rPr>
              <a:t>Cost: O(pulses × rays × bounces)</a:t>
            </a:r>
            <a:endParaRPr lang="en-US" sz="1500" dirty="0"/>
          </a:p>
          <a:p>
            <a:pPr marL="203200" indent="-203200">
              <a:lnSpc>
                <a:spcPct val="112000"/>
              </a:lnSpc>
              <a:spcAft>
                <a:spcPts val="1400"/>
              </a:spcAft>
              <a:buSzPct val="100000"/>
              <a:buChar char="•"/>
            </a:pPr>
            <a:r>
              <a:rPr lang="en-US" sz="1500" dirty="0">
                <a:solidFill>
                  <a:srgbClr val="141A22"/>
                </a:solidFill>
                <a:latin typeface="Calibri" pitchFamily="34" charset="0"/>
                <a:ea typeface="Calibri" pitchFamily="34" charset="-122"/>
                <a:cs typeface="Calibri" pitchFamily="34" charset="-120"/>
              </a:rPr>
              <a:t>Brute-force ray density can under-sample the narrow specular-alignment condition that makes a dihedral bright -- easy to get an artificially dim building edge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COST TRADEOFF</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200" b="1" dirty="0">
                <a:solidFill>
                  <a:srgbClr val="141A22"/>
                </a:solidFill>
                <a:latin typeface="Cambria" pitchFamily="34" charset="0"/>
                <a:ea typeface="Cambria" pitchFamily="34" charset="-122"/>
                <a:cs typeface="Cambria" pitchFamily="34" charset="-120"/>
              </a:rPr>
              <a:t>The ASC build cost is real -- how many passes to pay it off?*</a:t>
            </a:r>
            <a:endParaRPr lang="en-US" sz="2200" dirty="0"/>
          </a:p>
        </p:txBody>
      </p:sp>
      <p:sp>
        <p:nvSpPr>
          <p:cNvPr id="4" name="Text 2"/>
          <p:cNvSpPr/>
          <p:nvPr/>
        </p:nvSpPr>
        <p:spPr>
          <a:xfrm>
            <a:off x="548640" y="1280160"/>
            <a:ext cx="10698480" cy="502920"/>
          </a:xfrm>
          <a:prstGeom prst="rect">
            <a:avLst/>
          </a:prstGeom>
          <a:noFill/>
          <a:ln/>
        </p:spPr>
        <p:txBody>
          <a:bodyPr wrap="square" lIns="0" tIns="0" rIns="0" bIns="0" rtlCol="0" anchor="ctr"/>
          <a:lstStyle/>
          <a:p>
            <a:pPr marL="0" indent="0">
              <a:lnSpc>
                <a:spcPct val="115000"/>
              </a:lnSpc>
              <a:buNone/>
            </a:pPr>
            <a:r>
              <a:rPr lang="en-US" sz="1200" i="1" dirty="0">
                <a:solidFill>
                  <a:srgbClr val="5B6672"/>
                </a:solidFill>
                <a:latin typeface="Calibri" pitchFamily="34" charset="0"/>
                <a:ea typeface="Calibri" pitchFamily="34" charset="-122"/>
                <a:cs typeface="Calibri" pitchFamily="34" charset="-120"/>
              </a:rPr>
              <a:t>Same sensor mode / resolution (2m Ground Sample Distance (GSD), real TerraSAR-X Spotlight) at every scale -- what changes is the footprint, so pulse count scales with it. n* = number of collects before ASC-cached total cost undercuts Ansys.</a:t>
            </a:r>
            <a:endParaRPr lang="en-US" sz="1200" dirty="0"/>
          </a:p>
        </p:txBody>
      </p:sp>
      <p:pic>
        <p:nvPicPr>
          <p:cNvPr id="5" name="Image 0" descr="/sessions/sweet-friendly-mayer/mnt/outputs/presentation/breakeven_three_anchors_combined.png"/>
          <p:cNvPicPr>
            <a:picLocks noChangeAspect="1"/>
          </p:cNvPicPr>
          <p:nvPr/>
        </p:nvPicPr>
        <p:blipFill>
          <a:blip r:embed="rId3"/>
          <a:stretch>
            <a:fillRect/>
          </a:stretch>
        </p:blipFill>
        <p:spPr>
          <a:xfrm>
            <a:off x="457200" y="1828800"/>
            <a:ext cx="5974080" cy="4480560"/>
          </a:xfrm>
          <a:prstGeom prst="rect">
            <a:avLst/>
          </a:prstGeom>
        </p:spPr>
      </p:pic>
      <p:sp>
        <p:nvSpPr>
          <p:cNvPr id="6" name="Shape 3"/>
          <p:cNvSpPr/>
          <p:nvPr/>
        </p:nvSpPr>
        <p:spPr>
          <a:xfrm>
            <a:off x="6751320" y="1828800"/>
            <a:ext cx="4980432" cy="4480560"/>
          </a:xfrm>
          <a:prstGeom prst="roundRect">
            <a:avLst>
              <a:gd name="adj" fmla="val 1633"/>
            </a:avLst>
          </a:prstGeom>
          <a:solidFill>
            <a:srgbClr val="F1F4F8"/>
          </a:solidFill>
          <a:ln/>
          <a:effectLst>
            <a:outerShdw blurRad="101600" dist="38100" dir="5400000" algn="bl" rotWithShape="0">
              <a:srgbClr val="9AA5B1">
                <a:alpha val="22000"/>
              </a:srgbClr>
            </a:outerShdw>
          </a:effectLst>
        </p:spPr>
      </p:sp>
      <p:sp>
        <p:nvSpPr>
          <p:cNvPr id="7" name="Text 4"/>
          <p:cNvSpPr/>
          <p:nvPr/>
        </p:nvSpPr>
        <p:spPr>
          <a:xfrm>
            <a:off x="7025640" y="2011680"/>
            <a:ext cx="4431792" cy="320040"/>
          </a:xfrm>
          <a:prstGeom prst="rect">
            <a:avLst/>
          </a:prstGeom>
          <a:noFill/>
          <a:ln/>
        </p:spPr>
        <p:txBody>
          <a:bodyPr wrap="square" lIns="0" tIns="0" rIns="0" bIns="0" rtlCol="0" anchor="ctr"/>
          <a:lstStyle/>
          <a:p>
            <a:pPr marL="0" indent="0">
              <a:buNone/>
            </a:pPr>
            <a:r>
              <a:rPr lang="en-US" sz="1200" b="1" kern="0" spc="150" dirty="0">
                <a:solidFill>
                  <a:srgbClr val="B85C00"/>
                </a:solidFill>
                <a:latin typeface="Calibri" pitchFamily="34" charset="0"/>
                <a:ea typeface="Calibri" pitchFamily="34" charset="-122"/>
                <a:cs typeface="Calibri" pitchFamily="34" charset="-120"/>
              </a:rPr>
              <a:t>BREAK-EVEN, BY SCALE</a:t>
            </a:r>
            <a:endParaRPr lang="en-US" sz="1200" dirty="0"/>
          </a:p>
        </p:txBody>
      </p:sp>
      <p:sp>
        <p:nvSpPr>
          <p:cNvPr id="8" name="Text 5"/>
          <p:cNvSpPr/>
          <p:nvPr/>
        </p:nvSpPr>
        <p:spPr>
          <a:xfrm>
            <a:off x="7025640" y="2423160"/>
            <a:ext cx="4431792" cy="210312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200" dirty="0">
                <a:solidFill>
                  <a:srgbClr val="141A22"/>
                </a:solidFill>
                <a:latin typeface="Calibri" pitchFamily="34" charset="0"/>
                <a:ea typeface="Calibri" pitchFamily="34" charset="-122"/>
                <a:cs typeface="Calibri" pitchFamily="34" charset="-120"/>
              </a:rPr>
              <a:t>4m^2 trihedral (N=1): n*=844 collects -- a one-off cal target essentially never pays back on its own</a:t>
            </a:r>
            <a:endParaRPr lang="en-US" sz="1200" dirty="0"/>
          </a:p>
          <a:p>
            <a:pPr marL="203200" indent="-203200">
              <a:lnSpc>
                <a:spcPct val="112000"/>
              </a:lnSpc>
              <a:spcAft>
                <a:spcPts val="1000"/>
              </a:spcAft>
              <a:buSzPct val="100000"/>
              <a:buChar char="•"/>
            </a:pPr>
            <a:r>
              <a:rPr lang="en-US" sz="1200" dirty="0">
                <a:solidFill>
                  <a:srgbClr val="141A22"/>
                </a:solidFill>
                <a:latin typeface="Calibri" pitchFamily="34" charset="0"/>
                <a:ea typeface="Calibri" pitchFamily="34" charset="-122"/>
                <a:cs typeface="Calibri" pitchFamily="34" charset="-120"/>
              </a:rPr>
              <a:t>District (N=625): n*=34 collects -- amortizes within a modest revisit campaign</a:t>
            </a:r>
            <a:endParaRPr lang="en-US" sz="1200" dirty="0"/>
          </a:p>
          <a:p>
            <a:pPr marL="203200" indent="-203200">
              <a:lnSpc>
                <a:spcPct val="112000"/>
              </a:lnSpc>
              <a:spcAft>
                <a:spcPts val="1000"/>
              </a:spcAft>
              <a:buSzPct val="100000"/>
              <a:buChar char="•"/>
            </a:pPr>
            <a:r>
              <a:rPr lang="en-US" sz="1200" dirty="0">
                <a:solidFill>
                  <a:srgbClr val="141A22"/>
                </a:solidFill>
                <a:latin typeface="Calibri" pitchFamily="34" charset="0"/>
                <a:ea typeface="Calibri" pitchFamily="34" charset="-122"/>
                <a:cs typeface="Calibri" pitchFamily="34" charset="-120"/>
              </a:rPr>
              <a:t>Full city (N=20,000): n*=6 collects -- pays for itself almost immediately at city scale</a:t>
            </a:r>
            <a:endParaRPr lang="en-US" sz="1200" dirty="0"/>
          </a:p>
        </p:txBody>
      </p:sp>
      <p:sp>
        <p:nvSpPr>
          <p:cNvPr id="9" name="Text 6"/>
          <p:cNvSpPr/>
          <p:nvPr/>
        </p:nvSpPr>
        <p:spPr>
          <a:xfrm>
            <a:off x="7025640" y="4663440"/>
            <a:ext cx="4431792" cy="1554480"/>
          </a:xfrm>
          <a:prstGeom prst="rect">
            <a:avLst/>
          </a:prstGeom>
          <a:noFill/>
          <a:ln/>
        </p:spPr>
        <p:txBody>
          <a:bodyPr wrap="square" lIns="0" tIns="0" rIns="0" bIns="0" rtlCol="0" anchor="t"/>
          <a:lstStyle/>
          <a:p>
            <a:pPr marL="0" indent="0">
              <a:lnSpc>
                <a:spcPct val="115000"/>
              </a:lnSpc>
              <a:buNone/>
            </a:pPr>
            <a:r>
              <a:rPr lang="en-US" sz="1200" b="1" dirty="0">
                <a:solidFill>
                  <a:srgbClr val="0B7285"/>
                </a:solidFill>
                <a:latin typeface="Calibri" pitchFamily="34" charset="0"/>
                <a:ea typeface="Calibri" pitchFamily="34" charset="-122"/>
                <a:cs typeface="Calibri" pitchFamily="34" charset="-120"/>
              </a:rPr>
              <a:t>Bottom line:  </a:t>
            </a:r>
            <a:r>
              <a:rPr lang="en-US" sz="1200" dirty="0">
                <a:solidFill>
                  <a:srgbClr val="141A22"/>
                </a:solidFill>
                <a:latin typeface="Calibri" pitchFamily="34" charset="0"/>
                <a:ea typeface="Calibri" pitchFamily="34" charset="-122"/>
                <a:cs typeface="Calibri" pitchFamily="34" charset="-120"/>
              </a:rPr>
              <a:t>the ASC library isn’t worth building for a single isolated target -- it’s a scale play. Build it once per structure, reuse it across every collect, scenario, and aspect that touches that structure.</a:t>
            </a:r>
            <a:endParaRPr lang="en-US" sz="1200" dirty="0"/>
          </a:p>
        </p:txBody>
      </p:sp>
      <p:sp>
        <p:nvSpPr>
          <p:cNvPr id="12" name="TextBox 11">
            <a:extLst>
              <a:ext uri="{FF2B5EF4-FFF2-40B4-BE49-F238E27FC236}">
                <a16:creationId xmlns:a16="http://schemas.microsoft.com/office/drawing/2014/main" id="{ABD6D8BE-C01F-F49B-386D-920536C15B21}"/>
              </a:ext>
            </a:extLst>
          </p:cNvPr>
          <p:cNvSpPr txBox="1"/>
          <p:nvPr/>
        </p:nvSpPr>
        <p:spPr>
          <a:xfrm>
            <a:off x="905256" y="6151234"/>
            <a:ext cx="5526024" cy="461665"/>
          </a:xfrm>
          <a:prstGeom prst="rect">
            <a:avLst/>
          </a:prstGeom>
          <a:noFill/>
        </p:spPr>
        <p:txBody>
          <a:bodyPr wrap="square">
            <a:spAutoFit/>
          </a:bodyPr>
          <a:lstStyle/>
          <a:p>
            <a:r>
              <a:rPr lang="en-US" sz="1200" i="1" dirty="0"/>
              <a:t>*Both approaches estimated on the same single desktop/laptop-class Graphics Processing Unit (GPU), not a cluster, 75µs for Ansys per structure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GENERATION SPEED</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200" b="1" dirty="0">
                <a:solidFill>
                  <a:srgbClr val="141A22"/>
                </a:solidFill>
                <a:latin typeface="Cambria" pitchFamily="34" charset="0"/>
                <a:ea typeface="Cambria" pitchFamily="34" charset="-122"/>
                <a:cs typeface="Cambria" pitchFamily="34" charset="-120"/>
              </a:rPr>
              <a:t>Once the library is built: how long to generate a new scene?</a:t>
            </a:r>
            <a:endParaRPr lang="en-US" sz="2200" dirty="0"/>
          </a:p>
        </p:txBody>
      </p:sp>
      <p:sp>
        <p:nvSpPr>
          <p:cNvPr id="4" name="Text 2"/>
          <p:cNvSpPr/>
          <p:nvPr/>
        </p:nvSpPr>
        <p:spPr>
          <a:xfrm>
            <a:off x="548640" y="1280160"/>
            <a:ext cx="10698480" cy="640080"/>
          </a:xfrm>
          <a:prstGeom prst="rect">
            <a:avLst/>
          </a:prstGeom>
          <a:noFill/>
          <a:ln/>
        </p:spPr>
        <p:txBody>
          <a:bodyPr wrap="square" lIns="0" tIns="0" rIns="0" bIns="0" rtlCol="0" anchor="ctr"/>
          <a:lstStyle/>
          <a:p>
            <a:pPr marL="0" indent="0">
              <a:lnSpc>
                <a:spcPct val="115000"/>
              </a:lnSpc>
              <a:buNone/>
            </a:pPr>
            <a:r>
              <a:rPr lang="en-US" sz="1200" i="1" dirty="0">
                <a:solidFill>
                  <a:srgbClr val="5B6672"/>
                </a:solidFill>
                <a:latin typeface="Calibri" pitchFamily="34" charset="0"/>
                <a:ea typeface="Calibri" pitchFamily="34" charset="-122"/>
                <a:cs typeface="Calibri" pitchFamily="34" charset="-120"/>
              </a:rPr>
              <a:t>Same 600km standoff, 2m GSD fixed at every scale. This is the marginal, steady-state cost of every collect afterward:</a:t>
            </a:r>
            <a:endParaRPr lang="en-US" sz="1200" dirty="0"/>
          </a:p>
        </p:txBody>
      </p:sp>
      <p:pic>
        <p:nvPicPr>
          <p:cNvPr id="5" name="Image 0" descr="/sessions/sweet-friendly-mayer/mnt/outputs/presentation/gen_speed_by_footprint.png"/>
          <p:cNvPicPr>
            <a:picLocks noChangeAspect="1"/>
          </p:cNvPicPr>
          <p:nvPr/>
        </p:nvPicPr>
        <p:blipFill>
          <a:blip r:embed="rId3"/>
          <a:stretch>
            <a:fillRect/>
          </a:stretch>
        </p:blipFill>
        <p:spPr>
          <a:xfrm>
            <a:off x="457200" y="1965960"/>
            <a:ext cx="6445045" cy="4206240"/>
          </a:xfrm>
          <a:prstGeom prst="rect">
            <a:avLst/>
          </a:prstGeom>
        </p:spPr>
      </p:pic>
      <p:sp>
        <p:nvSpPr>
          <p:cNvPr id="6" name="Shape 3"/>
          <p:cNvSpPr/>
          <p:nvPr/>
        </p:nvSpPr>
        <p:spPr>
          <a:xfrm>
            <a:off x="7222285" y="1965960"/>
            <a:ext cx="4509467" cy="4206240"/>
          </a:xfrm>
          <a:prstGeom prst="roundRect">
            <a:avLst>
              <a:gd name="adj" fmla="val 1739"/>
            </a:avLst>
          </a:prstGeom>
          <a:solidFill>
            <a:srgbClr val="F1F4F8"/>
          </a:solidFill>
          <a:ln/>
          <a:effectLst>
            <a:outerShdw blurRad="101600" dist="38100" dir="5400000" algn="bl" rotWithShape="0">
              <a:srgbClr val="9AA5B1">
                <a:alpha val="22000"/>
              </a:srgbClr>
            </a:outerShdw>
          </a:effectLst>
        </p:spPr>
      </p:sp>
      <p:sp>
        <p:nvSpPr>
          <p:cNvPr id="7" name="Text 4"/>
          <p:cNvSpPr/>
          <p:nvPr/>
        </p:nvSpPr>
        <p:spPr>
          <a:xfrm>
            <a:off x="7496605" y="2148840"/>
            <a:ext cx="3960827" cy="320040"/>
          </a:xfrm>
          <a:prstGeom prst="rect">
            <a:avLst/>
          </a:prstGeom>
          <a:noFill/>
          <a:ln/>
        </p:spPr>
        <p:txBody>
          <a:bodyPr wrap="square" lIns="0" tIns="0" rIns="0" bIns="0" rtlCol="0" anchor="ctr"/>
          <a:lstStyle/>
          <a:p>
            <a:pPr marL="0" indent="0">
              <a:buNone/>
            </a:pPr>
            <a:r>
              <a:rPr lang="en-US" sz="1200" b="1" kern="0" spc="150" dirty="0">
                <a:solidFill>
                  <a:srgbClr val="B85C00"/>
                </a:solidFill>
                <a:latin typeface="Calibri" pitchFamily="34" charset="0"/>
                <a:ea typeface="Calibri" pitchFamily="34" charset="-122"/>
                <a:cs typeface="Calibri" pitchFamily="34" charset="-120"/>
              </a:rPr>
              <a:t>BY THE NUMBERS</a:t>
            </a:r>
            <a:endParaRPr lang="en-US" sz="1200" dirty="0"/>
          </a:p>
        </p:txBody>
      </p:sp>
      <p:sp>
        <p:nvSpPr>
          <p:cNvPr id="8" name="Text 5"/>
          <p:cNvSpPr/>
          <p:nvPr/>
        </p:nvSpPr>
        <p:spPr>
          <a:xfrm>
            <a:off x="7496605" y="2560320"/>
            <a:ext cx="3960827" cy="2651760"/>
          </a:xfrm>
          <a:prstGeom prst="rect">
            <a:avLst/>
          </a:prstGeom>
          <a:noFill/>
          <a:ln/>
        </p:spPr>
        <p:txBody>
          <a:bodyPr wrap="square" lIns="0" tIns="0" rIns="0" bIns="0" rtlCol="0" anchor="t"/>
          <a:lstStyle/>
          <a:p>
            <a:pPr marL="203200" indent="-203200">
              <a:lnSpc>
                <a:spcPct val="112000"/>
              </a:lnSpc>
              <a:spcAft>
                <a:spcPts val="900"/>
              </a:spcAft>
              <a:buSzPct val="100000"/>
              <a:buFontTx/>
              <a:buChar char="•"/>
            </a:pPr>
            <a:r>
              <a:rPr lang="en-US" sz="1150" dirty="0">
                <a:solidFill>
                  <a:srgbClr val="141A22"/>
                </a:solidFill>
                <a:latin typeface="Calibri" pitchFamily="34" charset="0"/>
                <a:ea typeface="Calibri" pitchFamily="34" charset="-122"/>
                <a:cs typeface="Calibri" pitchFamily="34" charset="-120"/>
              </a:rPr>
              <a:t>Small plot (0.1km²): 286ms vs. 498ms -- 1.7x</a:t>
            </a:r>
            <a:endParaRPr lang="en-US" sz="1150" dirty="0"/>
          </a:p>
          <a:p>
            <a:pPr marL="203200" indent="-203200">
              <a:lnSpc>
                <a:spcPct val="112000"/>
              </a:lnSpc>
              <a:spcAft>
                <a:spcPts val="900"/>
              </a:spcAft>
              <a:buSzPct val="100000"/>
              <a:buFontTx/>
              <a:buChar char="•"/>
            </a:pPr>
            <a:r>
              <a:rPr lang="en-US" sz="1150" dirty="0">
                <a:solidFill>
                  <a:srgbClr val="141A22"/>
                </a:solidFill>
                <a:latin typeface="Calibri" pitchFamily="34" charset="0"/>
                <a:ea typeface="Calibri" pitchFamily="34" charset="-122"/>
                <a:cs typeface="Calibri" pitchFamily="34" charset="-120"/>
              </a:rPr>
              <a:t>City block (1km²): 0.94s vs. 7.6s -- 8x</a:t>
            </a:r>
            <a:endParaRPr lang="en-US" sz="1150" dirty="0"/>
          </a:p>
          <a:p>
            <a:pPr marL="203200" indent="-203200">
              <a:lnSpc>
                <a:spcPct val="112000"/>
              </a:lnSpc>
              <a:spcAft>
                <a:spcPts val="900"/>
              </a:spcAft>
              <a:buSzPct val="100000"/>
              <a:buFontTx/>
              <a:buChar char="•"/>
            </a:pPr>
            <a:r>
              <a:rPr lang="en-US" sz="1150" dirty="0">
                <a:solidFill>
                  <a:srgbClr val="141A22"/>
                </a:solidFill>
                <a:latin typeface="Calibri" pitchFamily="34" charset="0"/>
                <a:ea typeface="Calibri" pitchFamily="34" charset="-122"/>
                <a:cs typeface="Calibri" pitchFamily="34" charset="-120"/>
              </a:rPr>
              <a:t>District (10km²): 4.3s vs. 3.6min -- 51x</a:t>
            </a:r>
          </a:p>
          <a:p>
            <a:pPr marL="203200" indent="-203200">
              <a:lnSpc>
                <a:spcPct val="112000"/>
              </a:lnSpc>
              <a:spcAft>
                <a:spcPts val="900"/>
              </a:spcAft>
              <a:buSzPct val="100000"/>
              <a:buChar char="•"/>
            </a:pPr>
            <a:r>
              <a:rPr lang="en-US" sz="1150" dirty="0">
                <a:solidFill>
                  <a:srgbClr val="141A22"/>
                </a:solidFill>
                <a:latin typeface="Calibri" pitchFamily="34" charset="0"/>
                <a:ea typeface="Calibri" pitchFamily="34" charset="-122"/>
                <a:cs typeface="Calibri" pitchFamily="34" charset="-120"/>
              </a:rPr>
              <a:t>Full city (100km²): </a:t>
            </a:r>
            <a:r>
              <a:rPr lang="en-US" sz="1150" dirty="0">
                <a:solidFill>
                  <a:srgbClr val="141A22"/>
                </a:solidFill>
                <a:highlight>
                  <a:srgbClr val="FFFF00"/>
                </a:highlight>
                <a:latin typeface="Calibri" pitchFamily="34" charset="0"/>
                <a:ea typeface="Calibri" pitchFamily="34" charset="-122"/>
                <a:cs typeface="Calibri" pitchFamily="34" charset="-120"/>
              </a:rPr>
              <a:t>54s</a:t>
            </a:r>
            <a:r>
              <a:rPr lang="en-US" sz="1150" dirty="0">
                <a:solidFill>
                  <a:srgbClr val="141A22"/>
                </a:solidFill>
                <a:latin typeface="Calibri" pitchFamily="34" charset="0"/>
                <a:ea typeface="Calibri" pitchFamily="34" charset="-122"/>
                <a:cs typeface="Calibri" pitchFamily="34" charset="-120"/>
              </a:rPr>
              <a:t> ASC-cached vs. 1.88hr Ansys SBR+ -- 125x</a:t>
            </a:r>
            <a:endParaRPr lang="en-US" sz="1150" dirty="0"/>
          </a:p>
        </p:txBody>
      </p:sp>
      <p:sp>
        <p:nvSpPr>
          <p:cNvPr id="9" name="Text 6"/>
          <p:cNvSpPr/>
          <p:nvPr/>
        </p:nvSpPr>
        <p:spPr>
          <a:xfrm>
            <a:off x="7496605" y="5848864"/>
            <a:ext cx="3960827" cy="277615"/>
          </a:xfrm>
          <a:prstGeom prst="rect">
            <a:avLst/>
          </a:prstGeom>
          <a:noFill/>
          <a:ln/>
        </p:spPr>
        <p:txBody>
          <a:bodyPr wrap="square" lIns="0" tIns="0" rIns="0" bIns="0" rtlCol="0" anchor="t"/>
          <a:lstStyle/>
          <a:p>
            <a:pPr marL="0" indent="0">
              <a:lnSpc>
                <a:spcPct val="115000"/>
              </a:lnSpc>
              <a:buNone/>
            </a:pPr>
            <a:r>
              <a:rPr lang="en-US" sz="1100" b="1" dirty="0">
                <a:solidFill>
                  <a:srgbClr val="0B7285"/>
                </a:solidFill>
                <a:latin typeface="Calibri" pitchFamily="34" charset="0"/>
                <a:ea typeface="Calibri" pitchFamily="34" charset="-122"/>
                <a:cs typeface="Calibri" pitchFamily="34" charset="-120"/>
              </a:rPr>
              <a:t>Bottom line:  </a:t>
            </a:r>
            <a:r>
              <a:rPr lang="en-US" sz="1100" dirty="0">
                <a:solidFill>
                  <a:srgbClr val="141A22"/>
                </a:solidFill>
                <a:latin typeface="Calibri" pitchFamily="34" charset="0"/>
                <a:ea typeface="Calibri" pitchFamily="34" charset="-122"/>
                <a:cs typeface="Calibri" pitchFamily="34" charset="-120"/>
              </a:rPr>
              <a:t>the speedup grows as scene complexity increases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300" b="1" dirty="0">
                <a:solidFill>
                  <a:srgbClr val="141A22"/>
                </a:solidFill>
                <a:latin typeface="Cambria" pitchFamily="34" charset="0"/>
                <a:ea typeface="Cambria" pitchFamily="34" charset="-122"/>
                <a:cs typeface="Cambria" pitchFamily="34" charset="-120"/>
              </a:rPr>
              <a:t>Building city-scale world cost breakdown</a:t>
            </a:r>
            <a:endParaRPr lang="en-US" sz="2300" dirty="0"/>
          </a:p>
        </p:txBody>
      </p:sp>
      <p:sp>
        <p:nvSpPr>
          <p:cNvPr id="4" name="Text 2"/>
          <p:cNvSpPr/>
          <p:nvPr/>
        </p:nvSpPr>
        <p:spPr>
          <a:xfrm>
            <a:off x="548640" y="1417320"/>
            <a:ext cx="10698480" cy="457200"/>
          </a:xfrm>
          <a:prstGeom prst="rect">
            <a:avLst/>
          </a:prstGeom>
          <a:noFill/>
          <a:ln/>
        </p:spPr>
        <p:txBody>
          <a:bodyPr wrap="square" lIns="0" tIns="0" rIns="0" bIns="0" rtlCol="0" anchor="ctr"/>
          <a:lstStyle/>
          <a:p>
            <a:pPr marL="0" indent="0">
              <a:lnSpc>
                <a:spcPct val="115000"/>
              </a:lnSpc>
              <a:buNone/>
            </a:pPr>
            <a:r>
              <a:rPr lang="en-US" sz="1300" i="1" dirty="0">
                <a:solidFill>
                  <a:srgbClr val="5B6672"/>
                </a:solidFill>
                <a:latin typeface="Calibri" pitchFamily="34" charset="0"/>
                <a:ea typeface="Calibri" pitchFamily="34" charset="-122"/>
                <a:cs typeface="Calibri" pitchFamily="34" charset="-120"/>
              </a:rPr>
              <a:t>10 km x 10 km smallish city, ~20,000 structures. The one-time library-build cost looks scary if you assume per-structure optimization -- it isn’t, if you build the library the right way.</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2549697560"/>
              </p:ext>
            </p:extLst>
          </p:nvPr>
        </p:nvGraphicFramePr>
        <p:xfrm>
          <a:off x="457200" y="2011680"/>
          <a:ext cx="11247120" cy="2606040"/>
        </p:xfrm>
        <a:graphic>
          <a:graphicData uri="http://schemas.openxmlformats.org/drawingml/2006/table">
            <a:tbl>
              <a:tblPr/>
              <a:tblGrid>
                <a:gridCol w="22860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521208">
                <a:tc>
                  <a:txBody>
                    <a:bodyPr/>
                    <a:lstStyle/>
                    <a:p>
                      <a:pPr marL="0" indent="0">
                        <a:buNone/>
                      </a:pPr>
                      <a:r>
                        <a:rPr lang="en-US" sz="1100" b="1" dirty="0">
                          <a:solidFill>
                            <a:srgbClr val="12161C"/>
                          </a:solidFill>
                          <a:latin typeface="Calibri" pitchFamily="34" charset="0"/>
                          <a:ea typeface="Calibri" pitchFamily="34" charset="-122"/>
                          <a:cs typeface="Calibri" pitchFamily="34" charset="-120"/>
                        </a:rPr>
                        <a:t>Stage</a:t>
                      </a:r>
                      <a:endParaRPr lang="en-US" sz="11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100" b="1" dirty="0">
                          <a:solidFill>
                            <a:srgbClr val="12161C"/>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100" b="1" dirty="0">
                          <a:solidFill>
                            <a:srgbClr val="12161C"/>
                          </a:solidFill>
                          <a:latin typeface="Calibri" pitchFamily="34" charset="0"/>
                          <a:ea typeface="Calibri" pitchFamily="34" charset="-122"/>
                          <a:cs typeface="Calibri" pitchFamily="34" charset="-120"/>
                        </a:rPr>
                        <a:t>Cost driver</a:t>
                      </a:r>
                      <a:endParaRPr lang="en-US" sz="11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100" b="1" dirty="0">
                          <a:solidFill>
                            <a:srgbClr val="12161C"/>
                          </a:solidFill>
                          <a:latin typeface="Calibri" pitchFamily="34" charset="0"/>
                          <a:ea typeface="Calibri" pitchFamily="34" charset="-122"/>
                          <a:cs typeface="Calibri" pitchFamily="34" charset="-120"/>
                        </a:rPr>
                        <a:t>Estimate</a:t>
                      </a:r>
                      <a:endParaRPr lang="en-US" sz="11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extLst>
                  <a:ext uri="{0D108BD9-81ED-4DB2-BD59-A6C34878D82A}">
                    <a16:rowId xmlns:a16="http://schemas.microsoft.com/office/drawing/2014/main" val="10000"/>
                  </a:ext>
                </a:extLst>
              </a:tr>
              <a:tr h="521208">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Ray tracing</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Sparse aspect/frequency characterization sweep per structure</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RT-core throughput (10+ Gigarays/s, Turing/Ampere/Ada)</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Seconds / structure -- not the bottleneck</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521208">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Clustering + classification</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Cluster ray hits; classify against canonical mechanism types</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Classical computational geometry -- no GPU needed</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Sub-second / structure</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521208">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Closed-form assignment</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alpha_k from type; amplitude from Fresnel x geometry; position/length read from mesh</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Formula evaluation, not optimization</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Effectively free</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521208">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Fallback (irregular geometry)</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Inference parameter estimate for what doesn’t classify cleanly</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Trained-network inference (Yue &amp; Xu, 2024)</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050" dirty="0">
                          <a:solidFill>
                            <a:srgbClr val="141A22"/>
                          </a:solidFill>
                          <a:latin typeface="Calibri" pitchFamily="34" charset="0"/>
                          <a:ea typeface="Calibri" pitchFamily="34" charset="-122"/>
                          <a:cs typeface="Calibri" pitchFamily="34" charset="-120"/>
                        </a:rPr>
                        <a:t>~1.8 sec / structure (30 x 0.06s)</a:t>
                      </a:r>
                      <a:endParaRPr lang="en-US" sz="10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4846320"/>
            <a:ext cx="10698480" cy="777240"/>
          </a:xfrm>
          <a:prstGeom prst="roundRect">
            <a:avLst>
              <a:gd name="adj" fmla="val 9412"/>
            </a:avLst>
          </a:prstGeom>
          <a:solidFill>
            <a:srgbClr val="E6EAF0"/>
          </a:solidFill>
          <a:ln/>
          <a:effectLst>
            <a:outerShdw blurRad="101600" dist="38100" dir="5400000" algn="bl" rotWithShape="0">
              <a:srgbClr val="9AA5B1">
                <a:alpha val="22000"/>
              </a:srgbClr>
            </a:outerShdw>
          </a:effectLst>
        </p:spPr>
      </p:sp>
      <p:sp>
        <p:nvSpPr>
          <p:cNvPr id="7" name="Text 4"/>
          <p:cNvSpPr/>
          <p:nvPr/>
        </p:nvSpPr>
        <p:spPr>
          <a:xfrm>
            <a:off x="822960" y="4846320"/>
            <a:ext cx="10149840" cy="777240"/>
          </a:xfrm>
          <a:prstGeom prst="rect">
            <a:avLst/>
          </a:prstGeom>
          <a:noFill/>
          <a:ln/>
        </p:spPr>
        <p:txBody>
          <a:bodyPr wrap="square" lIns="0" tIns="0" rIns="0" bIns="0" rtlCol="0" anchor="ctr"/>
          <a:lstStyle/>
          <a:p>
            <a:pPr marL="0" indent="0">
              <a:lnSpc>
                <a:spcPct val="112000"/>
              </a:lnSpc>
              <a:buNone/>
            </a:pPr>
            <a:r>
              <a:rPr lang="en-US" sz="1250" b="1" dirty="0">
                <a:solidFill>
                  <a:srgbClr val="0B7285"/>
                </a:solidFill>
                <a:latin typeface="Calibri" pitchFamily="34" charset="0"/>
                <a:ea typeface="Calibri" pitchFamily="34" charset="-122"/>
                <a:cs typeface="Calibri" pitchFamily="34" charset="-120"/>
              </a:rPr>
              <a:t>Bottom line:  </a:t>
            </a:r>
            <a:r>
              <a:rPr lang="en-US" sz="1250" dirty="0">
                <a:solidFill>
                  <a:srgbClr val="141A22"/>
                </a:solidFill>
                <a:latin typeface="Calibri" pitchFamily="34" charset="0"/>
                <a:ea typeface="Calibri" pitchFamily="34" charset="-122"/>
                <a:cs typeface="Calibri" pitchFamily="34" charset="-120"/>
              </a:rPr>
              <a:t>if most of a real building stock classifies cleanly as canonical primitives (flat walls, roof edges, wall-ground corners), total build cost lands in hours on a single workstation -- not the multi-day cluster job assumed when this is treated as a fitting problem.</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SPEEDUP</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400" b="1" dirty="0">
                <a:solidFill>
                  <a:srgbClr val="141A22"/>
                </a:solidFill>
                <a:latin typeface="Cambria" pitchFamily="34" charset="0"/>
                <a:ea typeface="Cambria" pitchFamily="34" charset="-122"/>
                <a:cs typeface="Cambria" pitchFamily="34" charset="-120"/>
              </a:rPr>
              <a:t>Compressed parametric scattering centers (GTD / ASC)</a:t>
            </a:r>
            <a:endParaRPr lang="en-US" sz="2400" dirty="0"/>
          </a:p>
        </p:txBody>
      </p:sp>
      <p:sp>
        <p:nvSpPr>
          <p:cNvPr id="4" name="Shape 2"/>
          <p:cNvSpPr/>
          <p:nvPr/>
        </p:nvSpPr>
        <p:spPr>
          <a:xfrm>
            <a:off x="10378440" y="621792"/>
            <a:ext cx="914400" cy="914400"/>
          </a:xfrm>
          <a:prstGeom prst="ellipse">
            <a:avLst/>
          </a:prstGeom>
          <a:solidFill>
            <a:srgbClr val="4FD8EB"/>
          </a:solidFill>
          <a:ln/>
        </p:spPr>
      </p:sp>
      <p:pic>
        <p:nvPicPr>
          <p:cNvPr id="5" name="Image 0" descr="/sessions/sweet-friendly-mayer/mnt/outputs/presentation/icons/FaBolt_dark.png"/>
          <p:cNvPicPr>
            <a:picLocks noChangeAspect="1"/>
          </p:cNvPicPr>
          <p:nvPr/>
        </p:nvPicPr>
        <p:blipFill>
          <a:blip r:embed="rId3"/>
          <a:stretch>
            <a:fillRect/>
          </a:stretch>
        </p:blipFill>
        <p:spPr>
          <a:xfrm>
            <a:off x="10625328" y="868680"/>
            <a:ext cx="420624" cy="420624"/>
          </a:xfrm>
          <a:prstGeom prst="rect">
            <a:avLst/>
          </a:prstGeom>
        </p:spPr>
      </p:pic>
      <p:sp>
        <p:nvSpPr>
          <p:cNvPr id="6" name="Text 3"/>
          <p:cNvSpPr/>
          <p:nvPr/>
        </p:nvSpPr>
        <p:spPr>
          <a:xfrm>
            <a:off x="548640" y="1543150"/>
            <a:ext cx="10515600" cy="137160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400" dirty="0">
                <a:solidFill>
                  <a:srgbClr val="141A22"/>
                </a:solidFill>
                <a:latin typeface="Calibri" pitchFamily="34" charset="0"/>
                <a:ea typeface="Calibri" pitchFamily="34" charset="-122"/>
                <a:cs typeface="Calibri" pitchFamily="34" charset="-120"/>
              </a:rPr>
              <a:t>Attributed Scattering Center (ASC) model — Potter &amp; Moses, "Attributed Scattering Centers for SAR ATR," IEEE Trans. Image Processing, 1997 (Ohio State)/ </a:t>
            </a:r>
            <a:r>
              <a:rPr lang="en-US" sz="1400" dirty="0"/>
              <a:t>Jackson, Rigling &amp; Moses, "Canonical Scattering Feature Models for 3D and Bistatic SAR," IEEE Trans. Aerospace and Electronic Systems, 2010/ Deng, Yang, &amp; Song “Novel Extension of Full-Polarimetric Bistatic Scattering Modeling of Canonical Scatterers for Radar Recognition, ” Remote Sens. 2025, </a:t>
            </a:r>
          </a:p>
        </p:txBody>
      </p:sp>
      <mc:AlternateContent xmlns:mc="http://schemas.openxmlformats.org/markup-compatibility/2006" xmlns:a14="http://schemas.microsoft.com/office/drawing/2010/main">
        <mc:Choice Requires="a14">
          <p:sp>
            <p:nvSpPr>
              <p:cNvPr id="9" name="Text 6"/>
              <p:cNvSpPr/>
              <p:nvPr/>
            </p:nvSpPr>
            <p:spPr>
              <a:xfrm>
                <a:off x="548640" y="4709160"/>
                <a:ext cx="10698480" cy="1737360"/>
              </a:xfrm>
              <a:prstGeom prst="rect">
                <a:avLst/>
              </a:prstGeom>
              <a:noFill/>
              <a:ln/>
            </p:spPr>
            <p:txBody>
              <a:bodyPr wrap="square" lIns="0" tIns="0" rIns="0" bIns="0" rtlCol="0" anchor="t"/>
              <a:lstStyle/>
              <a:p>
                <a:pPr marL="203200" indent="-203200">
                  <a:lnSpc>
                    <a:spcPct val="112000"/>
                  </a:lnSpc>
                  <a:spcAft>
                    <a:spcPts val="1000"/>
                  </a:spcAft>
                  <a:buSzPct val="100000"/>
                  <a:buChar char="•"/>
                </a:pPr>
                <a14:m>
                  <m:oMath xmlns:m="http://schemas.openxmlformats.org/officeDocument/2006/math">
                    <m:sSub>
                      <m:sSubPr>
                        <m:ctrlPr>
                          <a:rPr lang="en-US" sz="1200" i="1">
                            <a:solidFill>
                              <a:srgbClr val="0070C0"/>
                            </a:solidFill>
                            <a:latin typeface="Cambria Math" panose="02040503050406030204" pitchFamily="18" charset="0"/>
                          </a:rPr>
                        </m:ctrlPr>
                      </m:sSubPr>
                      <m:e>
                        <m:r>
                          <a:rPr lang="en-US" sz="1200" i="1">
                            <a:solidFill>
                              <a:srgbClr val="0070C0"/>
                            </a:solidFill>
                            <a:latin typeface="Cambria Math" panose="02040503050406030204" pitchFamily="18" charset="0"/>
                          </a:rPr>
                          <m:t>𝛼</m:t>
                        </m:r>
                      </m:e>
                      <m:sub>
                        <m:r>
                          <a:rPr lang="en-US" sz="1200" i="1">
                            <a:solidFill>
                              <a:srgbClr val="0070C0"/>
                            </a:solidFill>
                            <a:latin typeface="Cambria Math" panose="02040503050406030204" pitchFamily="18" charset="0"/>
                          </a:rPr>
                          <m:t>𝑘</m:t>
                        </m:r>
                      </m:sub>
                    </m:sSub>
                  </m:oMath>
                </a14:m>
                <a:r>
                  <a:rPr lang="en-US" sz="1350" dirty="0">
                    <a:solidFill>
                      <a:srgbClr val="141A22"/>
                    </a:solidFill>
                    <a:latin typeface="Calibri" pitchFamily="34" charset="0"/>
                    <a:ea typeface="Calibri" pitchFamily="34" charset="-122"/>
                    <a:cs typeface="Calibri" pitchFamily="34" charset="-120"/>
                  </a:rPr>
                  <a:t> encodes the canonical scattering mechanism: 1=flat plate, 0.5=singly-curved, 0=sphere, −0.5=edge, −1=dihedral/corner -- matches our building-ground case directly</a:t>
                </a:r>
              </a:p>
              <a:p>
                <a:pPr marL="203200" indent="-203200">
                  <a:lnSpc>
                    <a:spcPct val="112000"/>
                  </a:lnSpc>
                  <a:spcAft>
                    <a:spcPts val="1000"/>
                  </a:spcAft>
                  <a:buSzPct val="100000"/>
                  <a:buChar char="•"/>
                </a:pPr>
                <a14:m>
                  <m:oMath xmlns:m="http://schemas.openxmlformats.org/officeDocument/2006/math">
                    <m:sSub>
                      <m:sSubPr>
                        <m:ctrlPr>
                          <a:rPr lang="en-US" sz="1200" i="1">
                            <a:solidFill>
                              <a:srgbClr val="0070C0"/>
                            </a:solidFill>
                            <a:latin typeface="Cambria Math" panose="02040503050406030204" pitchFamily="18" charset="0"/>
                          </a:rPr>
                        </m:ctrlPr>
                      </m:sSubPr>
                      <m:e>
                        <m:r>
                          <m:rPr>
                            <m:sty m:val="p"/>
                          </m:rPr>
                          <a:rPr lang="en-US" sz="1200" i="1">
                            <a:solidFill>
                              <a:srgbClr val="0070C0"/>
                            </a:solidFill>
                            <a:latin typeface="Cambria Math" panose="02040503050406030204" pitchFamily="18" charset="0"/>
                          </a:rPr>
                          <m:t>S</m:t>
                        </m:r>
                      </m:e>
                      <m:sub>
                        <m:r>
                          <a:rPr lang="en-US" sz="1200" i="1">
                            <a:solidFill>
                              <a:srgbClr val="0070C0"/>
                            </a:solidFill>
                            <a:latin typeface="Cambria Math" panose="02040503050406030204" pitchFamily="18" charset="0"/>
                          </a:rPr>
                          <m:t>𝑘</m:t>
                        </m:r>
                      </m:sub>
                    </m:sSub>
                  </m:oMath>
                </a14:m>
                <a:r>
                  <a:rPr lang="en-US" sz="1350" dirty="0">
                    <a:solidFill>
                      <a:srgbClr val="141A22"/>
                    </a:solidFill>
                    <a:latin typeface="Calibri" pitchFamily="34" charset="0"/>
                    <a:ea typeface="Calibri" pitchFamily="34" charset="-122"/>
                    <a:cs typeface="Calibri" pitchFamily="34" charset="-120"/>
                  </a:rPr>
                  <a:t> is the Sinclair matrix that describe how the polarization of the return is impacted by the bounce (next slide)</a:t>
                </a:r>
              </a:p>
              <a:p>
                <a:pPr marL="203200" indent="-203200">
                  <a:lnSpc>
                    <a:spcPct val="112000"/>
                  </a:lnSpc>
                  <a:spcAft>
                    <a:spcPts val="1000"/>
                  </a:spcAft>
                  <a:buSzPct val="100000"/>
                  <a:buChar char="•"/>
                </a:pPr>
                <a14:m>
                  <m:oMath xmlns:m="http://schemas.openxmlformats.org/officeDocument/2006/math">
                    <m:sSub>
                      <m:sSubPr>
                        <m:ctrlPr>
                          <a:rPr lang="en-US" sz="1200" i="1">
                            <a:solidFill>
                              <a:srgbClr val="0070C0"/>
                            </a:solidFill>
                            <a:latin typeface="Cambria Math" panose="02040503050406030204" pitchFamily="18" charset="0"/>
                          </a:rPr>
                        </m:ctrlPr>
                      </m:sSubPr>
                      <m:e>
                        <m:acc>
                          <m:accPr>
                            <m:chr m:val="̅"/>
                            <m:ctrlPr>
                              <a:rPr lang="en-US" sz="1200" i="1">
                                <a:solidFill>
                                  <a:srgbClr val="0070C0"/>
                                </a:solidFill>
                                <a:latin typeface="Cambria Math" panose="02040503050406030204" pitchFamily="18" charset="0"/>
                              </a:rPr>
                            </m:ctrlPr>
                          </m:accPr>
                          <m:e>
                            <m:r>
                              <a:rPr lang="en-US" sz="1200" i="1">
                                <a:solidFill>
                                  <a:srgbClr val="0070C0"/>
                                </a:solidFill>
                                <a:latin typeface="Cambria Math" panose="02040503050406030204" pitchFamily="18" charset="0"/>
                              </a:rPr>
                              <m:t>𝜑</m:t>
                            </m:r>
                          </m:e>
                        </m:acc>
                      </m:e>
                      <m:sub>
                        <m:r>
                          <a:rPr lang="en-US" sz="1200" i="1">
                            <a:solidFill>
                              <a:srgbClr val="0070C0"/>
                            </a:solidFill>
                            <a:latin typeface="Cambria Math" panose="02040503050406030204" pitchFamily="18" charset="0"/>
                          </a:rPr>
                          <m:t>𝑘</m:t>
                        </m:r>
                      </m:sub>
                    </m:sSub>
                    <m:r>
                      <a:rPr lang="en-US" sz="1200" b="0" i="1" smtClean="0">
                        <a:solidFill>
                          <a:srgbClr val="0070C0"/>
                        </a:solidFill>
                        <a:latin typeface="Cambria Math" panose="02040503050406030204" pitchFamily="18" charset="0"/>
                      </a:rPr>
                      <m:t>, </m:t>
                    </m:r>
                    <m:sSub>
                      <m:sSubPr>
                        <m:ctrlPr>
                          <a:rPr lang="en-US" sz="1200" i="1">
                            <a:solidFill>
                              <a:srgbClr val="0070C0"/>
                            </a:solidFill>
                            <a:latin typeface="Cambria Math" panose="02040503050406030204" pitchFamily="18" charset="0"/>
                          </a:rPr>
                        </m:ctrlPr>
                      </m:sSubPr>
                      <m:e>
                        <m:acc>
                          <m:accPr>
                            <m:chr m:val="̅"/>
                            <m:ctrlPr>
                              <a:rPr lang="en-US" sz="1200" i="1">
                                <a:solidFill>
                                  <a:srgbClr val="0070C0"/>
                                </a:solidFill>
                                <a:latin typeface="Cambria Math" panose="02040503050406030204" pitchFamily="18" charset="0"/>
                              </a:rPr>
                            </m:ctrlPr>
                          </m:accPr>
                          <m:e>
                            <m:r>
                              <a:rPr lang="en-US" sz="1200" i="1">
                                <a:solidFill>
                                  <a:srgbClr val="0070C0"/>
                                </a:solidFill>
                                <a:latin typeface="Cambria Math" panose="02040503050406030204" pitchFamily="18" charset="0"/>
                              </a:rPr>
                              <m:t>𝜓</m:t>
                            </m:r>
                          </m:e>
                        </m:acc>
                      </m:e>
                      <m:sub>
                        <m:r>
                          <a:rPr lang="en-US" sz="1200" i="1">
                            <a:solidFill>
                              <a:srgbClr val="0070C0"/>
                            </a:solidFill>
                            <a:latin typeface="Cambria Math" panose="02040503050406030204" pitchFamily="18" charset="0"/>
                          </a:rPr>
                          <m:t>𝑘</m:t>
                        </m:r>
                      </m:sub>
                    </m:sSub>
                  </m:oMath>
                </a14:m>
                <a:r>
                  <a:rPr lang="en-US" sz="1350" dirty="0"/>
                  <a:t> angular offset from center of return</a:t>
                </a:r>
              </a:p>
              <a:p>
                <a:pPr marL="203200" indent="-203200">
                  <a:lnSpc>
                    <a:spcPct val="112000"/>
                  </a:lnSpc>
                  <a:spcAft>
                    <a:spcPts val="1000"/>
                  </a:spcAft>
                  <a:buSzPct val="100000"/>
                  <a:buChar char="•"/>
                </a:pPr>
                <a:r>
                  <a:rPr lang="en-US" sz="1350" dirty="0">
                    <a:solidFill>
                      <a:srgbClr val="141A22"/>
                    </a:solidFill>
                    <a:latin typeface="Calibri" pitchFamily="34" charset="0"/>
                    <a:ea typeface="Calibri" pitchFamily="34" charset="-122"/>
                    <a:cs typeface="Calibri" pitchFamily="34" charset="-120"/>
                  </a:rPr>
                  <a:t>Workflow: trace once (or a sparse aspect sweep) → fit a handful of scattering centers → evaluate the closed-form sum at every pulse instead of re-tracing rays</a:t>
                </a:r>
                <a:endParaRPr lang="en-US" sz="1350" dirty="0"/>
              </a:p>
            </p:txBody>
          </p:sp>
        </mc:Choice>
        <mc:Fallback xmlns="">
          <p:sp>
            <p:nvSpPr>
              <p:cNvPr id="9" name="Text 6"/>
              <p:cNvSpPr>
                <a:spLocks noRot="1" noChangeAspect="1" noMove="1" noResize="1" noEditPoints="1" noAdjustHandles="1" noChangeArrowheads="1" noChangeShapeType="1" noTextEdit="1"/>
              </p:cNvSpPr>
              <p:nvPr/>
            </p:nvSpPr>
            <p:spPr>
              <a:xfrm>
                <a:off x="548640" y="4709160"/>
                <a:ext cx="10698480" cy="1737360"/>
              </a:xfrm>
              <a:prstGeom prst="rect">
                <a:avLst/>
              </a:prstGeom>
              <a:blipFill>
                <a:blip r:embed="rId4"/>
                <a:stretch>
                  <a:fillRect l="-1026" t="-2456" b="-7018"/>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5C6D741-3B8A-A1F8-767F-6CFD4640DB0A}"/>
                  </a:ext>
                </a:extLst>
              </p:cNvPr>
              <p:cNvSpPr txBox="1"/>
              <p:nvPr/>
            </p:nvSpPr>
            <p:spPr>
              <a:xfrm>
                <a:off x="908216" y="2926184"/>
                <a:ext cx="10586369" cy="152984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eqArr>
                        <m:eqArrPr>
                          <m:ctrlPr>
                            <a:rPr lang="en-US" sz="1400" i="1" smtClean="0">
                              <a:solidFill>
                                <a:srgbClr val="0070C0"/>
                              </a:solidFill>
                              <a:latin typeface="Cambria Math" panose="02040503050406030204" pitchFamily="18" charset="0"/>
                            </a:rPr>
                          </m:ctrlPr>
                        </m:eqArrPr>
                        <m:e>
                          <m:r>
                            <a:rPr lang="en-US" sz="1400" i="1" smtClean="0">
                              <a:solidFill>
                                <a:srgbClr val="0070C0"/>
                              </a:solidFill>
                              <a:latin typeface="Cambria Math" panose="02040503050406030204" pitchFamily="18" charset="0"/>
                            </a:rPr>
                            <m:t>𝐸</m:t>
                          </m:r>
                          <m:d>
                            <m:dPr>
                              <m:ctrlPr>
                                <a:rPr lang="en-US" sz="1400" i="1" smtClean="0">
                                  <a:solidFill>
                                    <a:srgbClr val="0070C0"/>
                                  </a:solidFill>
                                  <a:latin typeface="Cambria Math" panose="02040503050406030204" pitchFamily="18" charset="0"/>
                                </a:rPr>
                              </m:ctrlPr>
                            </m:dPr>
                            <m:e>
                              <m:r>
                                <a:rPr lang="en-US" sz="1400" i="1" smtClean="0">
                                  <a:solidFill>
                                    <a:srgbClr val="0070C0"/>
                                  </a:solidFill>
                                  <a:latin typeface="Cambria Math" panose="02040503050406030204" pitchFamily="18" charset="0"/>
                                </a:rPr>
                                <m:t>𝑓</m:t>
                              </m:r>
                              <m:r>
                                <a:rPr lang="en-US" sz="1400" i="1" smtClean="0">
                                  <a:solidFill>
                                    <a:srgbClr val="0070C0"/>
                                  </a:solidFill>
                                  <a:latin typeface="Cambria Math" panose="02040503050406030204" pitchFamily="18" charset="0"/>
                                </a:rPr>
                                <m:t>,</m:t>
                              </m:r>
                              <m:r>
                                <a:rPr lang="en-US" sz="1400" i="1" smtClean="0">
                                  <a:solidFill>
                                    <a:srgbClr val="0070C0"/>
                                  </a:solidFill>
                                  <a:latin typeface="Cambria Math" panose="02040503050406030204" pitchFamily="18" charset="0"/>
                                </a:rPr>
                                <m:t>𝜑</m:t>
                              </m:r>
                              <m:r>
                                <a:rPr lang="en-US" sz="1400" i="1" smtClean="0">
                                  <a:solidFill>
                                    <a:srgbClr val="0070C0"/>
                                  </a:solidFill>
                                  <a:latin typeface="Cambria Math" panose="02040503050406030204" pitchFamily="18" charset="0"/>
                                </a:rPr>
                                <m:t>,</m:t>
                              </m:r>
                              <m:r>
                                <a:rPr lang="en-US" sz="1400" i="1" smtClean="0">
                                  <a:solidFill>
                                    <a:srgbClr val="0070C0"/>
                                  </a:solidFill>
                                  <a:latin typeface="Cambria Math" panose="02040503050406030204" pitchFamily="18" charset="0"/>
                                </a:rPr>
                                <m:t>𝜓</m:t>
                              </m:r>
                            </m:e>
                          </m:d>
                          <m:r>
                            <a:rPr lang="en-US" sz="1400" i="1" smtClean="0">
                              <a:solidFill>
                                <a:srgbClr val="0070C0"/>
                              </a:solidFill>
                              <a:latin typeface="Cambria Math" panose="02040503050406030204" pitchFamily="18" charset="0"/>
                            </a:rPr>
                            <m:t>=</m:t>
                          </m:r>
                          <m:sSub>
                            <m:sSubPr>
                              <m:ctrlPr>
                                <a:rPr lang="en-US" sz="1400" i="1" smtClean="0">
                                  <a:solidFill>
                                    <a:srgbClr val="0070C0"/>
                                  </a:solidFill>
                                  <a:latin typeface="Cambria Math" panose="02040503050406030204" pitchFamily="18" charset="0"/>
                                </a:rPr>
                              </m:ctrlPr>
                            </m:sSubPr>
                            <m:e>
                              <m:r>
                                <m:rPr>
                                  <m:sty m:val="p"/>
                                </m:rPr>
                                <a:rPr lang="en-US" sz="1400" b="0" i="1" smtClean="0">
                                  <a:solidFill>
                                    <a:srgbClr val="0070C0"/>
                                  </a:solidFill>
                                  <a:latin typeface="Cambria Math" panose="02040503050406030204" pitchFamily="18" charset="0"/>
                                </a:rPr>
                                <m:t>S</m:t>
                              </m:r>
                            </m:e>
                            <m:sub>
                              <m:r>
                                <a:rPr lang="en-US" sz="1400" i="1" smtClean="0">
                                  <a:solidFill>
                                    <a:srgbClr val="0070C0"/>
                                  </a:solidFill>
                                  <a:latin typeface="Cambria Math" panose="02040503050406030204" pitchFamily="18" charset="0"/>
                                </a:rPr>
                                <m:t>𝑘</m:t>
                              </m:r>
                            </m:sub>
                          </m:sSub>
                          <m:sSup>
                            <m:sSupPr>
                              <m:ctrlPr>
                                <a:rPr lang="en-US" sz="1400" i="1" smtClean="0">
                                  <a:solidFill>
                                    <a:srgbClr val="0070C0"/>
                                  </a:solidFill>
                                  <a:latin typeface="Cambria Math" panose="02040503050406030204" pitchFamily="18" charset="0"/>
                                </a:rPr>
                              </m:ctrlPr>
                            </m:sSupPr>
                            <m:e>
                              <m:d>
                                <m:dPr>
                                  <m:ctrlPr>
                                    <a:rPr lang="en-US" sz="1400" i="1" smtClean="0">
                                      <a:solidFill>
                                        <a:srgbClr val="0070C0"/>
                                      </a:solidFill>
                                      <a:latin typeface="Cambria Math" panose="02040503050406030204" pitchFamily="18" charset="0"/>
                                    </a:rPr>
                                  </m:ctrlPr>
                                </m:dPr>
                                <m:e>
                                  <m:f>
                                    <m:fPr>
                                      <m:ctrlPr>
                                        <a:rPr lang="en-US" sz="1400" i="1" smtClean="0">
                                          <a:solidFill>
                                            <a:srgbClr val="0070C0"/>
                                          </a:solidFill>
                                          <a:latin typeface="Cambria Math" panose="02040503050406030204" pitchFamily="18" charset="0"/>
                                        </a:rPr>
                                      </m:ctrlPr>
                                    </m:fPr>
                                    <m:num>
                                      <m:r>
                                        <a:rPr lang="en-US" sz="1400" i="1" smtClean="0">
                                          <a:solidFill>
                                            <a:srgbClr val="0070C0"/>
                                          </a:solidFill>
                                          <a:latin typeface="Cambria Math" panose="02040503050406030204" pitchFamily="18" charset="0"/>
                                        </a:rPr>
                                        <m:t>𝑗𝑓</m:t>
                                      </m:r>
                                    </m:num>
                                    <m:den>
                                      <m:sSub>
                                        <m:sSubPr>
                                          <m:ctrlPr>
                                            <a:rPr lang="en-US" sz="1400" i="1" smtClean="0">
                                              <a:solidFill>
                                                <a:srgbClr val="0070C0"/>
                                              </a:solidFill>
                                              <a:latin typeface="Cambria Math" panose="02040503050406030204" pitchFamily="18" charset="0"/>
                                            </a:rPr>
                                          </m:ctrlPr>
                                        </m:sSubPr>
                                        <m:e>
                                          <m:r>
                                            <a:rPr lang="en-US" sz="1400" i="1" smtClean="0">
                                              <a:solidFill>
                                                <a:srgbClr val="0070C0"/>
                                              </a:solidFill>
                                              <a:latin typeface="Cambria Math" panose="02040503050406030204" pitchFamily="18" charset="0"/>
                                            </a:rPr>
                                            <m:t>𝑓</m:t>
                                          </m:r>
                                        </m:e>
                                        <m:sub>
                                          <m:r>
                                            <a:rPr lang="en-US" sz="1400" i="1" smtClean="0">
                                              <a:solidFill>
                                                <a:srgbClr val="0070C0"/>
                                              </a:solidFill>
                                              <a:latin typeface="Cambria Math" panose="02040503050406030204" pitchFamily="18" charset="0"/>
                                            </a:rPr>
                                            <m:t>𝑐</m:t>
                                          </m:r>
                                        </m:sub>
                                      </m:sSub>
                                    </m:den>
                                  </m:f>
                                </m:e>
                              </m:d>
                            </m:e>
                            <m:sup>
                              <m:sSub>
                                <m:sSubPr>
                                  <m:ctrlPr>
                                    <a:rPr lang="en-US" sz="1400" i="1" smtClean="0">
                                      <a:solidFill>
                                        <a:srgbClr val="0070C0"/>
                                      </a:solidFill>
                                      <a:latin typeface="Cambria Math" panose="02040503050406030204" pitchFamily="18" charset="0"/>
                                    </a:rPr>
                                  </m:ctrlPr>
                                </m:sSubPr>
                                <m:e>
                                  <m:r>
                                    <a:rPr lang="en-US" sz="1400" i="1" smtClean="0">
                                      <a:solidFill>
                                        <a:srgbClr val="0070C0"/>
                                      </a:solidFill>
                                      <a:latin typeface="Cambria Math" panose="02040503050406030204" pitchFamily="18" charset="0"/>
                                    </a:rPr>
                                    <m:t>𝛼</m:t>
                                  </m:r>
                                </m:e>
                                <m:sub>
                                  <m:r>
                                    <a:rPr lang="en-US" sz="1400" i="1" smtClean="0">
                                      <a:solidFill>
                                        <a:srgbClr val="0070C0"/>
                                      </a:solidFill>
                                      <a:latin typeface="Cambria Math" panose="02040503050406030204" pitchFamily="18" charset="0"/>
                                    </a:rPr>
                                    <m:t>𝑘</m:t>
                                  </m:r>
                                </m:sub>
                              </m:sSub>
                            </m:sup>
                          </m:sSup>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exp</m:t>
                              </m:r>
                            </m:fName>
                            <m:e>
                              <m:r>
                                <a:rPr lang="en-US" sz="1400" i="1" smtClean="0">
                                  <a:solidFill>
                                    <a:srgbClr val="0070C0"/>
                                  </a:solidFill>
                                  <a:latin typeface="Cambria Math" panose="02040503050406030204" pitchFamily="18" charset="0"/>
                                </a:rPr>
                                <m:t>​</m:t>
                              </m:r>
                            </m:e>
                          </m:func>
                          <m:d>
                            <m:dPr>
                              <m:begChr m:val="["/>
                              <m:endChr m:val="]"/>
                              <m:ctrlPr>
                                <a:rPr lang="en-US" sz="1400" i="1" smtClean="0">
                                  <a:solidFill>
                                    <a:srgbClr val="0070C0"/>
                                  </a:solidFill>
                                  <a:latin typeface="Cambria Math" panose="02040503050406030204" pitchFamily="18" charset="0"/>
                                </a:rPr>
                              </m:ctrlPr>
                            </m:dPr>
                            <m:e>
                              <m:r>
                                <a:rPr lang="en-US" sz="1400" i="1" smtClean="0">
                                  <a:solidFill>
                                    <a:srgbClr val="0070C0"/>
                                  </a:solidFill>
                                  <a:latin typeface="Cambria Math" panose="02040503050406030204" pitchFamily="18" charset="0"/>
                                </a:rPr>
                                <m:t>−</m:t>
                              </m:r>
                              <m:r>
                                <a:rPr lang="en-US" sz="1400" i="1" smtClean="0">
                                  <a:solidFill>
                                    <a:srgbClr val="0070C0"/>
                                  </a:solidFill>
                                  <a:latin typeface="Cambria Math" panose="02040503050406030204" pitchFamily="18" charset="0"/>
                                </a:rPr>
                                <m:t>𝑗</m:t>
                              </m:r>
                              <m:f>
                                <m:fPr>
                                  <m:ctrlPr>
                                    <a:rPr lang="en-US" sz="1400" i="1" smtClean="0">
                                      <a:solidFill>
                                        <a:srgbClr val="0070C0"/>
                                      </a:solidFill>
                                      <a:latin typeface="Cambria Math" panose="02040503050406030204" pitchFamily="18" charset="0"/>
                                    </a:rPr>
                                  </m:ctrlPr>
                                </m:fPr>
                                <m:num>
                                  <m:r>
                                    <a:rPr lang="en-US" sz="1400" i="1" smtClean="0">
                                      <a:solidFill>
                                        <a:srgbClr val="0070C0"/>
                                      </a:solidFill>
                                      <a:latin typeface="Cambria Math" panose="02040503050406030204" pitchFamily="18" charset="0"/>
                                    </a:rPr>
                                    <m:t>4</m:t>
                                  </m:r>
                                  <m:r>
                                    <a:rPr lang="en-US" sz="1400" i="1" smtClean="0">
                                      <a:solidFill>
                                        <a:srgbClr val="0070C0"/>
                                      </a:solidFill>
                                      <a:latin typeface="Cambria Math" panose="02040503050406030204" pitchFamily="18" charset="0"/>
                                    </a:rPr>
                                    <m:t>𝜋</m:t>
                                  </m:r>
                                  <m:r>
                                    <a:rPr lang="en-US" sz="1400" i="1" smtClean="0">
                                      <a:solidFill>
                                        <a:srgbClr val="0070C0"/>
                                      </a:solidFill>
                                      <a:latin typeface="Cambria Math" panose="02040503050406030204" pitchFamily="18" charset="0"/>
                                    </a:rPr>
                                    <m:t>𝑓</m:t>
                                  </m:r>
                                </m:num>
                                <m:den>
                                  <m:r>
                                    <a:rPr lang="en-US" sz="1400" i="1" smtClean="0">
                                      <a:solidFill>
                                        <a:srgbClr val="0070C0"/>
                                      </a:solidFill>
                                      <a:latin typeface="Cambria Math" panose="02040503050406030204" pitchFamily="18" charset="0"/>
                                    </a:rPr>
                                    <m:t>𝑐</m:t>
                                  </m:r>
                                </m:den>
                              </m:f>
                              <m:d>
                                <m:dPr>
                                  <m:ctrlPr>
                                    <a:rPr lang="en-US" sz="1400" i="1" smtClean="0">
                                      <a:solidFill>
                                        <a:srgbClr val="0070C0"/>
                                      </a:solidFill>
                                      <a:latin typeface="Cambria Math" panose="02040503050406030204" pitchFamily="18" charset="0"/>
                                    </a:rPr>
                                  </m:ctrlPr>
                                </m:dPr>
                                <m:e>
                                  <m:sSub>
                                    <m:sSubPr>
                                      <m:ctrlPr>
                                        <a:rPr lang="en-US" sz="1400" i="1" smtClean="0">
                                          <a:solidFill>
                                            <a:srgbClr val="0070C0"/>
                                          </a:solidFill>
                                          <a:latin typeface="Cambria Math" panose="02040503050406030204" pitchFamily="18" charset="0"/>
                                        </a:rPr>
                                      </m:ctrlPr>
                                    </m:sSubPr>
                                    <m:e>
                                      <m:r>
                                        <a:rPr lang="en-US" sz="1400" i="1" smtClean="0">
                                          <a:solidFill>
                                            <a:srgbClr val="0070C0"/>
                                          </a:solidFill>
                                          <a:latin typeface="Cambria Math" panose="02040503050406030204" pitchFamily="18" charset="0"/>
                                        </a:rPr>
                                        <m:t>𝑥</m:t>
                                      </m:r>
                                    </m:e>
                                    <m:sub>
                                      <m:r>
                                        <a:rPr lang="en-US" sz="1400" i="1" smtClean="0">
                                          <a:solidFill>
                                            <a:srgbClr val="0070C0"/>
                                          </a:solidFill>
                                          <a:latin typeface="Cambria Math" panose="02040503050406030204" pitchFamily="18" charset="0"/>
                                        </a:rPr>
                                        <m:t>𝑘</m:t>
                                      </m:r>
                                    </m:sub>
                                  </m:sSub>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cos</m:t>
                                      </m:r>
                                    </m:fName>
                                    <m:e>
                                      <m:r>
                                        <a:rPr lang="en-US" sz="1400" i="1" smtClean="0">
                                          <a:solidFill>
                                            <a:srgbClr val="0070C0"/>
                                          </a:solidFill>
                                          <a:latin typeface="Cambria Math" panose="02040503050406030204" pitchFamily="18" charset="0"/>
                                        </a:rPr>
                                        <m:t>𝜓</m:t>
                                      </m:r>
                                    </m:e>
                                  </m:func>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cos</m:t>
                                      </m:r>
                                    </m:fName>
                                    <m:e>
                                      <m:r>
                                        <a:rPr lang="en-US" sz="1400" i="1" smtClean="0">
                                          <a:solidFill>
                                            <a:srgbClr val="0070C0"/>
                                          </a:solidFill>
                                          <a:latin typeface="Cambria Math" panose="02040503050406030204" pitchFamily="18" charset="0"/>
                                        </a:rPr>
                                        <m:t>𝜑</m:t>
                                      </m:r>
                                    </m:e>
                                  </m:func>
                                  <m:r>
                                    <a:rPr lang="en-US" sz="1400" i="1" smtClean="0">
                                      <a:solidFill>
                                        <a:srgbClr val="0070C0"/>
                                      </a:solidFill>
                                      <a:latin typeface="Cambria Math" panose="02040503050406030204" pitchFamily="18" charset="0"/>
                                    </a:rPr>
                                    <m:t>+</m:t>
                                  </m:r>
                                  <m:sSub>
                                    <m:sSubPr>
                                      <m:ctrlPr>
                                        <a:rPr lang="en-US" sz="1400" i="1" smtClean="0">
                                          <a:solidFill>
                                            <a:srgbClr val="0070C0"/>
                                          </a:solidFill>
                                          <a:latin typeface="Cambria Math" panose="02040503050406030204" pitchFamily="18" charset="0"/>
                                        </a:rPr>
                                      </m:ctrlPr>
                                    </m:sSubPr>
                                    <m:e>
                                      <m:r>
                                        <a:rPr lang="en-US" sz="1400" i="1" smtClean="0">
                                          <a:solidFill>
                                            <a:srgbClr val="0070C0"/>
                                          </a:solidFill>
                                          <a:latin typeface="Cambria Math" panose="02040503050406030204" pitchFamily="18" charset="0"/>
                                        </a:rPr>
                                        <m:t>𝑦</m:t>
                                      </m:r>
                                    </m:e>
                                    <m:sub>
                                      <m:r>
                                        <a:rPr lang="en-US" sz="1400" i="1" smtClean="0">
                                          <a:solidFill>
                                            <a:srgbClr val="0070C0"/>
                                          </a:solidFill>
                                          <a:latin typeface="Cambria Math" panose="02040503050406030204" pitchFamily="18" charset="0"/>
                                        </a:rPr>
                                        <m:t>𝑘</m:t>
                                      </m:r>
                                    </m:sub>
                                  </m:sSub>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cos</m:t>
                                      </m:r>
                                    </m:fName>
                                    <m:e>
                                      <m:r>
                                        <a:rPr lang="en-US" sz="1400" i="1" smtClean="0">
                                          <a:solidFill>
                                            <a:srgbClr val="0070C0"/>
                                          </a:solidFill>
                                          <a:latin typeface="Cambria Math" panose="02040503050406030204" pitchFamily="18" charset="0"/>
                                        </a:rPr>
                                        <m:t>𝜓</m:t>
                                      </m:r>
                                    </m:e>
                                  </m:func>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sin</m:t>
                                      </m:r>
                                    </m:fName>
                                    <m:e>
                                      <m:r>
                                        <a:rPr lang="en-US" sz="1400" i="1" smtClean="0">
                                          <a:solidFill>
                                            <a:srgbClr val="0070C0"/>
                                          </a:solidFill>
                                          <a:latin typeface="Cambria Math" panose="02040503050406030204" pitchFamily="18" charset="0"/>
                                        </a:rPr>
                                        <m:t>𝜑</m:t>
                                      </m:r>
                                    </m:e>
                                  </m:func>
                                  <m:r>
                                    <a:rPr lang="en-US" sz="1400" i="1" smtClean="0">
                                      <a:solidFill>
                                        <a:srgbClr val="0070C0"/>
                                      </a:solidFill>
                                      <a:latin typeface="Cambria Math" panose="02040503050406030204" pitchFamily="18" charset="0"/>
                                    </a:rPr>
                                    <m:t>+</m:t>
                                  </m:r>
                                  <m:sSub>
                                    <m:sSubPr>
                                      <m:ctrlPr>
                                        <a:rPr lang="en-US" sz="1400" i="1" smtClean="0">
                                          <a:solidFill>
                                            <a:srgbClr val="0070C0"/>
                                          </a:solidFill>
                                          <a:latin typeface="Cambria Math" panose="02040503050406030204" pitchFamily="18" charset="0"/>
                                        </a:rPr>
                                      </m:ctrlPr>
                                    </m:sSubPr>
                                    <m:e>
                                      <m:r>
                                        <a:rPr lang="en-US" sz="1400" i="1" smtClean="0">
                                          <a:solidFill>
                                            <a:srgbClr val="0070C0"/>
                                          </a:solidFill>
                                          <a:latin typeface="Cambria Math" panose="02040503050406030204" pitchFamily="18" charset="0"/>
                                        </a:rPr>
                                        <m:t>𝑧</m:t>
                                      </m:r>
                                    </m:e>
                                    <m:sub>
                                      <m:r>
                                        <a:rPr lang="en-US" sz="1400" i="1" smtClean="0">
                                          <a:solidFill>
                                            <a:srgbClr val="0070C0"/>
                                          </a:solidFill>
                                          <a:latin typeface="Cambria Math" panose="02040503050406030204" pitchFamily="18" charset="0"/>
                                        </a:rPr>
                                        <m:t>𝑘</m:t>
                                      </m:r>
                                    </m:sub>
                                  </m:sSub>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sin</m:t>
                                      </m:r>
                                    </m:fName>
                                    <m:e>
                                      <m:r>
                                        <a:rPr lang="en-US" sz="1400" i="1" smtClean="0">
                                          <a:solidFill>
                                            <a:srgbClr val="0070C0"/>
                                          </a:solidFill>
                                          <a:latin typeface="Cambria Math" panose="02040503050406030204" pitchFamily="18" charset="0"/>
                                        </a:rPr>
                                        <m:t>𝜓</m:t>
                                      </m:r>
                                    </m:e>
                                  </m:func>
                                </m:e>
                              </m:d>
                            </m:e>
                          </m:d>
                        </m:e>
                        <m:e>
                          <m:r>
                            <a:rPr lang="en-US" sz="1400" i="1" smtClean="0">
                              <a:solidFill>
                                <a:srgbClr val="0070C0"/>
                              </a:solidFill>
                              <a:latin typeface="Cambria Math" panose="02040503050406030204" pitchFamily="18" charset="0"/>
                            </a:rPr>
                            <m:t>× </m:t>
                          </m:r>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sinc</m:t>
                              </m:r>
                            </m:fName>
                            <m:e>
                              <m:r>
                                <a:rPr lang="en-US" sz="1400" i="1" smtClean="0">
                                  <a:solidFill>
                                    <a:srgbClr val="0070C0"/>
                                  </a:solidFill>
                                  <a:latin typeface="Cambria Math" panose="02040503050406030204" pitchFamily="18" charset="0"/>
                                </a:rPr>
                                <m:t>​</m:t>
                              </m:r>
                            </m:e>
                          </m:func>
                          <m:d>
                            <m:dPr>
                              <m:begChr m:val="["/>
                              <m:endChr m:val="]"/>
                              <m:ctrlPr>
                                <a:rPr lang="en-US" sz="1400" i="1" smtClean="0">
                                  <a:solidFill>
                                    <a:srgbClr val="0070C0"/>
                                  </a:solidFill>
                                  <a:latin typeface="Cambria Math" panose="02040503050406030204" pitchFamily="18" charset="0"/>
                                </a:rPr>
                              </m:ctrlPr>
                            </m:dPr>
                            <m:e>
                              <m:f>
                                <m:fPr>
                                  <m:ctrlPr>
                                    <a:rPr lang="en-US" sz="1400" i="1" smtClean="0">
                                      <a:solidFill>
                                        <a:srgbClr val="0070C0"/>
                                      </a:solidFill>
                                      <a:latin typeface="Cambria Math" panose="02040503050406030204" pitchFamily="18" charset="0"/>
                                    </a:rPr>
                                  </m:ctrlPr>
                                </m:fPr>
                                <m:num>
                                  <m:r>
                                    <a:rPr lang="en-US" sz="1400" i="1" smtClean="0">
                                      <a:solidFill>
                                        <a:srgbClr val="0070C0"/>
                                      </a:solidFill>
                                      <a:latin typeface="Cambria Math" panose="02040503050406030204" pitchFamily="18" charset="0"/>
                                    </a:rPr>
                                    <m:t>2</m:t>
                                  </m:r>
                                  <m:r>
                                    <a:rPr lang="en-US" sz="1400" i="1" smtClean="0">
                                      <a:solidFill>
                                        <a:srgbClr val="0070C0"/>
                                      </a:solidFill>
                                      <a:latin typeface="Cambria Math" panose="02040503050406030204" pitchFamily="18" charset="0"/>
                                    </a:rPr>
                                    <m:t>𝜋</m:t>
                                  </m:r>
                                  <m:r>
                                    <a:rPr lang="en-US" sz="1400" i="1" smtClean="0">
                                      <a:solidFill>
                                        <a:srgbClr val="0070C0"/>
                                      </a:solidFill>
                                      <a:latin typeface="Cambria Math" panose="02040503050406030204" pitchFamily="18" charset="0"/>
                                    </a:rPr>
                                    <m:t>𝑓</m:t>
                                  </m:r>
                                </m:num>
                                <m:den>
                                  <m:r>
                                    <a:rPr lang="en-US" sz="1400" i="1" smtClean="0">
                                      <a:solidFill>
                                        <a:srgbClr val="0070C0"/>
                                      </a:solidFill>
                                      <a:latin typeface="Cambria Math" panose="02040503050406030204" pitchFamily="18" charset="0"/>
                                    </a:rPr>
                                    <m:t>𝑐</m:t>
                                  </m:r>
                                </m:den>
                              </m:f>
                              <m:sSub>
                                <m:sSubPr>
                                  <m:ctrlPr>
                                    <a:rPr lang="en-US" sz="1400" i="1" smtClean="0">
                                      <a:solidFill>
                                        <a:srgbClr val="0070C0"/>
                                      </a:solidFill>
                                      <a:latin typeface="Cambria Math" panose="02040503050406030204" pitchFamily="18" charset="0"/>
                                    </a:rPr>
                                  </m:ctrlPr>
                                </m:sSubPr>
                                <m:e>
                                  <m:r>
                                    <a:rPr lang="en-US" sz="1400" i="1" smtClean="0">
                                      <a:solidFill>
                                        <a:srgbClr val="0070C0"/>
                                      </a:solidFill>
                                      <a:latin typeface="Cambria Math" panose="02040503050406030204" pitchFamily="18" charset="0"/>
                                    </a:rPr>
                                    <m:t>𝐿</m:t>
                                  </m:r>
                                </m:e>
                                <m:sub>
                                  <m:r>
                                    <a:rPr lang="en-US" sz="1400" i="1" smtClean="0">
                                      <a:solidFill>
                                        <a:srgbClr val="0070C0"/>
                                      </a:solidFill>
                                      <a:latin typeface="Cambria Math" panose="02040503050406030204" pitchFamily="18" charset="0"/>
                                    </a:rPr>
                                    <m:t>𝑘</m:t>
                                  </m:r>
                                </m:sub>
                              </m:sSub>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sin</m:t>
                                  </m:r>
                                </m:fName>
                                <m:e>
                                  <m:d>
                                    <m:dPr>
                                      <m:ctrlPr>
                                        <a:rPr lang="en-US" sz="1400" i="1" smtClean="0">
                                          <a:solidFill>
                                            <a:srgbClr val="0070C0"/>
                                          </a:solidFill>
                                          <a:latin typeface="Cambria Math" panose="02040503050406030204" pitchFamily="18" charset="0"/>
                                        </a:rPr>
                                      </m:ctrlPr>
                                    </m:dPr>
                                    <m:e>
                                      <m:r>
                                        <a:rPr lang="en-US" sz="1400" i="1" smtClean="0">
                                          <a:solidFill>
                                            <a:srgbClr val="0070C0"/>
                                          </a:solidFill>
                                          <a:latin typeface="Cambria Math" panose="02040503050406030204" pitchFamily="18" charset="0"/>
                                        </a:rPr>
                                        <m:t>𝜑</m:t>
                                      </m:r>
                                      <m:r>
                                        <a:rPr lang="en-US" sz="1400" i="1" smtClean="0">
                                          <a:solidFill>
                                            <a:srgbClr val="0070C0"/>
                                          </a:solidFill>
                                          <a:latin typeface="Cambria Math" panose="02040503050406030204" pitchFamily="18" charset="0"/>
                                        </a:rPr>
                                        <m:t>−</m:t>
                                      </m:r>
                                      <m:sSub>
                                        <m:sSubPr>
                                          <m:ctrlPr>
                                            <a:rPr lang="en-US" sz="1400" i="1" smtClean="0">
                                              <a:solidFill>
                                                <a:srgbClr val="0070C0"/>
                                              </a:solidFill>
                                              <a:latin typeface="Cambria Math" panose="02040503050406030204" pitchFamily="18" charset="0"/>
                                            </a:rPr>
                                          </m:ctrlPr>
                                        </m:sSubPr>
                                        <m:e>
                                          <m:acc>
                                            <m:accPr>
                                              <m:chr m:val="̅"/>
                                              <m:ctrlPr>
                                                <a:rPr lang="en-US" sz="1400" i="1" smtClean="0">
                                                  <a:solidFill>
                                                    <a:srgbClr val="0070C0"/>
                                                  </a:solidFill>
                                                  <a:latin typeface="Cambria Math" panose="02040503050406030204" pitchFamily="18" charset="0"/>
                                                </a:rPr>
                                              </m:ctrlPr>
                                            </m:accPr>
                                            <m:e>
                                              <m:r>
                                                <a:rPr lang="en-US" sz="1400" i="1" smtClean="0">
                                                  <a:solidFill>
                                                    <a:srgbClr val="0070C0"/>
                                                  </a:solidFill>
                                                  <a:latin typeface="Cambria Math" panose="02040503050406030204" pitchFamily="18" charset="0"/>
                                                </a:rPr>
                                                <m:t>𝜑</m:t>
                                              </m:r>
                                            </m:e>
                                          </m:acc>
                                        </m:e>
                                        <m:sub>
                                          <m:r>
                                            <a:rPr lang="en-US" sz="1400" i="1" smtClean="0">
                                              <a:solidFill>
                                                <a:srgbClr val="0070C0"/>
                                              </a:solidFill>
                                              <a:latin typeface="Cambria Math" panose="02040503050406030204" pitchFamily="18" charset="0"/>
                                            </a:rPr>
                                            <m:t>𝑘</m:t>
                                          </m:r>
                                        </m:sub>
                                      </m:sSub>
                                    </m:e>
                                  </m:d>
                                </m:e>
                              </m:func>
                            </m:e>
                          </m:d>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exp</m:t>
                              </m:r>
                            </m:fName>
                            <m:e>
                              <m:r>
                                <a:rPr lang="en-US" sz="1400" i="1" smtClean="0">
                                  <a:solidFill>
                                    <a:srgbClr val="0070C0"/>
                                  </a:solidFill>
                                  <a:latin typeface="Cambria Math" panose="02040503050406030204" pitchFamily="18" charset="0"/>
                                </a:rPr>
                                <m:t>​</m:t>
                              </m:r>
                            </m:e>
                          </m:func>
                          <m:d>
                            <m:dPr>
                              <m:begChr m:val="["/>
                              <m:endChr m:val="]"/>
                              <m:ctrlPr>
                                <a:rPr lang="en-US" sz="1400" i="1" smtClean="0">
                                  <a:solidFill>
                                    <a:srgbClr val="0070C0"/>
                                  </a:solidFill>
                                  <a:latin typeface="Cambria Math" panose="02040503050406030204" pitchFamily="18" charset="0"/>
                                </a:rPr>
                              </m:ctrlPr>
                            </m:dPr>
                            <m:e>
                              <m:r>
                                <a:rPr lang="en-US" sz="1400" i="1" smtClean="0">
                                  <a:solidFill>
                                    <a:srgbClr val="0070C0"/>
                                  </a:solidFill>
                                  <a:latin typeface="Cambria Math" panose="02040503050406030204" pitchFamily="18" charset="0"/>
                                </a:rPr>
                                <m:t>−</m:t>
                              </m:r>
                              <m:f>
                                <m:fPr>
                                  <m:ctrlPr>
                                    <a:rPr lang="en-US" sz="1400" i="1" smtClean="0">
                                      <a:solidFill>
                                        <a:srgbClr val="0070C0"/>
                                      </a:solidFill>
                                      <a:latin typeface="Cambria Math" panose="02040503050406030204" pitchFamily="18" charset="0"/>
                                    </a:rPr>
                                  </m:ctrlPr>
                                </m:fPr>
                                <m:num>
                                  <m:r>
                                    <a:rPr lang="en-US" sz="1400" i="1" smtClean="0">
                                      <a:solidFill>
                                        <a:srgbClr val="0070C0"/>
                                      </a:solidFill>
                                      <a:latin typeface="Cambria Math" panose="02040503050406030204" pitchFamily="18" charset="0"/>
                                    </a:rPr>
                                    <m:t>2</m:t>
                                  </m:r>
                                  <m:r>
                                    <a:rPr lang="en-US" sz="1400" i="1" smtClean="0">
                                      <a:solidFill>
                                        <a:srgbClr val="0070C0"/>
                                      </a:solidFill>
                                      <a:latin typeface="Cambria Math" panose="02040503050406030204" pitchFamily="18" charset="0"/>
                                    </a:rPr>
                                    <m:t>𝜋</m:t>
                                  </m:r>
                                  <m:r>
                                    <a:rPr lang="en-US" sz="1400" i="1" smtClean="0">
                                      <a:solidFill>
                                        <a:srgbClr val="0070C0"/>
                                      </a:solidFill>
                                      <a:latin typeface="Cambria Math" panose="02040503050406030204" pitchFamily="18" charset="0"/>
                                    </a:rPr>
                                    <m:t>𝑓</m:t>
                                  </m:r>
                                </m:num>
                                <m:den>
                                  <m:r>
                                    <a:rPr lang="en-US" sz="1400" i="1" smtClean="0">
                                      <a:solidFill>
                                        <a:srgbClr val="0070C0"/>
                                      </a:solidFill>
                                      <a:latin typeface="Cambria Math" panose="02040503050406030204" pitchFamily="18" charset="0"/>
                                    </a:rPr>
                                    <m:t>𝑐</m:t>
                                  </m:r>
                                </m:den>
                              </m:f>
                              <m:sSub>
                                <m:sSubPr>
                                  <m:ctrlPr>
                                    <a:rPr lang="en-US" sz="1400" i="1" smtClean="0">
                                      <a:solidFill>
                                        <a:srgbClr val="0070C0"/>
                                      </a:solidFill>
                                      <a:latin typeface="Cambria Math" panose="02040503050406030204" pitchFamily="18" charset="0"/>
                                    </a:rPr>
                                  </m:ctrlPr>
                                </m:sSubPr>
                                <m:e>
                                  <m:r>
                                    <a:rPr lang="en-US" sz="1400" i="1" smtClean="0">
                                      <a:solidFill>
                                        <a:srgbClr val="0070C0"/>
                                      </a:solidFill>
                                      <a:latin typeface="Cambria Math" panose="02040503050406030204" pitchFamily="18" charset="0"/>
                                    </a:rPr>
                                    <m:t>𝛾</m:t>
                                  </m:r>
                                </m:e>
                                <m:sub>
                                  <m:r>
                                    <a:rPr lang="en-US" sz="1400" i="1" smtClean="0">
                                      <a:solidFill>
                                        <a:srgbClr val="0070C0"/>
                                      </a:solidFill>
                                      <a:latin typeface="Cambria Math" panose="02040503050406030204" pitchFamily="18" charset="0"/>
                                    </a:rPr>
                                    <m:t>𝑘</m:t>
                                  </m:r>
                                </m:sub>
                              </m:sSub>
                              <m:d>
                                <m:dPr>
                                  <m:begChr m:val="|"/>
                                  <m:endChr m:val="|"/>
                                  <m:ctrlPr>
                                    <a:rPr lang="en-US" sz="1400" i="1" smtClean="0">
                                      <a:solidFill>
                                        <a:srgbClr val="0070C0"/>
                                      </a:solidFill>
                                      <a:latin typeface="Cambria Math" panose="02040503050406030204" pitchFamily="18" charset="0"/>
                                    </a:rPr>
                                  </m:ctrlPr>
                                </m:dPr>
                                <m:e>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sin</m:t>
                                      </m:r>
                                    </m:fName>
                                    <m:e>
                                      <m:d>
                                        <m:dPr>
                                          <m:ctrlPr>
                                            <a:rPr lang="en-US" sz="1400" i="1" smtClean="0">
                                              <a:solidFill>
                                                <a:srgbClr val="0070C0"/>
                                              </a:solidFill>
                                              <a:latin typeface="Cambria Math" panose="02040503050406030204" pitchFamily="18" charset="0"/>
                                            </a:rPr>
                                          </m:ctrlPr>
                                        </m:dPr>
                                        <m:e>
                                          <m:r>
                                            <a:rPr lang="en-US" sz="1400" i="1" smtClean="0">
                                              <a:solidFill>
                                                <a:srgbClr val="0070C0"/>
                                              </a:solidFill>
                                              <a:latin typeface="Cambria Math" panose="02040503050406030204" pitchFamily="18" charset="0"/>
                                            </a:rPr>
                                            <m:t>𝜑</m:t>
                                          </m:r>
                                          <m:r>
                                            <a:rPr lang="en-US" sz="1400" i="1" smtClean="0">
                                              <a:solidFill>
                                                <a:srgbClr val="0070C0"/>
                                              </a:solidFill>
                                              <a:latin typeface="Cambria Math" panose="02040503050406030204" pitchFamily="18" charset="0"/>
                                            </a:rPr>
                                            <m:t>−</m:t>
                                          </m:r>
                                          <m:sSub>
                                            <m:sSubPr>
                                              <m:ctrlPr>
                                                <a:rPr lang="en-US" sz="1400" i="1" smtClean="0">
                                                  <a:solidFill>
                                                    <a:srgbClr val="0070C0"/>
                                                  </a:solidFill>
                                                  <a:latin typeface="Cambria Math" panose="02040503050406030204" pitchFamily="18" charset="0"/>
                                                </a:rPr>
                                              </m:ctrlPr>
                                            </m:sSubPr>
                                            <m:e>
                                              <m:acc>
                                                <m:accPr>
                                                  <m:chr m:val="̅"/>
                                                  <m:ctrlPr>
                                                    <a:rPr lang="en-US" sz="1400" i="1" smtClean="0">
                                                      <a:solidFill>
                                                        <a:srgbClr val="0070C0"/>
                                                      </a:solidFill>
                                                      <a:latin typeface="Cambria Math" panose="02040503050406030204" pitchFamily="18" charset="0"/>
                                                    </a:rPr>
                                                  </m:ctrlPr>
                                                </m:accPr>
                                                <m:e>
                                                  <m:r>
                                                    <a:rPr lang="en-US" sz="1400" i="1" smtClean="0">
                                                      <a:solidFill>
                                                        <a:srgbClr val="0070C0"/>
                                                      </a:solidFill>
                                                      <a:latin typeface="Cambria Math" panose="02040503050406030204" pitchFamily="18" charset="0"/>
                                                    </a:rPr>
                                                    <m:t>𝜑</m:t>
                                                  </m:r>
                                                </m:e>
                                              </m:acc>
                                            </m:e>
                                            <m:sub>
                                              <m:r>
                                                <a:rPr lang="en-US" sz="1400" i="1" smtClean="0">
                                                  <a:solidFill>
                                                    <a:srgbClr val="0070C0"/>
                                                  </a:solidFill>
                                                  <a:latin typeface="Cambria Math" panose="02040503050406030204" pitchFamily="18" charset="0"/>
                                                </a:rPr>
                                                <m:t>𝑘</m:t>
                                              </m:r>
                                            </m:sub>
                                          </m:sSub>
                                        </m:e>
                                      </m:d>
                                    </m:e>
                                  </m:func>
                                </m:e>
                              </m:d>
                            </m:e>
                          </m:d>
                        </m:e>
                        <m:e>
                          <m:r>
                            <a:rPr lang="en-US" sz="1400" i="1" smtClean="0">
                              <a:solidFill>
                                <a:srgbClr val="0070C0"/>
                              </a:solidFill>
                              <a:latin typeface="Cambria Math" panose="02040503050406030204" pitchFamily="18" charset="0"/>
                            </a:rPr>
                            <m:t>× </m:t>
                          </m:r>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sinc</m:t>
                              </m:r>
                            </m:fName>
                            <m:e>
                              <m:r>
                                <a:rPr lang="en-US" sz="1400" i="1" smtClean="0">
                                  <a:solidFill>
                                    <a:srgbClr val="0070C0"/>
                                  </a:solidFill>
                                  <a:latin typeface="Cambria Math" panose="02040503050406030204" pitchFamily="18" charset="0"/>
                                </a:rPr>
                                <m:t>​</m:t>
                              </m:r>
                            </m:e>
                          </m:func>
                          <m:d>
                            <m:dPr>
                              <m:begChr m:val="["/>
                              <m:endChr m:val="]"/>
                              <m:ctrlPr>
                                <a:rPr lang="en-US" sz="1400" i="1" smtClean="0">
                                  <a:solidFill>
                                    <a:srgbClr val="0070C0"/>
                                  </a:solidFill>
                                  <a:latin typeface="Cambria Math" panose="02040503050406030204" pitchFamily="18" charset="0"/>
                                </a:rPr>
                              </m:ctrlPr>
                            </m:dPr>
                            <m:e>
                              <m:f>
                                <m:fPr>
                                  <m:ctrlPr>
                                    <a:rPr lang="en-US" sz="1400" i="1" smtClean="0">
                                      <a:solidFill>
                                        <a:srgbClr val="0070C0"/>
                                      </a:solidFill>
                                      <a:latin typeface="Cambria Math" panose="02040503050406030204" pitchFamily="18" charset="0"/>
                                    </a:rPr>
                                  </m:ctrlPr>
                                </m:fPr>
                                <m:num>
                                  <m:r>
                                    <a:rPr lang="en-US" sz="1400" i="1" smtClean="0">
                                      <a:solidFill>
                                        <a:srgbClr val="0070C0"/>
                                      </a:solidFill>
                                      <a:latin typeface="Cambria Math" panose="02040503050406030204" pitchFamily="18" charset="0"/>
                                    </a:rPr>
                                    <m:t>2</m:t>
                                  </m:r>
                                  <m:r>
                                    <a:rPr lang="en-US" sz="1400" i="1" smtClean="0">
                                      <a:solidFill>
                                        <a:srgbClr val="0070C0"/>
                                      </a:solidFill>
                                      <a:latin typeface="Cambria Math" panose="02040503050406030204" pitchFamily="18" charset="0"/>
                                    </a:rPr>
                                    <m:t>𝜋</m:t>
                                  </m:r>
                                  <m:r>
                                    <a:rPr lang="en-US" sz="1400" i="1" smtClean="0">
                                      <a:solidFill>
                                        <a:srgbClr val="0070C0"/>
                                      </a:solidFill>
                                      <a:latin typeface="Cambria Math" panose="02040503050406030204" pitchFamily="18" charset="0"/>
                                    </a:rPr>
                                    <m:t>𝑓</m:t>
                                  </m:r>
                                </m:num>
                                <m:den>
                                  <m:r>
                                    <a:rPr lang="en-US" sz="1400" i="1" smtClean="0">
                                      <a:solidFill>
                                        <a:srgbClr val="0070C0"/>
                                      </a:solidFill>
                                      <a:latin typeface="Cambria Math" panose="02040503050406030204" pitchFamily="18" charset="0"/>
                                    </a:rPr>
                                    <m:t>𝑐</m:t>
                                  </m:r>
                                </m:den>
                              </m:f>
                              <m:sSubSup>
                                <m:sSubSupPr>
                                  <m:ctrlPr>
                                    <a:rPr lang="en-US" sz="1400" i="1" smtClean="0">
                                      <a:solidFill>
                                        <a:srgbClr val="0070C0"/>
                                      </a:solidFill>
                                      <a:latin typeface="Cambria Math" panose="02040503050406030204" pitchFamily="18" charset="0"/>
                                    </a:rPr>
                                  </m:ctrlPr>
                                </m:sSubSupPr>
                                <m:e>
                                  <m:r>
                                    <a:rPr lang="en-US" sz="1400" i="1" smtClean="0">
                                      <a:solidFill>
                                        <a:srgbClr val="0070C0"/>
                                      </a:solidFill>
                                      <a:latin typeface="Cambria Math" panose="02040503050406030204" pitchFamily="18" charset="0"/>
                                    </a:rPr>
                                    <m:t>𝐿</m:t>
                                  </m:r>
                                </m:e>
                                <m:sub>
                                  <m:r>
                                    <a:rPr lang="en-US" sz="1400" i="1" smtClean="0">
                                      <a:solidFill>
                                        <a:srgbClr val="0070C0"/>
                                      </a:solidFill>
                                      <a:latin typeface="Cambria Math" panose="02040503050406030204" pitchFamily="18" charset="0"/>
                                    </a:rPr>
                                    <m:t>𝑘</m:t>
                                  </m:r>
                                </m:sub>
                                <m:sup>
                                  <m:r>
                                    <a:rPr lang="en-US" sz="1400" i="1" smtClean="0">
                                      <a:solidFill>
                                        <a:srgbClr val="0070C0"/>
                                      </a:solidFill>
                                      <a:latin typeface="Cambria Math" panose="02040503050406030204" pitchFamily="18" charset="0"/>
                                    </a:rPr>
                                    <m:t>𝜓</m:t>
                                  </m:r>
                                </m:sup>
                              </m:sSubSup>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sin</m:t>
                                  </m:r>
                                </m:fName>
                                <m:e>
                                  <m:d>
                                    <m:dPr>
                                      <m:ctrlPr>
                                        <a:rPr lang="en-US" sz="1400" i="1" smtClean="0">
                                          <a:solidFill>
                                            <a:srgbClr val="0070C0"/>
                                          </a:solidFill>
                                          <a:latin typeface="Cambria Math" panose="02040503050406030204" pitchFamily="18" charset="0"/>
                                        </a:rPr>
                                      </m:ctrlPr>
                                    </m:dPr>
                                    <m:e>
                                      <m:r>
                                        <a:rPr lang="en-US" sz="1400" i="1" smtClean="0">
                                          <a:solidFill>
                                            <a:srgbClr val="0070C0"/>
                                          </a:solidFill>
                                          <a:latin typeface="Cambria Math" panose="02040503050406030204" pitchFamily="18" charset="0"/>
                                        </a:rPr>
                                        <m:t>𝜓</m:t>
                                      </m:r>
                                      <m:r>
                                        <a:rPr lang="en-US" sz="1400" i="1" smtClean="0">
                                          <a:solidFill>
                                            <a:srgbClr val="0070C0"/>
                                          </a:solidFill>
                                          <a:latin typeface="Cambria Math" panose="02040503050406030204" pitchFamily="18" charset="0"/>
                                        </a:rPr>
                                        <m:t>−</m:t>
                                      </m:r>
                                      <m:sSub>
                                        <m:sSubPr>
                                          <m:ctrlPr>
                                            <a:rPr lang="en-US" sz="1400" i="1" smtClean="0">
                                              <a:solidFill>
                                                <a:srgbClr val="0070C0"/>
                                              </a:solidFill>
                                              <a:latin typeface="Cambria Math" panose="02040503050406030204" pitchFamily="18" charset="0"/>
                                            </a:rPr>
                                          </m:ctrlPr>
                                        </m:sSubPr>
                                        <m:e>
                                          <m:acc>
                                            <m:accPr>
                                              <m:chr m:val="̅"/>
                                              <m:ctrlPr>
                                                <a:rPr lang="en-US" sz="1400" i="1" smtClean="0">
                                                  <a:solidFill>
                                                    <a:srgbClr val="0070C0"/>
                                                  </a:solidFill>
                                                  <a:latin typeface="Cambria Math" panose="02040503050406030204" pitchFamily="18" charset="0"/>
                                                </a:rPr>
                                              </m:ctrlPr>
                                            </m:accPr>
                                            <m:e>
                                              <m:r>
                                                <a:rPr lang="en-US" sz="1400" i="1" smtClean="0">
                                                  <a:solidFill>
                                                    <a:srgbClr val="0070C0"/>
                                                  </a:solidFill>
                                                  <a:latin typeface="Cambria Math" panose="02040503050406030204" pitchFamily="18" charset="0"/>
                                                </a:rPr>
                                                <m:t>𝜓</m:t>
                                              </m:r>
                                            </m:e>
                                          </m:acc>
                                        </m:e>
                                        <m:sub>
                                          <m:r>
                                            <a:rPr lang="en-US" sz="1400" i="1" smtClean="0">
                                              <a:solidFill>
                                                <a:srgbClr val="0070C0"/>
                                              </a:solidFill>
                                              <a:latin typeface="Cambria Math" panose="02040503050406030204" pitchFamily="18" charset="0"/>
                                            </a:rPr>
                                            <m:t>𝑘</m:t>
                                          </m:r>
                                        </m:sub>
                                      </m:sSub>
                                    </m:e>
                                  </m:d>
                                </m:e>
                              </m:func>
                            </m:e>
                          </m:d>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exp</m:t>
                              </m:r>
                            </m:fName>
                            <m:e>
                              <m:r>
                                <a:rPr lang="en-US" sz="1400" i="1" smtClean="0">
                                  <a:solidFill>
                                    <a:srgbClr val="0070C0"/>
                                  </a:solidFill>
                                  <a:latin typeface="Cambria Math" panose="02040503050406030204" pitchFamily="18" charset="0"/>
                                </a:rPr>
                                <m:t>​</m:t>
                              </m:r>
                            </m:e>
                          </m:func>
                          <m:d>
                            <m:dPr>
                              <m:begChr m:val="["/>
                              <m:endChr m:val="]"/>
                              <m:ctrlPr>
                                <a:rPr lang="en-US" sz="1400" i="1" smtClean="0">
                                  <a:solidFill>
                                    <a:srgbClr val="0070C0"/>
                                  </a:solidFill>
                                  <a:latin typeface="Cambria Math" panose="02040503050406030204" pitchFamily="18" charset="0"/>
                                </a:rPr>
                              </m:ctrlPr>
                            </m:dPr>
                            <m:e>
                              <m:r>
                                <a:rPr lang="en-US" sz="1400" i="1" smtClean="0">
                                  <a:solidFill>
                                    <a:srgbClr val="0070C0"/>
                                  </a:solidFill>
                                  <a:latin typeface="Cambria Math" panose="02040503050406030204" pitchFamily="18" charset="0"/>
                                </a:rPr>
                                <m:t>−</m:t>
                              </m:r>
                              <m:f>
                                <m:fPr>
                                  <m:ctrlPr>
                                    <a:rPr lang="en-US" sz="1400" i="1" smtClean="0">
                                      <a:solidFill>
                                        <a:srgbClr val="0070C0"/>
                                      </a:solidFill>
                                      <a:latin typeface="Cambria Math" panose="02040503050406030204" pitchFamily="18" charset="0"/>
                                    </a:rPr>
                                  </m:ctrlPr>
                                </m:fPr>
                                <m:num>
                                  <m:r>
                                    <a:rPr lang="en-US" sz="1400" i="1" smtClean="0">
                                      <a:solidFill>
                                        <a:srgbClr val="0070C0"/>
                                      </a:solidFill>
                                      <a:latin typeface="Cambria Math" panose="02040503050406030204" pitchFamily="18" charset="0"/>
                                    </a:rPr>
                                    <m:t>2</m:t>
                                  </m:r>
                                  <m:r>
                                    <a:rPr lang="en-US" sz="1400" i="1" smtClean="0">
                                      <a:solidFill>
                                        <a:srgbClr val="0070C0"/>
                                      </a:solidFill>
                                      <a:latin typeface="Cambria Math" panose="02040503050406030204" pitchFamily="18" charset="0"/>
                                    </a:rPr>
                                    <m:t>𝜋</m:t>
                                  </m:r>
                                  <m:r>
                                    <a:rPr lang="en-US" sz="1400" i="1" smtClean="0">
                                      <a:solidFill>
                                        <a:srgbClr val="0070C0"/>
                                      </a:solidFill>
                                      <a:latin typeface="Cambria Math" panose="02040503050406030204" pitchFamily="18" charset="0"/>
                                    </a:rPr>
                                    <m:t>𝑓</m:t>
                                  </m:r>
                                </m:num>
                                <m:den>
                                  <m:r>
                                    <a:rPr lang="en-US" sz="1400" i="1" smtClean="0">
                                      <a:solidFill>
                                        <a:srgbClr val="0070C0"/>
                                      </a:solidFill>
                                      <a:latin typeface="Cambria Math" panose="02040503050406030204" pitchFamily="18" charset="0"/>
                                    </a:rPr>
                                    <m:t>𝑐</m:t>
                                  </m:r>
                                </m:den>
                              </m:f>
                              <m:sSubSup>
                                <m:sSubSupPr>
                                  <m:ctrlPr>
                                    <a:rPr lang="en-US" sz="1400" i="1" smtClean="0">
                                      <a:solidFill>
                                        <a:srgbClr val="0070C0"/>
                                      </a:solidFill>
                                      <a:latin typeface="Cambria Math" panose="02040503050406030204" pitchFamily="18" charset="0"/>
                                    </a:rPr>
                                  </m:ctrlPr>
                                </m:sSubSupPr>
                                <m:e>
                                  <m:r>
                                    <a:rPr lang="en-US" sz="1400" i="1" smtClean="0">
                                      <a:solidFill>
                                        <a:srgbClr val="0070C0"/>
                                      </a:solidFill>
                                      <a:latin typeface="Cambria Math" panose="02040503050406030204" pitchFamily="18" charset="0"/>
                                    </a:rPr>
                                    <m:t>𝛾</m:t>
                                  </m:r>
                                </m:e>
                                <m:sub>
                                  <m:r>
                                    <a:rPr lang="en-US" sz="1400" i="1" smtClean="0">
                                      <a:solidFill>
                                        <a:srgbClr val="0070C0"/>
                                      </a:solidFill>
                                      <a:latin typeface="Cambria Math" panose="02040503050406030204" pitchFamily="18" charset="0"/>
                                    </a:rPr>
                                    <m:t>𝑘</m:t>
                                  </m:r>
                                </m:sub>
                                <m:sup>
                                  <m:r>
                                    <a:rPr lang="en-US" sz="1400" i="1" smtClean="0">
                                      <a:solidFill>
                                        <a:srgbClr val="0070C0"/>
                                      </a:solidFill>
                                      <a:latin typeface="Cambria Math" panose="02040503050406030204" pitchFamily="18" charset="0"/>
                                    </a:rPr>
                                    <m:t>𝜓</m:t>
                                  </m:r>
                                </m:sup>
                              </m:sSubSup>
                              <m:d>
                                <m:dPr>
                                  <m:begChr m:val="|"/>
                                  <m:endChr m:val="|"/>
                                  <m:ctrlPr>
                                    <a:rPr lang="en-US" sz="1400" i="1" smtClean="0">
                                      <a:solidFill>
                                        <a:srgbClr val="0070C0"/>
                                      </a:solidFill>
                                      <a:latin typeface="Cambria Math" panose="02040503050406030204" pitchFamily="18" charset="0"/>
                                    </a:rPr>
                                  </m:ctrlPr>
                                </m:dPr>
                                <m:e>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sin</m:t>
                                      </m:r>
                                    </m:fName>
                                    <m:e>
                                      <m:d>
                                        <m:dPr>
                                          <m:ctrlPr>
                                            <a:rPr lang="en-US" sz="1400" i="1" smtClean="0">
                                              <a:solidFill>
                                                <a:srgbClr val="0070C0"/>
                                              </a:solidFill>
                                              <a:latin typeface="Cambria Math" panose="02040503050406030204" pitchFamily="18" charset="0"/>
                                            </a:rPr>
                                          </m:ctrlPr>
                                        </m:dPr>
                                        <m:e>
                                          <m:r>
                                            <a:rPr lang="en-US" sz="1400" i="1" smtClean="0">
                                              <a:solidFill>
                                                <a:srgbClr val="0070C0"/>
                                              </a:solidFill>
                                              <a:latin typeface="Cambria Math" panose="02040503050406030204" pitchFamily="18" charset="0"/>
                                            </a:rPr>
                                            <m:t>𝜓</m:t>
                                          </m:r>
                                          <m:r>
                                            <a:rPr lang="en-US" sz="1400" i="1" smtClean="0">
                                              <a:solidFill>
                                                <a:srgbClr val="0070C0"/>
                                              </a:solidFill>
                                              <a:latin typeface="Cambria Math" panose="02040503050406030204" pitchFamily="18" charset="0"/>
                                            </a:rPr>
                                            <m:t>−</m:t>
                                          </m:r>
                                          <m:sSub>
                                            <m:sSubPr>
                                              <m:ctrlPr>
                                                <a:rPr lang="en-US" sz="1400" i="1" smtClean="0">
                                                  <a:solidFill>
                                                    <a:srgbClr val="0070C0"/>
                                                  </a:solidFill>
                                                  <a:latin typeface="Cambria Math" panose="02040503050406030204" pitchFamily="18" charset="0"/>
                                                </a:rPr>
                                              </m:ctrlPr>
                                            </m:sSubPr>
                                            <m:e>
                                              <m:acc>
                                                <m:accPr>
                                                  <m:chr m:val="̅"/>
                                                  <m:ctrlPr>
                                                    <a:rPr lang="en-US" sz="1400" i="1" smtClean="0">
                                                      <a:solidFill>
                                                        <a:srgbClr val="0070C0"/>
                                                      </a:solidFill>
                                                      <a:latin typeface="Cambria Math" panose="02040503050406030204" pitchFamily="18" charset="0"/>
                                                    </a:rPr>
                                                  </m:ctrlPr>
                                                </m:accPr>
                                                <m:e>
                                                  <m:r>
                                                    <a:rPr lang="en-US" sz="1400" i="1" smtClean="0">
                                                      <a:solidFill>
                                                        <a:srgbClr val="0070C0"/>
                                                      </a:solidFill>
                                                      <a:latin typeface="Cambria Math" panose="02040503050406030204" pitchFamily="18" charset="0"/>
                                                    </a:rPr>
                                                    <m:t>𝜓</m:t>
                                                  </m:r>
                                                </m:e>
                                              </m:acc>
                                            </m:e>
                                            <m:sub>
                                              <m:r>
                                                <a:rPr lang="en-US" sz="1400" i="1" smtClean="0">
                                                  <a:solidFill>
                                                    <a:srgbClr val="0070C0"/>
                                                  </a:solidFill>
                                                  <a:latin typeface="Cambria Math" panose="02040503050406030204" pitchFamily="18" charset="0"/>
                                                </a:rPr>
                                                <m:t>𝑘</m:t>
                                              </m:r>
                                            </m:sub>
                                          </m:sSub>
                                        </m:e>
                                      </m:d>
                                    </m:e>
                                  </m:func>
                                </m:e>
                              </m:d>
                            </m:e>
                          </m:d>
                        </m:e>
                      </m:eqArr>
                    </m:oMath>
                  </m:oMathPara>
                </a14:m>
                <a:endParaRPr lang="en-US" sz="1400" dirty="0"/>
              </a:p>
            </p:txBody>
          </p:sp>
        </mc:Choice>
        <mc:Fallback xmlns="">
          <p:sp>
            <p:nvSpPr>
              <p:cNvPr id="12" name="TextBox 11">
                <a:extLst>
                  <a:ext uri="{FF2B5EF4-FFF2-40B4-BE49-F238E27FC236}">
                    <a16:creationId xmlns:a16="http://schemas.microsoft.com/office/drawing/2014/main" id="{95C6D741-3B8A-A1F8-767F-6CFD4640DB0A}"/>
                  </a:ext>
                </a:extLst>
              </p:cNvPr>
              <p:cNvSpPr txBox="1">
                <a:spLocks noRot="1" noChangeAspect="1" noMove="1" noResize="1" noEditPoints="1" noAdjustHandles="1" noChangeArrowheads="1" noChangeShapeType="1" noTextEdit="1"/>
              </p:cNvSpPr>
              <p:nvPr/>
            </p:nvSpPr>
            <p:spPr>
              <a:xfrm>
                <a:off x="908216" y="2926184"/>
                <a:ext cx="10586369" cy="1529842"/>
              </a:xfrm>
              <a:prstGeom prst="rect">
                <a:avLst/>
              </a:prstGeom>
              <a:blipFill>
                <a:blip r:embed="rId5"/>
                <a:stretch>
                  <a:fillRect/>
                </a:stretch>
              </a:blipFill>
            </p:spPr>
            <p:txBody>
              <a:bodyPr/>
              <a:lstStyle/>
              <a:p>
                <a:r>
                  <a:rPr 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POLARIZATION</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Sinclair matrix instead of scalar reflectivity</a:t>
            </a:r>
            <a:endParaRPr lang="en-US" sz="2800" dirty="0"/>
          </a:p>
        </p:txBody>
      </p:sp>
      <p:sp>
        <p:nvSpPr>
          <p:cNvPr id="4" name="Shape 2"/>
          <p:cNvSpPr/>
          <p:nvPr/>
        </p:nvSpPr>
        <p:spPr>
          <a:xfrm>
            <a:off x="548640" y="1737360"/>
            <a:ext cx="4937760" cy="1554480"/>
          </a:xfrm>
          <a:prstGeom prst="roundRect">
            <a:avLst>
              <a:gd name="adj" fmla="val 4706"/>
            </a:avLst>
          </a:prstGeom>
          <a:solidFill>
            <a:srgbClr val="12161C"/>
          </a:solidFill>
          <a:ln/>
          <a:effectLst>
            <a:outerShdw blurRad="101600" dist="38100" dir="5400000" algn="bl" rotWithShape="0">
              <a:srgbClr val="9AA5B1">
                <a:alpha val="22000"/>
              </a:srgbClr>
            </a:outerShdw>
          </a:effectLst>
        </p:spPr>
      </p:sp>
      <p:sp>
        <p:nvSpPr>
          <p:cNvPr id="5" name="Text 3"/>
          <p:cNvSpPr/>
          <p:nvPr/>
        </p:nvSpPr>
        <p:spPr>
          <a:xfrm>
            <a:off x="777240" y="1874520"/>
            <a:ext cx="4480560" cy="1280160"/>
          </a:xfrm>
          <a:prstGeom prst="rect">
            <a:avLst/>
          </a:prstGeom>
          <a:noFill/>
          <a:ln/>
        </p:spPr>
        <p:txBody>
          <a:bodyPr wrap="square" lIns="0" tIns="0" rIns="0" bIns="0" rtlCol="0" anchor="ctr"/>
          <a:lstStyle/>
          <a:p>
            <a:pPr marL="0" indent="0">
              <a:lnSpc>
                <a:spcPct val="130000"/>
              </a:lnSpc>
              <a:buNone/>
            </a:pPr>
            <a:r>
              <a:rPr lang="en-US" sz="2000" dirty="0">
                <a:solidFill>
                  <a:srgbClr val="4FD8EB"/>
                </a:solidFill>
                <a:latin typeface="Courier New" pitchFamily="34" charset="0"/>
                <a:ea typeface="Courier New" pitchFamily="34" charset="-122"/>
                <a:cs typeface="Courier New" pitchFamily="34" charset="-120"/>
              </a:rPr>
              <a:t>S =  [ S_hh   S_hv ]</a:t>
            </a:r>
            <a:endParaRPr lang="en-US" sz="2000" dirty="0"/>
          </a:p>
          <a:p>
            <a:pPr marL="0" indent="0">
              <a:lnSpc>
                <a:spcPct val="130000"/>
              </a:lnSpc>
              <a:buNone/>
            </a:pPr>
            <a:r>
              <a:rPr lang="en-US" sz="2000" dirty="0">
                <a:solidFill>
                  <a:srgbClr val="4FD8EB"/>
                </a:solidFill>
                <a:latin typeface="Courier New" pitchFamily="34" charset="0"/>
                <a:ea typeface="Courier New" pitchFamily="34" charset="-122"/>
                <a:cs typeface="Courier New" pitchFamily="34" charset="-120"/>
              </a:rPr>
              <a:t>     [ S_vh   S_vv ]</a:t>
            </a:r>
            <a:endParaRPr lang="en-US" sz="2000" dirty="0"/>
          </a:p>
        </p:txBody>
      </p:sp>
      <p:sp>
        <p:nvSpPr>
          <p:cNvPr id="6" name="Text 4"/>
          <p:cNvSpPr/>
          <p:nvPr/>
        </p:nvSpPr>
        <p:spPr>
          <a:xfrm>
            <a:off x="5806440" y="1737360"/>
            <a:ext cx="5806440" cy="3291840"/>
          </a:xfrm>
          <a:prstGeom prst="rect">
            <a:avLst/>
          </a:prstGeom>
          <a:noFill/>
          <a:ln/>
        </p:spPr>
        <p:txBody>
          <a:bodyPr wrap="square" lIns="0" tIns="0" rIns="0" bIns="0" rtlCol="0" anchor="t"/>
          <a:lstStyle/>
          <a:p>
            <a:pPr marL="203200" indent="-203200">
              <a:lnSpc>
                <a:spcPct val="112000"/>
              </a:lnSpc>
              <a:spcAft>
                <a:spcPts val="1400"/>
              </a:spcAft>
              <a:buSzPct val="100000"/>
              <a:buChar char="•"/>
            </a:pPr>
            <a:r>
              <a:rPr lang="en-US" sz="1400" dirty="0">
                <a:solidFill>
                  <a:srgbClr val="141A22"/>
                </a:solidFill>
                <a:latin typeface="Calibri" pitchFamily="34" charset="0"/>
                <a:ea typeface="Calibri" pitchFamily="34" charset="-122"/>
                <a:cs typeface="Calibri" pitchFamily="34" charset="-120"/>
              </a:rPr>
              <a:t>Per bounce: compute Fresnel R_s / R_p from local incidence angle + material permittivity, rotate into the sensor’s H/V basis</a:t>
            </a:r>
            <a:endParaRPr lang="en-US" sz="1400" dirty="0"/>
          </a:p>
          <a:p>
            <a:pPr marL="203200" indent="-203200">
              <a:lnSpc>
                <a:spcPct val="112000"/>
              </a:lnSpc>
              <a:spcAft>
                <a:spcPts val="1400"/>
              </a:spcAft>
              <a:buSzPct val="100000"/>
              <a:buChar char="•"/>
            </a:pPr>
            <a:r>
              <a:rPr lang="en-US" sz="1400" dirty="0">
                <a:solidFill>
                  <a:srgbClr val="141A22"/>
                </a:solidFill>
                <a:latin typeface="Calibri" pitchFamily="34" charset="0"/>
                <a:ea typeface="Calibri" pitchFamily="34" charset="-122"/>
                <a:cs typeface="Calibri" pitchFamily="34" charset="-120"/>
              </a:rPr>
              <a:t>Multi-bounce path: chain bounces as a matrix product (Jones-calculus style), not a scalar product -- this is what makes rotated-dihedral cross-pol fall out naturally</a:t>
            </a:r>
            <a:endParaRPr lang="en-US" sz="1400" dirty="0"/>
          </a:p>
        </p:txBody>
      </p:sp>
      <p:sp>
        <p:nvSpPr>
          <p:cNvPr id="7" name="Shape 5"/>
          <p:cNvSpPr/>
          <p:nvPr/>
        </p:nvSpPr>
        <p:spPr>
          <a:xfrm>
            <a:off x="548640" y="3520440"/>
            <a:ext cx="10698480" cy="1371600"/>
          </a:xfrm>
          <a:prstGeom prst="roundRect">
            <a:avLst>
              <a:gd name="adj" fmla="val 5333"/>
            </a:avLst>
          </a:prstGeom>
          <a:solidFill>
            <a:srgbClr val="E6EAF0"/>
          </a:solidFill>
          <a:ln/>
          <a:effectLst>
            <a:outerShdw blurRad="101600" dist="38100" dir="5400000" algn="bl" rotWithShape="0">
              <a:srgbClr val="9AA5B1">
                <a:alpha val="22000"/>
              </a:srgbClr>
            </a:outerShdw>
          </a:effectLst>
        </p:spPr>
      </p:sp>
      <p:sp>
        <p:nvSpPr>
          <p:cNvPr id="8" name="Text 6"/>
          <p:cNvSpPr/>
          <p:nvPr/>
        </p:nvSpPr>
        <p:spPr>
          <a:xfrm>
            <a:off x="822960" y="3520440"/>
            <a:ext cx="10149840" cy="1371600"/>
          </a:xfrm>
          <a:prstGeom prst="rect">
            <a:avLst/>
          </a:prstGeom>
          <a:noFill/>
          <a:ln/>
        </p:spPr>
        <p:txBody>
          <a:bodyPr wrap="square" lIns="0" tIns="0" rIns="0" bIns="0" rtlCol="0" anchor="ctr"/>
          <a:lstStyle/>
          <a:p>
            <a:pPr marL="0" indent="0">
              <a:lnSpc>
                <a:spcPct val="115000"/>
              </a:lnSpc>
              <a:buNone/>
            </a:pPr>
            <a:r>
              <a:rPr lang="en-US" sz="1400" b="1" dirty="0">
                <a:solidFill>
                  <a:srgbClr val="B85C00"/>
                </a:solidFill>
                <a:latin typeface="Calibri" pitchFamily="34" charset="0"/>
                <a:ea typeface="Calibri" pitchFamily="34" charset="-122"/>
                <a:cs typeface="Calibri" pitchFamily="34" charset="-120"/>
              </a:rPr>
              <a:t>Gotcha:  </a:t>
            </a:r>
            <a:r>
              <a:rPr lang="en-US" sz="1400" dirty="0">
                <a:solidFill>
                  <a:srgbClr val="141A22"/>
                </a:solidFill>
                <a:latin typeface="Calibri" pitchFamily="34" charset="0"/>
                <a:ea typeface="Calibri" pitchFamily="34" charset="-122"/>
                <a:cs typeface="Calibri" pitchFamily="34" charset="-120"/>
              </a:rPr>
              <a:t>polarization basis convention (BSA vs FSA) is a classic silent-bug source -- validate against a known trihedral calibration signature once the pipeline runs.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WHY POLARIZATION MATTERS</a:t>
            </a:r>
            <a:endParaRPr lang="en-US" sz="1200" dirty="0"/>
          </a:p>
        </p:txBody>
      </p:sp>
      <p:sp>
        <p:nvSpPr>
          <p:cNvPr id="3" name="Text 1"/>
          <p:cNvSpPr/>
          <p:nvPr/>
        </p:nvSpPr>
        <p:spPr>
          <a:xfrm>
            <a:off x="548640" y="658368"/>
            <a:ext cx="10881360" cy="731520"/>
          </a:xfrm>
          <a:prstGeom prst="rect">
            <a:avLst/>
          </a:prstGeom>
          <a:noFill/>
          <a:ln/>
        </p:spPr>
        <p:txBody>
          <a:bodyPr wrap="square" lIns="0" tIns="0" rIns="0" bIns="0" rtlCol="0" anchor="t"/>
          <a:lstStyle/>
          <a:p>
            <a:pPr marL="0" indent="0">
              <a:buNone/>
            </a:pPr>
            <a:r>
              <a:rPr lang="en-US" sz="2100" b="1" dirty="0">
                <a:solidFill>
                  <a:srgbClr val="141A22"/>
                </a:solidFill>
                <a:latin typeface="Cambria" pitchFamily="34" charset="0"/>
                <a:ea typeface="Cambria" pitchFamily="34" charset="-122"/>
                <a:cs typeface="Cambria" pitchFamily="34" charset="-120"/>
              </a:rPr>
              <a:t>A polarization-selective trihedral nulls the "textbook" return</a:t>
            </a:r>
            <a:endParaRPr lang="en-US" sz="2100" dirty="0"/>
          </a:p>
        </p:txBody>
      </p:sp>
      <p:sp>
        <p:nvSpPr>
          <p:cNvPr id="4" name="Text 2"/>
          <p:cNvSpPr/>
          <p:nvPr/>
        </p:nvSpPr>
        <p:spPr>
          <a:xfrm>
            <a:off x="548640" y="1399032"/>
            <a:ext cx="10698480" cy="237744"/>
          </a:xfrm>
          <a:prstGeom prst="rect">
            <a:avLst/>
          </a:prstGeom>
          <a:noFill/>
          <a:ln/>
        </p:spPr>
        <p:txBody>
          <a:bodyPr wrap="square" lIns="0" tIns="0" rIns="0" bIns="0" rtlCol="0" anchor="ctr"/>
          <a:lstStyle/>
          <a:p>
            <a:pPr marL="0" indent="0">
              <a:buNone/>
            </a:pPr>
            <a:r>
              <a:rPr lang="en-US" sz="1250" i="1" dirty="0">
                <a:solidFill>
                  <a:srgbClr val="5B6672"/>
                </a:solidFill>
                <a:latin typeface="Calibri" pitchFamily="34" charset="0"/>
                <a:ea typeface="Calibri" pitchFamily="34" charset="-122"/>
                <a:cs typeface="Calibri" pitchFamily="34" charset="-120"/>
              </a:rPr>
              <a:t>HH illumination on a trihedral: Face 1 = V dipoles, Face 2 = H dipoles, Face 3 = V dipoles</a:t>
            </a:r>
            <a:endParaRPr lang="en-US" sz="1250" dirty="0"/>
          </a:p>
        </p:txBody>
      </p:sp>
      <p:sp>
        <p:nvSpPr>
          <p:cNvPr id="5" name="Shape 3"/>
          <p:cNvSpPr/>
          <p:nvPr/>
        </p:nvSpPr>
        <p:spPr>
          <a:xfrm>
            <a:off x="365760" y="1691640"/>
            <a:ext cx="2468880" cy="566928"/>
          </a:xfrm>
          <a:prstGeom prst="roundRect">
            <a:avLst>
              <a:gd name="adj" fmla="val 9677"/>
            </a:avLst>
          </a:prstGeom>
          <a:solidFill>
            <a:srgbClr val="FFFFFF"/>
          </a:solidFill>
          <a:ln w="19050">
            <a:solidFill>
              <a:srgbClr val="B85C00"/>
            </a:solidFill>
            <a:prstDash val="solid"/>
          </a:ln>
        </p:spPr>
      </p:sp>
      <p:sp>
        <p:nvSpPr>
          <p:cNvPr id="6" name="Text 4"/>
          <p:cNvSpPr/>
          <p:nvPr/>
        </p:nvSpPr>
        <p:spPr>
          <a:xfrm>
            <a:off x="365760" y="1755648"/>
            <a:ext cx="2468880" cy="256032"/>
          </a:xfrm>
          <a:prstGeom prst="rect">
            <a:avLst/>
          </a:prstGeom>
          <a:noFill/>
          <a:ln/>
        </p:spPr>
        <p:txBody>
          <a:bodyPr wrap="square" lIns="0" tIns="0" rIns="0" bIns="0" rtlCol="0" anchor="ctr"/>
          <a:lstStyle/>
          <a:p>
            <a:pPr marL="0" indent="0" algn="ctr">
              <a:buNone/>
            </a:pPr>
            <a:r>
              <a:rPr lang="en-US" sz="1300" b="1" dirty="0">
                <a:solidFill>
                  <a:srgbClr val="B85C00"/>
                </a:solidFill>
                <a:latin typeface="Courier New" pitchFamily="34" charset="0"/>
                <a:ea typeface="Courier New" pitchFamily="34" charset="-122"/>
                <a:cs typeface="Courier New" pitchFamily="34" charset="-120"/>
              </a:rPr>
              <a:t>H · V̂ = 0</a:t>
            </a:r>
            <a:endParaRPr lang="en-US" sz="1300" dirty="0"/>
          </a:p>
        </p:txBody>
      </p:sp>
      <p:sp>
        <p:nvSpPr>
          <p:cNvPr id="7" name="Text 5"/>
          <p:cNvSpPr/>
          <p:nvPr/>
        </p:nvSpPr>
        <p:spPr>
          <a:xfrm>
            <a:off x="365760" y="2020824"/>
            <a:ext cx="2468880" cy="201168"/>
          </a:xfrm>
          <a:prstGeom prst="rect">
            <a:avLst/>
          </a:prstGeom>
          <a:noFill/>
          <a:ln/>
        </p:spPr>
        <p:txBody>
          <a:bodyPr wrap="square" lIns="0" tIns="0" rIns="0" bIns="0" rtlCol="0" anchor="ctr"/>
          <a:lstStyle/>
          <a:p>
            <a:pPr marL="0" indent="0" algn="ctr">
              <a:buNone/>
            </a:pPr>
            <a:r>
              <a:rPr lang="en-US" sz="1000" dirty="0">
                <a:solidFill>
                  <a:srgbClr val="5B6672"/>
                </a:solidFill>
                <a:latin typeface="Calibri" pitchFamily="34" charset="0"/>
                <a:ea typeface="Calibri" pitchFamily="34" charset="-122"/>
                <a:cs typeface="Calibri" pitchFamily="34" charset="-120"/>
              </a:rPr>
              <a:t>no coupling → reflected field = 0</a:t>
            </a:r>
            <a:endParaRPr lang="en-US" sz="1000" dirty="0"/>
          </a:p>
        </p:txBody>
      </p:sp>
      <p:sp>
        <p:nvSpPr>
          <p:cNvPr id="8" name="Shape 6"/>
          <p:cNvSpPr/>
          <p:nvPr/>
        </p:nvSpPr>
        <p:spPr>
          <a:xfrm>
            <a:off x="1600200" y="2258568"/>
            <a:ext cx="137160" cy="118872"/>
          </a:xfrm>
          <a:prstGeom prst="line">
            <a:avLst/>
          </a:prstGeom>
          <a:noFill/>
          <a:ln w="15875">
            <a:solidFill>
              <a:srgbClr val="B85C00"/>
            </a:solidFill>
            <a:prstDash val="dash"/>
            <a:tailEnd type="none"/>
          </a:ln>
        </p:spPr>
      </p:sp>
      <p:sp>
        <p:nvSpPr>
          <p:cNvPr id="9" name="Text 7"/>
          <p:cNvSpPr/>
          <p:nvPr/>
        </p:nvSpPr>
        <p:spPr>
          <a:xfrm>
            <a:off x="457200" y="2606040"/>
            <a:ext cx="1280160" cy="237744"/>
          </a:xfrm>
          <a:prstGeom prst="rect">
            <a:avLst/>
          </a:prstGeom>
          <a:noFill/>
          <a:ln/>
        </p:spPr>
        <p:txBody>
          <a:bodyPr wrap="square" lIns="0" tIns="0" rIns="0" bIns="0" rtlCol="0" anchor="ctr"/>
          <a:lstStyle/>
          <a:p>
            <a:pPr marL="0" indent="0">
              <a:buNone/>
            </a:pPr>
            <a:r>
              <a:rPr lang="en-US" sz="1250" b="1" dirty="0">
                <a:solidFill>
                  <a:srgbClr val="141A22"/>
                </a:solidFill>
                <a:latin typeface="Calibri" pitchFamily="34" charset="0"/>
                <a:ea typeface="Calibri" pitchFamily="34" charset="-122"/>
                <a:cs typeface="Calibri" pitchFamily="34" charset="-120"/>
              </a:rPr>
              <a:t>Tx: H-pol</a:t>
            </a:r>
            <a:endParaRPr lang="en-US" sz="1250" dirty="0"/>
          </a:p>
        </p:txBody>
      </p:sp>
      <p:sp>
        <p:nvSpPr>
          <p:cNvPr id="10" name="Shape 8"/>
          <p:cNvSpPr/>
          <p:nvPr/>
        </p:nvSpPr>
        <p:spPr>
          <a:xfrm>
            <a:off x="640080" y="2994660"/>
            <a:ext cx="960120" cy="0"/>
          </a:xfrm>
          <a:prstGeom prst="line">
            <a:avLst/>
          </a:prstGeom>
          <a:noFill/>
          <a:ln w="28575">
            <a:solidFill>
              <a:srgbClr val="141A22"/>
            </a:solidFill>
            <a:prstDash val="solid"/>
            <a:tailEnd type="triangle"/>
          </a:ln>
        </p:spPr>
      </p:sp>
      <p:sp>
        <p:nvSpPr>
          <p:cNvPr id="11" name="Shape 9"/>
          <p:cNvSpPr/>
          <p:nvPr/>
        </p:nvSpPr>
        <p:spPr>
          <a:xfrm>
            <a:off x="1691640" y="2377440"/>
            <a:ext cx="1051560" cy="1234440"/>
          </a:xfrm>
          <a:prstGeom prst="rect">
            <a:avLst/>
          </a:prstGeom>
          <a:solidFill>
            <a:srgbClr val="F1F4F8"/>
          </a:solidFill>
          <a:ln w="15875">
            <a:solidFill>
              <a:srgbClr val="CBD3DB"/>
            </a:solidFill>
            <a:prstDash val="solid"/>
          </a:ln>
        </p:spPr>
      </p:sp>
      <p:sp>
        <p:nvSpPr>
          <p:cNvPr id="12" name="Shape 10"/>
          <p:cNvSpPr/>
          <p:nvPr/>
        </p:nvSpPr>
        <p:spPr>
          <a:xfrm>
            <a:off x="1810512" y="2468880"/>
            <a:ext cx="0" cy="1051560"/>
          </a:xfrm>
          <a:prstGeom prst="line">
            <a:avLst/>
          </a:prstGeom>
          <a:noFill/>
          <a:ln w="22225">
            <a:solidFill>
              <a:srgbClr val="0B7285"/>
            </a:solidFill>
            <a:prstDash val="solid"/>
            <a:tailEnd type="none"/>
          </a:ln>
        </p:spPr>
      </p:sp>
      <p:sp>
        <p:nvSpPr>
          <p:cNvPr id="13" name="Shape 11"/>
          <p:cNvSpPr/>
          <p:nvPr/>
        </p:nvSpPr>
        <p:spPr>
          <a:xfrm>
            <a:off x="1947672" y="2468880"/>
            <a:ext cx="0" cy="1051560"/>
          </a:xfrm>
          <a:prstGeom prst="line">
            <a:avLst/>
          </a:prstGeom>
          <a:noFill/>
          <a:ln w="22225">
            <a:solidFill>
              <a:srgbClr val="0B7285"/>
            </a:solidFill>
            <a:prstDash val="solid"/>
            <a:tailEnd type="none"/>
          </a:ln>
        </p:spPr>
      </p:sp>
      <p:sp>
        <p:nvSpPr>
          <p:cNvPr id="14" name="Shape 12"/>
          <p:cNvSpPr/>
          <p:nvPr/>
        </p:nvSpPr>
        <p:spPr>
          <a:xfrm>
            <a:off x="2084832" y="2468880"/>
            <a:ext cx="0" cy="1051560"/>
          </a:xfrm>
          <a:prstGeom prst="line">
            <a:avLst/>
          </a:prstGeom>
          <a:noFill/>
          <a:ln w="22225">
            <a:solidFill>
              <a:srgbClr val="0B7285"/>
            </a:solidFill>
            <a:prstDash val="solid"/>
            <a:tailEnd type="none"/>
          </a:ln>
        </p:spPr>
      </p:sp>
      <p:sp>
        <p:nvSpPr>
          <p:cNvPr id="15" name="Shape 13"/>
          <p:cNvSpPr/>
          <p:nvPr/>
        </p:nvSpPr>
        <p:spPr>
          <a:xfrm>
            <a:off x="2221992" y="2468880"/>
            <a:ext cx="0" cy="1051560"/>
          </a:xfrm>
          <a:prstGeom prst="line">
            <a:avLst/>
          </a:prstGeom>
          <a:noFill/>
          <a:ln w="22225">
            <a:solidFill>
              <a:srgbClr val="0B7285"/>
            </a:solidFill>
            <a:prstDash val="solid"/>
            <a:tailEnd type="none"/>
          </a:ln>
        </p:spPr>
      </p:sp>
      <p:sp>
        <p:nvSpPr>
          <p:cNvPr id="16" name="Shape 14"/>
          <p:cNvSpPr/>
          <p:nvPr/>
        </p:nvSpPr>
        <p:spPr>
          <a:xfrm>
            <a:off x="2359152" y="2468880"/>
            <a:ext cx="0" cy="1051560"/>
          </a:xfrm>
          <a:prstGeom prst="line">
            <a:avLst/>
          </a:prstGeom>
          <a:noFill/>
          <a:ln w="22225">
            <a:solidFill>
              <a:srgbClr val="0B7285"/>
            </a:solidFill>
            <a:prstDash val="solid"/>
            <a:tailEnd type="none"/>
          </a:ln>
        </p:spPr>
      </p:sp>
      <p:sp>
        <p:nvSpPr>
          <p:cNvPr id="17" name="Text 15"/>
          <p:cNvSpPr/>
          <p:nvPr/>
        </p:nvSpPr>
        <p:spPr>
          <a:xfrm>
            <a:off x="1691640" y="3657600"/>
            <a:ext cx="1051560" cy="164592"/>
          </a:xfrm>
          <a:prstGeom prst="rect">
            <a:avLst/>
          </a:prstGeom>
          <a:noFill/>
          <a:ln/>
        </p:spPr>
        <p:txBody>
          <a:bodyPr wrap="square" lIns="0" tIns="0" rIns="0" bIns="0" rtlCol="0" anchor="ctr"/>
          <a:lstStyle/>
          <a:p>
            <a:pPr marL="0" indent="0" algn="ctr">
              <a:buNone/>
            </a:pPr>
            <a:r>
              <a:rPr lang="en-US" sz="1100" b="1" dirty="0">
                <a:solidFill>
                  <a:srgbClr val="141A22"/>
                </a:solidFill>
                <a:latin typeface="Calibri" pitchFamily="34" charset="0"/>
                <a:ea typeface="Calibri" pitchFamily="34" charset="-122"/>
                <a:cs typeface="Calibri" pitchFamily="34" charset="-120"/>
              </a:rPr>
              <a:t>FACE 1</a:t>
            </a:r>
            <a:endParaRPr lang="en-US" sz="1100" dirty="0"/>
          </a:p>
        </p:txBody>
      </p:sp>
      <p:sp>
        <p:nvSpPr>
          <p:cNvPr id="18" name="Text 16"/>
          <p:cNvSpPr/>
          <p:nvPr/>
        </p:nvSpPr>
        <p:spPr>
          <a:xfrm>
            <a:off x="1691640" y="3813048"/>
            <a:ext cx="1051560" cy="146304"/>
          </a:xfrm>
          <a:prstGeom prst="rect">
            <a:avLst/>
          </a:prstGeom>
          <a:noFill/>
          <a:ln/>
        </p:spPr>
        <p:txBody>
          <a:bodyPr wrap="square" lIns="0" tIns="0" rIns="0" bIns="0" rtlCol="0" anchor="ctr"/>
          <a:lstStyle/>
          <a:p>
            <a:pPr marL="0" indent="0" algn="ctr">
              <a:buNone/>
            </a:pPr>
            <a:r>
              <a:rPr lang="en-US" sz="950" dirty="0">
                <a:solidFill>
                  <a:srgbClr val="5B6672"/>
                </a:solidFill>
                <a:latin typeface="Calibri" pitchFamily="34" charset="0"/>
                <a:ea typeface="Calibri" pitchFamily="34" charset="-122"/>
                <a:cs typeface="Calibri" pitchFamily="34" charset="-120"/>
              </a:rPr>
              <a:t>V dipoles</a:t>
            </a:r>
            <a:endParaRPr lang="en-US" sz="950" dirty="0"/>
          </a:p>
        </p:txBody>
      </p:sp>
      <p:sp>
        <p:nvSpPr>
          <p:cNvPr id="19" name="Shape 17"/>
          <p:cNvSpPr/>
          <p:nvPr/>
        </p:nvSpPr>
        <p:spPr>
          <a:xfrm>
            <a:off x="2743200" y="2994660"/>
            <a:ext cx="1051560" cy="0"/>
          </a:xfrm>
          <a:prstGeom prst="line">
            <a:avLst/>
          </a:prstGeom>
          <a:noFill/>
          <a:ln w="22225">
            <a:solidFill>
              <a:srgbClr val="CBD3DB"/>
            </a:solidFill>
            <a:prstDash val="dash"/>
            <a:tailEnd type="triangle"/>
          </a:ln>
        </p:spPr>
      </p:sp>
      <p:sp>
        <p:nvSpPr>
          <p:cNvPr id="20" name="Shape 18"/>
          <p:cNvSpPr/>
          <p:nvPr/>
        </p:nvSpPr>
        <p:spPr>
          <a:xfrm>
            <a:off x="3794760" y="2377440"/>
            <a:ext cx="1051560" cy="1234440"/>
          </a:xfrm>
          <a:prstGeom prst="rect">
            <a:avLst/>
          </a:prstGeom>
          <a:solidFill>
            <a:srgbClr val="F1F4F8"/>
          </a:solidFill>
          <a:ln w="15875">
            <a:solidFill>
              <a:srgbClr val="CBD3DB"/>
            </a:solidFill>
            <a:prstDash val="solid"/>
          </a:ln>
        </p:spPr>
      </p:sp>
      <p:sp>
        <p:nvSpPr>
          <p:cNvPr id="21" name="Shape 19"/>
          <p:cNvSpPr/>
          <p:nvPr/>
        </p:nvSpPr>
        <p:spPr>
          <a:xfrm>
            <a:off x="3886200" y="2505456"/>
            <a:ext cx="868680" cy="0"/>
          </a:xfrm>
          <a:prstGeom prst="line">
            <a:avLst/>
          </a:prstGeom>
          <a:noFill/>
          <a:ln w="19050">
            <a:solidFill>
              <a:srgbClr val="CBD3DB"/>
            </a:solidFill>
            <a:prstDash val="solid"/>
            <a:tailEnd type="none"/>
          </a:ln>
        </p:spPr>
      </p:sp>
      <p:sp>
        <p:nvSpPr>
          <p:cNvPr id="22" name="Shape 20"/>
          <p:cNvSpPr/>
          <p:nvPr/>
        </p:nvSpPr>
        <p:spPr>
          <a:xfrm>
            <a:off x="3886200" y="2706624"/>
            <a:ext cx="868680" cy="0"/>
          </a:xfrm>
          <a:prstGeom prst="line">
            <a:avLst/>
          </a:prstGeom>
          <a:noFill/>
          <a:ln w="19050">
            <a:solidFill>
              <a:srgbClr val="CBD3DB"/>
            </a:solidFill>
            <a:prstDash val="solid"/>
            <a:tailEnd type="none"/>
          </a:ln>
        </p:spPr>
      </p:sp>
      <p:sp>
        <p:nvSpPr>
          <p:cNvPr id="23" name="Shape 21"/>
          <p:cNvSpPr/>
          <p:nvPr/>
        </p:nvSpPr>
        <p:spPr>
          <a:xfrm>
            <a:off x="3886200" y="2907792"/>
            <a:ext cx="868680" cy="0"/>
          </a:xfrm>
          <a:prstGeom prst="line">
            <a:avLst/>
          </a:prstGeom>
          <a:noFill/>
          <a:ln w="19050">
            <a:solidFill>
              <a:srgbClr val="CBD3DB"/>
            </a:solidFill>
            <a:prstDash val="solid"/>
            <a:tailEnd type="none"/>
          </a:ln>
        </p:spPr>
      </p:sp>
      <p:sp>
        <p:nvSpPr>
          <p:cNvPr id="24" name="Shape 22"/>
          <p:cNvSpPr/>
          <p:nvPr/>
        </p:nvSpPr>
        <p:spPr>
          <a:xfrm>
            <a:off x="3886200" y="3108960"/>
            <a:ext cx="868680" cy="0"/>
          </a:xfrm>
          <a:prstGeom prst="line">
            <a:avLst/>
          </a:prstGeom>
          <a:noFill/>
          <a:ln w="19050">
            <a:solidFill>
              <a:srgbClr val="CBD3DB"/>
            </a:solidFill>
            <a:prstDash val="solid"/>
            <a:tailEnd type="none"/>
          </a:ln>
        </p:spPr>
      </p:sp>
      <p:sp>
        <p:nvSpPr>
          <p:cNvPr id="25" name="Shape 23"/>
          <p:cNvSpPr/>
          <p:nvPr/>
        </p:nvSpPr>
        <p:spPr>
          <a:xfrm>
            <a:off x="3886200" y="3310128"/>
            <a:ext cx="868680" cy="0"/>
          </a:xfrm>
          <a:prstGeom prst="line">
            <a:avLst/>
          </a:prstGeom>
          <a:noFill/>
          <a:ln w="19050">
            <a:solidFill>
              <a:srgbClr val="CBD3DB"/>
            </a:solidFill>
            <a:prstDash val="solid"/>
            <a:tailEnd type="none"/>
          </a:ln>
        </p:spPr>
      </p:sp>
      <p:sp>
        <p:nvSpPr>
          <p:cNvPr id="26" name="Shape 24"/>
          <p:cNvSpPr/>
          <p:nvPr/>
        </p:nvSpPr>
        <p:spPr>
          <a:xfrm>
            <a:off x="3886200" y="3493008"/>
            <a:ext cx="868680" cy="0"/>
          </a:xfrm>
          <a:prstGeom prst="line">
            <a:avLst/>
          </a:prstGeom>
          <a:noFill/>
          <a:ln w="19050">
            <a:solidFill>
              <a:srgbClr val="CBD3DB"/>
            </a:solidFill>
            <a:prstDash val="solid"/>
            <a:tailEnd type="none"/>
          </a:ln>
        </p:spPr>
      </p:sp>
      <p:sp>
        <p:nvSpPr>
          <p:cNvPr id="27" name="Text 25"/>
          <p:cNvSpPr/>
          <p:nvPr/>
        </p:nvSpPr>
        <p:spPr>
          <a:xfrm>
            <a:off x="3794760" y="3657600"/>
            <a:ext cx="1051560" cy="164592"/>
          </a:xfrm>
          <a:prstGeom prst="rect">
            <a:avLst/>
          </a:prstGeom>
          <a:noFill/>
          <a:ln/>
        </p:spPr>
        <p:txBody>
          <a:bodyPr wrap="square" lIns="0" tIns="0" rIns="0" bIns="0" rtlCol="0" anchor="ctr"/>
          <a:lstStyle/>
          <a:p>
            <a:pPr marL="0" indent="0" algn="ctr">
              <a:buNone/>
            </a:pPr>
            <a:r>
              <a:rPr lang="en-US" sz="1100" b="1" dirty="0">
                <a:solidFill>
                  <a:srgbClr val="9AA5B1"/>
                </a:solidFill>
                <a:latin typeface="Calibri" pitchFamily="34" charset="0"/>
                <a:ea typeface="Calibri" pitchFamily="34" charset="-122"/>
                <a:cs typeface="Calibri" pitchFamily="34" charset="-120"/>
              </a:rPr>
              <a:t>FACE 2</a:t>
            </a:r>
            <a:endParaRPr lang="en-US" sz="1100" dirty="0"/>
          </a:p>
        </p:txBody>
      </p:sp>
      <p:sp>
        <p:nvSpPr>
          <p:cNvPr id="28" name="Text 26"/>
          <p:cNvSpPr/>
          <p:nvPr/>
        </p:nvSpPr>
        <p:spPr>
          <a:xfrm>
            <a:off x="3794760" y="3813048"/>
            <a:ext cx="1051560" cy="146304"/>
          </a:xfrm>
          <a:prstGeom prst="rect">
            <a:avLst/>
          </a:prstGeom>
          <a:noFill/>
          <a:ln/>
        </p:spPr>
        <p:txBody>
          <a:bodyPr wrap="square" lIns="0" tIns="0" rIns="0" bIns="0" rtlCol="0" anchor="ctr"/>
          <a:lstStyle/>
          <a:p>
            <a:pPr marL="0" indent="0" algn="ctr">
              <a:buNone/>
            </a:pPr>
            <a:r>
              <a:rPr lang="en-US" sz="950" dirty="0">
                <a:solidFill>
                  <a:srgbClr val="9AA5B1"/>
                </a:solidFill>
                <a:latin typeface="Calibri" pitchFamily="34" charset="0"/>
                <a:ea typeface="Calibri" pitchFamily="34" charset="-122"/>
                <a:cs typeface="Calibri" pitchFamily="34" charset="-120"/>
              </a:rPr>
              <a:t>H dipoles</a:t>
            </a:r>
            <a:endParaRPr lang="en-US" sz="950" dirty="0"/>
          </a:p>
        </p:txBody>
      </p:sp>
      <p:sp>
        <p:nvSpPr>
          <p:cNvPr id="29" name="Shape 27"/>
          <p:cNvSpPr/>
          <p:nvPr/>
        </p:nvSpPr>
        <p:spPr>
          <a:xfrm>
            <a:off x="4846320" y="2994660"/>
            <a:ext cx="1051560" cy="0"/>
          </a:xfrm>
          <a:prstGeom prst="line">
            <a:avLst/>
          </a:prstGeom>
          <a:noFill/>
          <a:ln w="22225">
            <a:solidFill>
              <a:srgbClr val="CBD3DB"/>
            </a:solidFill>
            <a:prstDash val="dash"/>
            <a:tailEnd type="triangle"/>
          </a:ln>
        </p:spPr>
      </p:sp>
      <p:sp>
        <p:nvSpPr>
          <p:cNvPr id="30" name="Shape 28"/>
          <p:cNvSpPr/>
          <p:nvPr/>
        </p:nvSpPr>
        <p:spPr>
          <a:xfrm>
            <a:off x="5897880" y="2377440"/>
            <a:ext cx="1051560" cy="1234440"/>
          </a:xfrm>
          <a:prstGeom prst="rect">
            <a:avLst/>
          </a:prstGeom>
          <a:solidFill>
            <a:srgbClr val="F1F4F8"/>
          </a:solidFill>
          <a:ln w="15875">
            <a:solidFill>
              <a:srgbClr val="CBD3DB"/>
            </a:solidFill>
            <a:prstDash val="solid"/>
          </a:ln>
        </p:spPr>
      </p:sp>
      <p:sp>
        <p:nvSpPr>
          <p:cNvPr id="31" name="Shape 29"/>
          <p:cNvSpPr/>
          <p:nvPr/>
        </p:nvSpPr>
        <p:spPr>
          <a:xfrm>
            <a:off x="6016752" y="2468880"/>
            <a:ext cx="0" cy="1051560"/>
          </a:xfrm>
          <a:prstGeom prst="line">
            <a:avLst/>
          </a:prstGeom>
          <a:noFill/>
          <a:ln w="19050">
            <a:solidFill>
              <a:srgbClr val="CBD3DB"/>
            </a:solidFill>
            <a:prstDash val="solid"/>
            <a:tailEnd type="none"/>
          </a:ln>
        </p:spPr>
      </p:sp>
      <p:sp>
        <p:nvSpPr>
          <p:cNvPr id="32" name="Shape 30"/>
          <p:cNvSpPr/>
          <p:nvPr/>
        </p:nvSpPr>
        <p:spPr>
          <a:xfrm>
            <a:off x="6153912" y="2468880"/>
            <a:ext cx="0" cy="1051560"/>
          </a:xfrm>
          <a:prstGeom prst="line">
            <a:avLst/>
          </a:prstGeom>
          <a:noFill/>
          <a:ln w="19050">
            <a:solidFill>
              <a:srgbClr val="CBD3DB"/>
            </a:solidFill>
            <a:prstDash val="solid"/>
            <a:tailEnd type="none"/>
          </a:ln>
        </p:spPr>
      </p:sp>
      <p:sp>
        <p:nvSpPr>
          <p:cNvPr id="33" name="Shape 31"/>
          <p:cNvSpPr/>
          <p:nvPr/>
        </p:nvSpPr>
        <p:spPr>
          <a:xfrm>
            <a:off x="6291072" y="2468880"/>
            <a:ext cx="0" cy="1051560"/>
          </a:xfrm>
          <a:prstGeom prst="line">
            <a:avLst/>
          </a:prstGeom>
          <a:noFill/>
          <a:ln w="19050">
            <a:solidFill>
              <a:srgbClr val="CBD3DB"/>
            </a:solidFill>
            <a:prstDash val="solid"/>
            <a:tailEnd type="none"/>
          </a:ln>
        </p:spPr>
      </p:sp>
      <p:sp>
        <p:nvSpPr>
          <p:cNvPr id="34" name="Shape 32"/>
          <p:cNvSpPr/>
          <p:nvPr/>
        </p:nvSpPr>
        <p:spPr>
          <a:xfrm>
            <a:off x="6428232" y="2468880"/>
            <a:ext cx="0" cy="1051560"/>
          </a:xfrm>
          <a:prstGeom prst="line">
            <a:avLst/>
          </a:prstGeom>
          <a:noFill/>
          <a:ln w="19050">
            <a:solidFill>
              <a:srgbClr val="CBD3DB"/>
            </a:solidFill>
            <a:prstDash val="solid"/>
            <a:tailEnd type="none"/>
          </a:ln>
        </p:spPr>
      </p:sp>
      <p:sp>
        <p:nvSpPr>
          <p:cNvPr id="35" name="Shape 33"/>
          <p:cNvSpPr/>
          <p:nvPr/>
        </p:nvSpPr>
        <p:spPr>
          <a:xfrm>
            <a:off x="6565392" y="2468880"/>
            <a:ext cx="0" cy="1051560"/>
          </a:xfrm>
          <a:prstGeom prst="line">
            <a:avLst/>
          </a:prstGeom>
          <a:noFill/>
          <a:ln w="19050">
            <a:solidFill>
              <a:srgbClr val="CBD3DB"/>
            </a:solidFill>
            <a:prstDash val="solid"/>
            <a:tailEnd type="none"/>
          </a:ln>
        </p:spPr>
      </p:sp>
      <p:sp>
        <p:nvSpPr>
          <p:cNvPr id="36" name="Shape 34"/>
          <p:cNvSpPr/>
          <p:nvPr/>
        </p:nvSpPr>
        <p:spPr>
          <a:xfrm>
            <a:off x="6720840" y="2468880"/>
            <a:ext cx="0" cy="1051560"/>
          </a:xfrm>
          <a:prstGeom prst="line">
            <a:avLst/>
          </a:prstGeom>
          <a:noFill/>
          <a:ln w="19050">
            <a:solidFill>
              <a:srgbClr val="CBD3DB"/>
            </a:solidFill>
            <a:prstDash val="solid"/>
            <a:tailEnd type="none"/>
          </a:ln>
        </p:spPr>
      </p:sp>
      <p:sp>
        <p:nvSpPr>
          <p:cNvPr id="37" name="Text 35"/>
          <p:cNvSpPr/>
          <p:nvPr/>
        </p:nvSpPr>
        <p:spPr>
          <a:xfrm>
            <a:off x="5897880" y="3657600"/>
            <a:ext cx="1051560" cy="164592"/>
          </a:xfrm>
          <a:prstGeom prst="rect">
            <a:avLst/>
          </a:prstGeom>
          <a:noFill/>
          <a:ln/>
        </p:spPr>
        <p:txBody>
          <a:bodyPr wrap="square" lIns="0" tIns="0" rIns="0" bIns="0" rtlCol="0" anchor="ctr"/>
          <a:lstStyle/>
          <a:p>
            <a:pPr marL="0" indent="0" algn="ctr">
              <a:buNone/>
            </a:pPr>
            <a:r>
              <a:rPr lang="en-US" sz="1100" b="1" dirty="0">
                <a:solidFill>
                  <a:srgbClr val="9AA5B1"/>
                </a:solidFill>
                <a:latin typeface="Calibri" pitchFamily="34" charset="0"/>
                <a:ea typeface="Calibri" pitchFamily="34" charset="-122"/>
                <a:cs typeface="Calibri" pitchFamily="34" charset="-120"/>
              </a:rPr>
              <a:t>FACE 3</a:t>
            </a:r>
            <a:endParaRPr lang="en-US" sz="1100" dirty="0"/>
          </a:p>
        </p:txBody>
      </p:sp>
      <p:sp>
        <p:nvSpPr>
          <p:cNvPr id="38" name="Text 36"/>
          <p:cNvSpPr/>
          <p:nvPr/>
        </p:nvSpPr>
        <p:spPr>
          <a:xfrm>
            <a:off x="5897880" y="3813048"/>
            <a:ext cx="1051560" cy="146304"/>
          </a:xfrm>
          <a:prstGeom prst="rect">
            <a:avLst/>
          </a:prstGeom>
          <a:noFill/>
          <a:ln/>
        </p:spPr>
        <p:txBody>
          <a:bodyPr wrap="square" lIns="0" tIns="0" rIns="0" bIns="0" rtlCol="0" anchor="ctr"/>
          <a:lstStyle/>
          <a:p>
            <a:pPr marL="0" indent="0" algn="ctr">
              <a:buNone/>
            </a:pPr>
            <a:r>
              <a:rPr lang="en-US" sz="950" dirty="0">
                <a:solidFill>
                  <a:srgbClr val="9AA5B1"/>
                </a:solidFill>
                <a:latin typeface="Calibri" pitchFamily="34" charset="0"/>
                <a:ea typeface="Calibri" pitchFamily="34" charset="-122"/>
                <a:cs typeface="Calibri" pitchFamily="34" charset="-120"/>
              </a:rPr>
              <a:t>V dipoles</a:t>
            </a:r>
            <a:endParaRPr lang="en-US" sz="950" dirty="0"/>
          </a:p>
        </p:txBody>
      </p:sp>
      <p:sp>
        <p:nvSpPr>
          <p:cNvPr id="39" name="Shape 37"/>
          <p:cNvSpPr/>
          <p:nvPr/>
        </p:nvSpPr>
        <p:spPr>
          <a:xfrm>
            <a:off x="6949440" y="2994660"/>
            <a:ext cx="1051560" cy="0"/>
          </a:xfrm>
          <a:prstGeom prst="line">
            <a:avLst/>
          </a:prstGeom>
          <a:noFill/>
          <a:ln w="22225">
            <a:solidFill>
              <a:srgbClr val="CBD3DB"/>
            </a:solidFill>
            <a:prstDash val="dash"/>
            <a:tailEnd type="triangle"/>
          </a:ln>
        </p:spPr>
      </p:sp>
      <p:sp>
        <p:nvSpPr>
          <p:cNvPr id="40" name="Text 38"/>
          <p:cNvSpPr/>
          <p:nvPr/>
        </p:nvSpPr>
        <p:spPr>
          <a:xfrm>
            <a:off x="8092440" y="2724912"/>
            <a:ext cx="1280160" cy="237744"/>
          </a:xfrm>
          <a:prstGeom prst="rect">
            <a:avLst/>
          </a:prstGeom>
          <a:noFill/>
          <a:ln/>
        </p:spPr>
        <p:txBody>
          <a:bodyPr wrap="square" lIns="0" tIns="0" rIns="0" bIns="0" rtlCol="0" anchor="ctr"/>
          <a:lstStyle/>
          <a:p>
            <a:pPr marL="0" indent="0">
              <a:buNone/>
            </a:pPr>
            <a:r>
              <a:rPr lang="en-US" sz="1250" b="1" dirty="0">
                <a:solidFill>
                  <a:srgbClr val="9AA5B1"/>
                </a:solidFill>
                <a:latin typeface="Calibri" pitchFamily="34" charset="0"/>
                <a:ea typeface="Calibri" pitchFamily="34" charset="-122"/>
                <a:cs typeface="Calibri" pitchFamily="34" charset="-120"/>
              </a:rPr>
              <a:t>Rx: H</a:t>
            </a:r>
            <a:endParaRPr lang="en-US" sz="1250" dirty="0"/>
          </a:p>
        </p:txBody>
      </p:sp>
      <p:sp>
        <p:nvSpPr>
          <p:cNvPr id="41" name="Text 39"/>
          <p:cNvSpPr/>
          <p:nvPr/>
        </p:nvSpPr>
        <p:spPr>
          <a:xfrm>
            <a:off x="8092440" y="2999232"/>
            <a:ext cx="1280160" cy="237744"/>
          </a:xfrm>
          <a:prstGeom prst="rect">
            <a:avLst/>
          </a:prstGeom>
          <a:noFill/>
          <a:ln/>
        </p:spPr>
        <p:txBody>
          <a:bodyPr wrap="square" lIns="0" tIns="0" rIns="0" bIns="0" rtlCol="0" anchor="ctr"/>
          <a:lstStyle/>
          <a:p>
            <a:pPr marL="0" indent="0">
              <a:buNone/>
            </a:pPr>
            <a:r>
              <a:rPr lang="en-US" sz="1250" b="1" dirty="0">
                <a:solidFill>
                  <a:srgbClr val="B85C00"/>
                </a:solidFill>
                <a:latin typeface="Calibri" pitchFamily="34" charset="0"/>
                <a:ea typeface="Calibri" pitchFamily="34" charset="-122"/>
                <a:cs typeface="Calibri" pitchFamily="34" charset="-120"/>
              </a:rPr>
              <a:t>reads 0</a:t>
            </a:r>
            <a:endParaRPr lang="en-US" sz="1250" dirty="0"/>
          </a:p>
        </p:txBody>
      </p:sp>
      <p:sp>
        <p:nvSpPr>
          <p:cNvPr id="42" name="Shape 40"/>
          <p:cNvSpPr/>
          <p:nvPr/>
        </p:nvSpPr>
        <p:spPr>
          <a:xfrm>
            <a:off x="548640" y="4069080"/>
            <a:ext cx="10698480" cy="475488"/>
          </a:xfrm>
          <a:prstGeom prst="roundRect">
            <a:avLst>
              <a:gd name="adj" fmla="val 15385"/>
            </a:avLst>
          </a:prstGeom>
          <a:solidFill>
            <a:srgbClr val="12161C"/>
          </a:solidFill>
          <a:ln/>
          <a:effectLst>
            <a:outerShdw blurRad="101600" dist="38100" dir="5400000" algn="bl" rotWithShape="0">
              <a:srgbClr val="9AA5B1">
                <a:alpha val="22000"/>
              </a:srgbClr>
            </a:outerShdw>
          </a:effectLst>
        </p:spPr>
      </p:sp>
      <p:sp>
        <p:nvSpPr>
          <p:cNvPr id="43" name="Text 41"/>
          <p:cNvSpPr/>
          <p:nvPr/>
        </p:nvSpPr>
        <p:spPr>
          <a:xfrm>
            <a:off x="777240" y="4206240"/>
            <a:ext cx="10241280" cy="201168"/>
          </a:xfrm>
          <a:prstGeom prst="rect">
            <a:avLst/>
          </a:prstGeom>
          <a:noFill/>
          <a:ln/>
        </p:spPr>
        <p:txBody>
          <a:bodyPr wrap="square" lIns="0" tIns="0" rIns="0" bIns="0" rtlCol="0" anchor="ctr"/>
          <a:lstStyle/>
          <a:p>
            <a:pPr marL="0" indent="0">
              <a:lnSpc>
                <a:spcPct val="130000"/>
              </a:lnSpc>
              <a:buNone/>
            </a:pPr>
            <a:r>
              <a:rPr lang="en-US" sz="1300" dirty="0">
                <a:solidFill>
                  <a:srgbClr val="4FD8EB"/>
                </a:solidFill>
                <a:latin typeface="Courier New" pitchFamily="34" charset="0"/>
                <a:ea typeface="Courier New" pitchFamily="34" charset="-122"/>
                <a:cs typeface="Courier New" pitchFamily="34" charset="-120"/>
              </a:rPr>
              <a:t>E_inc = Ĥ   →   E_refl,1 = (Ĥ·V̂)V̂ = 0   →   no field reaches Face 2 / Face 3   →   σ_HH ≈ 0</a:t>
            </a:r>
            <a:endParaRPr lang="en-US" sz="1300" dirty="0"/>
          </a:p>
        </p:txBody>
      </p:sp>
      <p:sp>
        <p:nvSpPr>
          <p:cNvPr id="44" name="Shape 42"/>
          <p:cNvSpPr/>
          <p:nvPr/>
        </p:nvSpPr>
        <p:spPr>
          <a:xfrm>
            <a:off x="548640" y="4663440"/>
            <a:ext cx="5120640" cy="1325880"/>
          </a:xfrm>
          <a:prstGeom prst="roundRect">
            <a:avLst>
              <a:gd name="adj" fmla="val 5517"/>
            </a:avLst>
          </a:prstGeom>
          <a:solidFill>
            <a:srgbClr val="E6EAF0"/>
          </a:solidFill>
          <a:ln/>
          <a:effectLst>
            <a:outerShdw blurRad="101600" dist="38100" dir="5400000" algn="bl" rotWithShape="0">
              <a:srgbClr val="9AA5B1">
                <a:alpha val="22000"/>
              </a:srgbClr>
            </a:outerShdw>
          </a:effectLst>
        </p:spPr>
      </p:sp>
      <p:sp>
        <p:nvSpPr>
          <p:cNvPr id="45" name="Text 43"/>
          <p:cNvSpPr/>
          <p:nvPr/>
        </p:nvSpPr>
        <p:spPr>
          <a:xfrm>
            <a:off x="822960" y="4828032"/>
            <a:ext cx="4572000" cy="274320"/>
          </a:xfrm>
          <a:prstGeom prst="rect">
            <a:avLst/>
          </a:prstGeom>
          <a:noFill/>
          <a:ln/>
        </p:spPr>
        <p:txBody>
          <a:bodyPr wrap="square" lIns="0" tIns="0" rIns="0" bIns="0" rtlCol="0" anchor="ctr"/>
          <a:lstStyle/>
          <a:p>
            <a:pPr marL="0" indent="0">
              <a:buNone/>
            </a:pPr>
            <a:r>
              <a:rPr lang="en-US" sz="1150" b="1" kern="0" spc="100" dirty="0">
                <a:solidFill>
                  <a:srgbClr val="5B6672"/>
                </a:solidFill>
                <a:latin typeface="Calibri" pitchFamily="34" charset="0"/>
                <a:ea typeface="Calibri" pitchFamily="34" charset="-122"/>
                <a:cs typeface="Calibri" pitchFamily="34" charset="-120"/>
              </a:rPr>
              <a:t>SCALAR / PERFECT ELECTRIC CONDUCTOR (PEC) MODEL</a:t>
            </a:r>
          </a:p>
          <a:p>
            <a:pPr marL="0" indent="0">
              <a:buNone/>
            </a:pPr>
            <a:r>
              <a:rPr lang="en-US" sz="1150" b="1" kern="0" spc="100" dirty="0">
                <a:solidFill>
                  <a:srgbClr val="5B6672"/>
                </a:solidFill>
                <a:latin typeface="Calibri" pitchFamily="34" charset="0"/>
                <a:ea typeface="Calibri" pitchFamily="34" charset="-122"/>
                <a:cs typeface="Calibri" pitchFamily="34" charset="-120"/>
              </a:rPr>
              <a:t>  (e.g. SARCASTIC/MATLAB)</a:t>
            </a:r>
            <a:endParaRPr lang="en-US" sz="1150" dirty="0"/>
          </a:p>
        </p:txBody>
      </p:sp>
      <p:sp>
        <p:nvSpPr>
          <p:cNvPr id="46" name="Text 44"/>
          <p:cNvSpPr/>
          <p:nvPr/>
        </p:nvSpPr>
        <p:spPr>
          <a:xfrm>
            <a:off x="822960" y="5120640"/>
            <a:ext cx="4572000" cy="548640"/>
          </a:xfrm>
          <a:prstGeom prst="rect">
            <a:avLst/>
          </a:prstGeom>
          <a:noFill/>
          <a:ln/>
        </p:spPr>
        <p:txBody>
          <a:bodyPr wrap="square" lIns="0" tIns="0" rIns="0" bIns="0" rtlCol="0" anchor="ctr"/>
          <a:lstStyle/>
          <a:p>
            <a:pPr marL="0" indent="0">
              <a:lnSpc>
                <a:spcPct val="115000"/>
              </a:lnSpc>
              <a:buNone/>
            </a:pPr>
            <a:r>
              <a:rPr lang="en-US" sz="1300" dirty="0">
                <a:solidFill>
                  <a:srgbClr val="141A22"/>
                </a:solidFill>
                <a:latin typeface="Calibri" pitchFamily="34" charset="0"/>
                <a:ea typeface="Calibri" pitchFamily="34" charset="-122"/>
                <a:cs typeface="Calibri" pitchFamily="34" charset="-120"/>
              </a:rPr>
              <a:t>Trihedral = orientation-insensitive, maximum-cross section calibration standard.</a:t>
            </a:r>
            <a:endParaRPr lang="en-US" sz="1300" dirty="0"/>
          </a:p>
        </p:txBody>
      </p:sp>
      <p:sp>
        <p:nvSpPr>
          <p:cNvPr id="47" name="Text 45"/>
          <p:cNvSpPr/>
          <p:nvPr/>
        </p:nvSpPr>
        <p:spPr>
          <a:xfrm>
            <a:off x="822960" y="5596128"/>
            <a:ext cx="4572000" cy="365760"/>
          </a:xfrm>
          <a:prstGeom prst="rect">
            <a:avLst/>
          </a:prstGeom>
          <a:noFill/>
          <a:ln/>
        </p:spPr>
        <p:txBody>
          <a:bodyPr wrap="square" lIns="0" tIns="0" rIns="0" bIns="0" rtlCol="0" anchor="ctr"/>
          <a:lstStyle/>
          <a:p>
            <a:pPr marL="0" indent="0">
              <a:buNone/>
            </a:pPr>
            <a:r>
              <a:rPr lang="en-US" sz="2100" b="1" dirty="0">
                <a:solidFill>
                  <a:srgbClr val="B85C00"/>
                </a:solidFill>
                <a:latin typeface="Cambria" pitchFamily="34" charset="0"/>
                <a:ea typeface="Cambria" pitchFamily="34" charset="-122"/>
                <a:cs typeface="Cambria" pitchFamily="34" charset="-120"/>
              </a:rPr>
              <a:t>STRONG RETURN</a:t>
            </a:r>
            <a:endParaRPr lang="en-US" sz="2100" dirty="0"/>
          </a:p>
        </p:txBody>
      </p:sp>
      <p:sp>
        <p:nvSpPr>
          <p:cNvPr id="48" name="Shape 46"/>
          <p:cNvSpPr/>
          <p:nvPr/>
        </p:nvSpPr>
        <p:spPr>
          <a:xfrm>
            <a:off x="6126480" y="4663440"/>
            <a:ext cx="5120640" cy="1325880"/>
          </a:xfrm>
          <a:prstGeom prst="roundRect">
            <a:avLst>
              <a:gd name="adj" fmla="val 5517"/>
            </a:avLst>
          </a:prstGeom>
          <a:solidFill>
            <a:srgbClr val="E6EAF0"/>
          </a:solidFill>
          <a:ln/>
          <a:effectLst>
            <a:outerShdw blurRad="101600" dist="38100" dir="5400000" algn="bl" rotWithShape="0">
              <a:srgbClr val="9AA5B1">
                <a:alpha val="22000"/>
              </a:srgbClr>
            </a:outerShdw>
          </a:effectLst>
        </p:spPr>
      </p:sp>
      <p:sp>
        <p:nvSpPr>
          <p:cNvPr id="49" name="Text 47"/>
          <p:cNvSpPr/>
          <p:nvPr/>
        </p:nvSpPr>
        <p:spPr>
          <a:xfrm>
            <a:off x="6400800" y="4828032"/>
            <a:ext cx="4572000" cy="274320"/>
          </a:xfrm>
          <a:prstGeom prst="rect">
            <a:avLst/>
          </a:prstGeom>
          <a:noFill/>
          <a:ln/>
        </p:spPr>
        <p:txBody>
          <a:bodyPr wrap="square" lIns="0" tIns="0" rIns="0" bIns="0" rtlCol="0" anchor="ctr"/>
          <a:lstStyle/>
          <a:p>
            <a:pPr marL="0" indent="0">
              <a:buNone/>
            </a:pPr>
            <a:r>
              <a:rPr lang="en-US" sz="1150" b="1" kern="0" spc="100" dirty="0">
                <a:solidFill>
                  <a:srgbClr val="5B6672"/>
                </a:solidFill>
                <a:latin typeface="Calibri" pitchFamily="34" charset="0"/>
                <a:ea typeface="Calibri" pitchFamily="34" charset="-122"/>
                <a:cs typeface="Calibri" pitchFamily="34" charset="-120"/>
              </a:rPr>
              <a:t>SINCLAIR-MATRIX MODEL (Ansys)</a:t>
            </a:r>
            <a:endParaRPr lang="en-US" sz="1150" dirty="0"/>
          </a:p>
        </p:txBody>
      </p:sp>
      <p:sp>
        <p:nvSpPr>
          <p:cNvPr id="50" name="Text 48"/>
          <p:cNvSpPr/>
          <p:nvPr/>
        </p:nvSpPr>
        <p:spPr>
          <a:xfrm>
            <a:off x="6400800" y="5120640"/>
            <a:ext cx="4572000" cy="548640"/>
          </a:xfrm>
          <a:prstGeom prst="rect">
            <a:avLst/>
          </a:prstGeom>
          <a:noFill/>
          <a:ln/>
        </p:spPr>
        <p:txBody>
          <a:bodyPr wrap="square" lIns="0" tIns="0" rIns="0" bIns="0" rtlCol="0" anchor="ctr"/>
          <a:lstStyle/>
          <a:p>
            <a:pPr marL="0" indent="0">
              <a:lnSpc>
                <a:spcPct val="115000"/>
              </a:lnSpc>
              <a:buNone/>
            </a:pPr>
            <a:r>
              <a:rPr lang="en-US" sz="1300" dirty="0">
                <a:solidFill>
                  <a:srgbClr val="141A22"/>
                </a:solidFill>
                <a:latin typeface="Calibri" pitchFamily="34" charset="0"/>
                <a:ea typeface="Calibri" pitchFamily="34" charset="-122"/>
                <a:cs typeface="Calibri" pitchFamily="34" charset="-120"/>
              </a:rPr>
              <a:t>Tracks field polarization per bounce against each face’s own grid axis.</a:t>
            </a:r>
            <a:endParaRPr lang="en-US" sz="1300" dirty="0"/>
          </a:p>
        </p:txBody>
      </p:sp>
      <p:sp>
        <p:nvSpPr>
          <p:cNvPr id="51" name="Text 49"/>
          <p:cNvSpPr/>
          <p:nvPr/>
        </p:nvSpPr>
        <p:spPr>
          <a:xfrm>
            <a:off x="6400800" y="5596128"/>
            <a:ext cx="4572000" cy="365760"/>
          </a:xfrm>
          <a:prstGeom prst="rect">
            <a:avLst/>
          </a:prstGeom>
          <a:noFill/>
          <a:ln/>
        </p:spPr>
        <p:txBody>
          <a:bodyPr wrap="square" lIns="0" tIns="0" rIns="0" bIns="0" rtlCol="0" anchor="ctr"/>
          <a:lstStyle/>
          <a:p>
            <a:pPr marL="0" indent="0">
              <a:buNone/>
            </a:pPr>
            <a:r>
              <a:rPr lang="en-US" sz="2100" b="1" dirty="0">
                <a:solidFill>
                  <a:srgbClr val="0B7285"/>
                </a:solidFill>
                <a:latin typeface="Cambria" pitchFamily="34" charset="0"/>
                <a:ea typeface="Cambria" pitchFamily="34" charset="-122"/>
                <a:cs typeface="Cambria" pitchFamily="34" charset="-120"/>
              </a:rPr>
              <a:t>HH RETURN ≈ 0</a:t>
            </a:r>
            <a:endParaRPr lang="en-US" sz="2100" dirty="0"/>
          </a:p>
        </p:txBody>
      </p:sp>
      <p:sp>
        <p:nvSpPr>
          <p:cNvPr id="52" name="Text 50"/>
          <p:cNvSpPr/>
          <p:nvPr/>
        </p:nvSpPr>
        <p:spPr>
          <a:xfrm>
            <a:off x="548640" y="6080760"/>
            <a:ext cx="10698480" cy="320040"/>
          </a:xfrm>
          <a:prstGeom prst="rect">
            <a:avLst/>
          </a:prstGeom>
          <a:noFill/>
          <a:ln/>
        </p:spPr>
        <p:txBody>
          <a:bodyPr wrap="square" lIns="0" tIns="0" rIns="0" bIns="0" rtlCol="0" anchor="ctr"/>
          <a:lstStyle/>
          <a:p>
            <a:pPr marL="0" indent="0">
              <a:lnSpc>
                <a:spcPct val="110000"/>
              </a:lnSpc>
              <a:buNone/>
            </a:pPr>
            <a:r>
              <a:rPr lang="en-US" sz="1050" i="1" dirty="0">
                <a:solidFill>
                  <a:srgbClr val="5B6672"/>
                </a:solidFill>
                <a:latin typeface="Calibri" pitchFamily="34" charset="0"/>
                <a:ea typeface="Calibri" pitchFamily="34" charset="-122"/>
                <a:cs typeface="Calibri" pitchFamily="34" charset="-120"/>
              </a:rPr>
              <a:t>Idealized model: each face acts as a linear polarizer along its own wire axis. A scalar/PEC simulator has no per-face polarization state to null against — it would predict the opposite.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300" b="1" dirty="0">
                <a:solidFill>
                  <a:srgbClr val="141A22"/>
                </a:solidFill>
                <a:latin typeface="Cambria" pitchFamily="34" charset="0"/>
                <a:ea typeface="Cambria" pitchFamily="34" charset="-122"/>
                <a:cs typeface="Cambria" pitchFamily="34" charset="-120"/>
              </a:rPr>
              <a:t>Materials matter: different mechanisms, not just brightness</a:t>
            </a:r>
            <a:endParaRPr lang="en-US" sz="2300" dirty="0"/>
          </a:p>
        </p:txBody>
      </p:sp>
      <p:sp>
        <p:nvSpPr>
          <p:cNvPr id="4" name="Shape 2"/>
          <p:cNvSpPr/>
          <p:nvPr/>
        </p:nvSpPr>
        <p:spPr>
          <a:xfrm>
            <a:off x="548640" y="1783080"/>
            <a:ext cx="5166360" cy="2103120"/>
          </a:xfrm>
          <a:prstGeom prst="roundRect">
            <a:avLst>
              <a:gd name="adj" fmla="val 3478"/>
            </a:avLst>
          </a:prstGeom>
          <a:solidFill>
            <a:srgbClr val="F1F4F8"/>
          </a:solidFill>
          <a:ln/>
          <a:effectLst>
            <a:outerShdw blurRad="101600" dist="38100" dir="5400000" algn="bl" rotWithShape="0">
              <a:srgbClr val="9AA5B1">
                <a:alpha val="22000"/>
              </a:srgbClr>
            </a:outerShdw>
          </a:effectLst>
        </p:spPr>
      </p:sp>
      <p:sp>
        <p:nvSpPr>
          <p:cNvPr id="5" name="Shape 3"/>
          <p:cNvSpPr/>
          <p:nvPr/>
        </p:nvSpPr>
        <p:spPr>
          <a:xfrm>
            <a:off x="822960" y="2057400"/>
            <a:ext cx="658368" cy="658368"/>
          </a:xfrm>
          <a:prstGeom prst="ellipse">
            <a:avLst/>
          </a:prstGeom>
          <a:solidFill>
            <a:srgbClr val="FF9E2C"/>
          </a:solidFill>
          <a:ln/>
        </p:spPr>
      </p:sp>
      <p:pic>
        <p:nvPicPr>
          <p:cNvPr id="6" name="Image 0" descr="/sessions/sweet-friendly-mayer/mnt/outputs/presentation/icons/FaMicrochip_dark.png"/>
          <p:cNvPicPr>
            <a:picLocks noChangeAspect="1"/>
          </p:cNvPicPr>
          <p:nvPr/>
        </p:nvPicPr>
        <p:blipFill>
          <a:blip r:embed="rId3"/>
          <a:stretch>
            <a:fillRect/>
          </a:stretch>
        </p:blipFill>
        <p:spPr>
          <a:xfrm>
            <a:off x="1000719" y="2235159"/>
            <a:ext cx="302849" cy="302849"/>
          </a:xfrm>
          <a:prstGeom prst="rect">
            <a:avLst/>
          </a:prstGeom>
        </p:spPr>
      </p:pic>
      <p:sp>
        <p:nvSpPr>
          <p:cNvPr id="7" name="Text 4"/>
          <p:cNvSpPr/>
          <p:nvPr/>
        </p:nvSpPr>
        <p:spPr>
          <a:xfrm>
            <a:off x="1645920" y="2039112"/>
            <a:ext cx="3840480" cy="685800"/>
          </a:xfrm>
          <a:prstGeom prst="rect">
            <a:avLst/>
          </a:prstGeom>
          <a:noFill/>
          <a:ln/>
        </p:spPr>
        <p:txBody>
          <a:bodyPr wrap="square" lIns="0" tIns="0" rIns="0" bIns="0" rtlCol="0" anchor="t"/>
          <a:lstStyle/>
          <a:p>
            <a:pPr marL="0" indent="0">
              <a:buNone/>
            </a:pPr>
            <a:r>
              <a:rPr lang="en-US" sz="1500" b="1" dirty="0">
                <a:solidFill>
                  <a:srgbClr val="141A22"/>
                </a:solidFill>
                <a:latin typeface="Calibri" pitchFamily="34" charset="0"/>
                <a:ea typeface="Calibri" pitchFamily="34" charset="-122"/>
                <a:cs typeface="Calibri" pitchFamily="34" charset="-120"/>
              </a:rPr>
              <a:t>Smooth metal</a:t>
            </a:r>
            <a:endParaRPr lang="en-US" sz="1500" dirty="0"/>
          </a:p>
        </p:txBody>
      </p:sp>
      <p:sp>
        <p:nvSpPr>
          <p:cNvPr id="8" name="Text 5"/>
          <p:cNvSpPr/>
          <p:nvPr/>
        </p:nvSpPr>
        <p:spPr>
          <a:xfrm>
            <a:off x="822960" y="2834640"/>
            <a:ext cx="4617720" cy="914400"/>
          </a:xfrm>
          <a:prstGeom prst="rect">
            <a:avLst/>
          </a:prstGeom>
          <a:noFill/>
          <a:ln/>
        </p:spPr>
        <p:txBody>
          <a:bodyPr wrap="square" lIns="0" tIns="0" rIns="0" bIns="0" rtlCol="0" anchor="t"/>
          <a:lstStyle/>
          <a:p>
            <a:pPr marL="0" indent="0">
              <a:lnSpc>
                <a:spcPct val="115000"/>
              </a:lnSpc>
              <a:buNone/>
            </a:pPr>
            <a:r>
              <a:rPr lang="en-US" sz="1200" i="1" dirty="0">
                <a:solidFill>
                  <a:srgbClr val="5B6672"/>
                </a:solidFill>
                <a:latin typeface="Calibri" pitchFamily="34" charset="0"/>
                <a:ea typeface="Calibri" pitchFamily="34" charset="-122"/>
                <a:cs typeface="Calibri" pitchFamily="34" charset="-120"/>
              </a:rPr>
              <a:t>Near-total conductor, R≈1 both polarizations → strong co-pol, weak cross-pol. Clean-mirror regime.</a:t>
            </a:r>
            <a:endParaRPr lang="en-US" sz="1200" dirty="0"/>
          </a:p>
        </p:txBody>
      </p:sp>
      <p:sp>
        <p:nvSpPr>
          <p:cNvPr id="9" name="Shape 6"/>
          <p:cNvSpPr/>
          <p:nvPr/>
        </p:nvSpPr>
        <p:spPr>
          <a:xfrm>
            <a:off x="6172200" y="1783080"/>
            <a:ext cx="5166360" cy="2103120"/>
          </a:xfrm>
          <a:prstGeom prst="roundRect">
            <a:avLst>
              <a:gd name="adj" fmla="val 3478"/>
            </a:avLst>
          </a:prstGeom>
          <a:solidFill>
            <a:srgbClr val="F1F4F8"/>
          </a:solidFill>
          <a:ln/>
          <a:effectLst>
            <a:outerShdw blurRad="101600" dist="38100" dir="5400000" algn="bl" rotWithShape="0">
              <a:srgbClr val="9AA5B1">
                <a:alpha val="22000"/>
              </a:srgbClr>
            </a:outerShdw>
          </a:effectLst>
        </p:spPr>
      </p:sp>
      <p:sp>
        <p:nvSpPr>
          <p:cNvPr id="10" name="Shape 7"/>
          <p:cNvSpPr/>
          <p:nvPr/>
        </p:nvSpPr>
        <p:spPr>
          <a:xfrm>
            <a:off x="6446520" y="2057400"/>
            <a:ext cx="658368" cy="658368"/>
          </a:xfrm>
          <a:prstGeom prst="ellipse">
            <a:avLst/>
          </a:prstGeom>
          <a:solidFill>
            <a:srgbClr val="4FD8EB"/>
          </a:solidFill>
          <a:ln/>
        </p:spPr>
      </p:sp>
      <p:pic>
        <p:nvPicPr>
          <p:cNvPr id="11" name="Image 1" descr="/sessions/sweet-friendly-mayer/mnt/outputs/presentation/icons/FaLeaf_dark.png"/>
          <p:cNvPicPr>
            <a:picLocks noChangeAspect="1"/>
          </p:cNvPicPr>
          <p:nvPr/>
        </p:nvPicPr>
        <p:blipFill>
          <a:blip r:embed="rId4"/>
          <a:stretch>
            <a:fillRect/>
          </a:stretch>
        </p:blipFill>
        <p:spPr>
          <a:xfrm>
            <a:off x="6624279" y="2235159"/>
            <a:ext cx="302849" cy="302849"/>
          </a:xfrm>
          <a:prstGeom prst="rect">
            <a:avLst/>
          </a:prstGeom>
        </p:spPr>
      </p:pic>
      <p:sp>
        <p:nvSpPr>
          <p:cNvPr id="12" name="Text 8"/>
          <p:cNvSpPr/>
          <p:nvPr/>
        </p:nvSpPr>
        <p:spPr>
          <a:xfrm>
            <a:off x="7269480" y="2039112"/>
            <a:ext cx="3840480" cy="685800"/>
          </a:xfrm>
          <a:prstGeom prst="rect">
            <a:avLst/>
          </a:prstGeom>
          <a:noFill/>
          <a:ln/>
        </p:spPr>
        <p:txBody>
          <a:bodyPr wrap="square" lIns="0" tIns="0" rIns="0" bIns="0" rtlCol="0" anchor="t"/>
          <a:lstStyle/>
          <a:p>
            <a:pPr marL="0" indent="0">
              <a:buNone/>
            </a:pPr>
            <a:r>
              <a:rPr lang="en-US" sz="1500" b="1" dirty="0">
                <a:solidFill>
                  <a:srgbClr val="141A22"/>
                </a:solidFill>
                <a:latin typeface="Calibri" pitchFamily="34" charset="0"/>
                <a:ea typeface="Calibri" pitchFamily="34" charset="-122"/>
                <a:cs typeface="Calibri" pitchFamily="34" charset="-120"/>
              </a:rPr>
              <a:t>Vegetation / canopy</a:t>
            </a:r>
            <a:endParaRPr lang="en-US" sz="1500" dirty="0"/>
          </a:p>
        </p:txBody>
      </p:sp>
      <p:sp>
        <p:nvSpPr>
          <p:cNvPr id="13" name="Text 9"/>
          <p:cNvSpPr/>
          <p:nvPr/>
        </p:nvSpPr>
        <p:spPr>
          <a:xfrm>
            <a:off x="6446520" y="2834640"/>
            <a:ext cx="4617720" cy="914400"/>
          </a:xfrm>
          <a:prstGeom prst="rect">
            <a:avLst/>
          </a:prstGeom>
          <a:noFill/>
          <a:ln/>
        </p:spPr>
        <p:txBody>
          <a:bodyPr wrap="square" lIns="0" tIns="0" rIns="0" bIns="0" rtlCol="0" anchor="t"/>
          <a:lstStyle/>
          <a:p>
            <a:pPr marL="0" indent="0">
              <a:lnSpc>
                <a:spcPct val="115000"/>
              </a:lnSpc>
              <a:buNone/>
            </a:pPr>
            <a:r>
              <a:rPr lang="en-US" sz="1200" i="1" dirty="0">
                <a:solidFill>
                  <a:srgbClr val="5B6672"/>
                </a:solidFill>
                <a:latin typeface="Calibri" pitchFamily="34" charset="0"/>
                <a:ea typeface="Calibri" pitchFamily="34" charset="-122"/>
                <a:cs typeface="Calibri" pitchFamily="34" charset="-120"/>
              </a:rPr>
              <a:t>Volume scattering from many small random scatterers → genuine depolarization → strong cross-pol (HV).</a:t>
            </a:r>
            <a:endParaRPr lang="en-US" sz="1200" dirty="0"/>
          </a:p>
        </p:txBody>
      </p:sp>
      <p:sp>
        <p:nvSpPr>
          <p:cNvPr id="14" name="Shape 10"/>
          <p:cNvSpPr/>
          <p:nvPr/>
        </p:nvSpPr>
        <p:spPr>
          <a:xfrm>
            <a:off x="548640" y="4160520"/>
            <a:ext cx="5166360" cy="2103120"/>
          </a:xfrm>
          <a:prstGeom prst="roundRect">
            <a:avLst>
              <a:gd name="adj" fmla="val 3478"/>
            </a:avLst>
          </a:prstGeom>
          <a:solidFill>
            <a:srgbClr val="F1F4F8"/>
          </a:solidFill>
          <a:ln/>
          <a:effectLst>
            <a:outerShdw blurRad="101600" dist="38100" dir="5400000" algn="bl" rotWithShape="0">
              <a:srgbClr val="9AA5B1">
                <a:alpha val="22000"/>
              </a:srgbClr>
            </a:outerShdw>
          </a:effectLst>
        </p:spPr>
      </p:sp>
      <p:sp>
        <p:nvSpPr>
          <p:cNvPr id="15" name="Shape 11"/>
          <p:cNvSpPr/>
          <p:nvPr/>
        </p:nvSpPr>
        <p:spPr>
          <a:xfrm>
            <a:off x="822960" y="4434840"/>
            <a:ext cx="658368" cy="658368"/>
          </a:xfrm>
          <a:prstGeom prst="ellipse">
            <a:avLst/>
          </a:prstGeom>
          <a:solidFill>
            <a:srgbClr val="FF9E2C"/>
          </a:solidFill>
          <a:ln/>
        </p:spPr>
      </p:sp>
      <p:pic>
        <p:nvPicPr>
          <p:cNvPr id="16" name="Image 2" descr="/sessions/sweet-friendly-mayer/mnt/outputs/presentation/icons/FaCube_dark.png"/>
          <p:cNvPicPr>
            <a:picLocks noChangeAspect="1"/>
          </p:cNvPicPr>
          <p:nvPr/>
        </p:nvPicPr>
        <p:blipFill>
          <a:blip r:embed="rId5"/>
          <a:stretch>
            <a:fillRect/>
          </a:stretch>
        </p:blipFill>
        <p:spPr>
          <a:xfrm>
            <a:off x="1000719" y="4612599"/>
            <a:ext cx="302849" cy="302849"/>
          </a:xfrm>
          <a:prstGeom prst="rect">
            <a:avLst/>
          </a:prstGeom>
        </p:spPr>
      </p:pic>
      <p:sp>
        <p:nvSpPr>
          <p:cNvPr id="17" name="Text 12"/>
          <p:cNvSpPr/>
          <p:nvPr/>
        </p:nvSpPr>
        <p:spPr>
          <a:xfrm>
            <a:off x="1645920" y="4416552"/>
            <a:ext cx="3840480" cy="685800"/>
          </a:xfrm>
          <a:prstGeom prst="rect">
            <a:avLst/>
          </a:prstGeom>
          <a:noFill/>
          <a:ln/>
        </p:spPr>
        <p:txBody>
          <a:bodyPr wrap="square" lIns="0" tIns="0" rIns="0" bIns="0" rtlCol="0" anchor="t"/>
          <a:lstStyle/>
          <a:p>
            <a:pPr marL="0" indent="0">
              <a:buNone/>
            </a:pPr>
            <a:r>
              <a:rPr lang="en-US" sz="1500" b="1" dirty="0">
                <a:solidFill>
                  <a:srgbClr val="141A22"/>
                </a:solidFill>
                <a:latin typeface="Calibri" pitchFamily="34" charset="0"/>
                <a:ea typeface="Calibri" pitchFamily="34" charset="-122"/>
                <a:cs typeface="Calibri" pitchFamily="34" charset="-120"/>
              </a:rPr>
              <a:t>Bare / rough soil</a:t>
            </a:r>
            <a:endParaRPr lang="en-US" sz="1500" dirty="0"/>
          </a:p>
        </p:txBody>
      </p:sp>
      <p:sp>
        <p:nvSpPr>
          <p:cNvPr id="18" name="Text 13"/>
          <p:cNvSpPr/>
          <p:nvPr/>
        </p:nvSpPr>
        <p:spPr>
          <a:xfrm>
            <a:off x="822960" y="5212080"/>
            <a:ext cx="4617720" cy="914400"/>
          </a:xfrm>
          <a:prstGeom prst="rect">
            <a:avLst/>
          </a:prstGeom>
          <a:noFill/>
          <a:ln/>
        </p:spPr>
        <p:txBody>
          <a:bodyPr wrap="square" lIns="0" tIns="0" rIns="0" bIns="0" rtlCol="0" anchor="t"/>
          <a:lstStyle/>
          <a:p>
            <a:pPr marL="0" indent="0">
              <a:lnSpc>
                <a:spcPct val="115000"/>
              </a:lnSpc>
              <a:buNone/>
            </a:pPr>
            <a:r>
              <a:rPr lang="en-US" sz="1200" i="1" dirty="0">
                <a:solidFill>
                  <a:srgbClr val="5B6672"/>
                </a:solidFill>
                <a:latin typeface="Calibri" pitchFamily="34" charset="0"/>
                <a:ea typeface="Calibri" pitchFamily="34" charset="-122"/>
                <a:cs typeface="Calibri" pitchFamily="34" charset="-120"/>
              </a:rPr>
              <a:t>Bragg regime, VV typically &gt; HH; some cross-pol, far less than vegetation.</a:t>
            </a:r>
            <a:endParaRPr lang="en-US" sz="1200" dirty="0"/>
          </a:p>
        </p:txBody>
      </p:sp>
      <p:sp>
        <p:nvSpPr>
          <p:cNvPr id="19" name="Shape 14"/>
          <p:cNvSpPr/>
          <p:nvPr/>
        </p:nvSpPr>
        <p:spPr>
          <a:xfrm>
            <a:off x="6172200" y="4160520"/>
            <a:ext cx="5166360" cy="2103120"/>
          </a:xfrm>
          <a:prstGeom prst="roundRect">
            <a:avLst>
              <a:gd name="adj" fmla="val 3478"/>
            </a:avLst>
          </a:prstGeom>
          <a:solidFill>
            <a:srgbClr val="F1F4F8"/>
          </a:solidFill>
          <a:ln/>
          <a:effectLst>
            <a:outerShdw blurRad="101600" dist="38100" dir="5400000" algn="bl" rotWithShape="0">
              <a:srgbClr val="9AA5B1">
                <a:alpha val="22000"/>
              </a:srgbClr>
            </a:outerShdw>
          </a:effectLst>
        </p:spPr>
      </p:sp>
      <p:sp>
        <p:nvSpPr>
          <p:cNvPr id="20" name="Shape 15"/>
          <p:cNvSpPr/>
          <p:nvPr/>
        </p:nvSpPr>
        <p:spPr>
          <a:xfrm>
            <a:off x="6446520" y="4434840"/>
            <a:ext cx="658368" cy="658368"/>
          </a:xfrm>
          <a:prstGeom prst="ellipse">
            <a:avLst/>
          </a:prstGeom>
          <a:solidFill>
            <a:srgbClr val="4FD8EB"/>
          </a:solidFill>
          <a:ln/>
        </p:spPr>
      </p:sp>
      <p:pic>
        <p:nvPicPr>
          <p:cNvPr id="21" name="Image 3" descr="/sessions/sweet-friendly-mayer/mnt/outputs/presentation/icons/FaBuilding_dark.png"/>
          <p:cNvPicPr>
            <a:picLocks noChangeAspect="1"/>
          </p:cNvPicPr>
          <p:nvPr/>
        </p:nvPicPr>
        <p:blipFill>
          <a:blip r:embed="rId6"/>
          <a:stretch>
            <a:fillRect/>
          </a:stretch>
        </p:blipFill>
        <p:spPr>
          <a:xfrm>
            <a:off x="6624279" y="4612599"/>
            <a:ext cx="302849" cy="302849"/>
          </a:xfrm>
          <a:prstGeom prst="rect">
            <a:avLst/>
          </a:prstGeom>
        </p:spPr>
      </p:pic>
      <p:sp>
        <p:nvSpPr>
          <p:cNvPr id="22" name="Text 16"/>
          <p:cNvSpPr/>
          <p:nvPr/>
        </p:nvSpPr>
        <p:spPr>
          <a:xfrm>
            <a:off x="7269480" y="4416552"/>
            <a:ext cx="3840480" cy="685800"/>
          </a:xfrm>
          <a:prstGeom prst="rect">
            <a:avLst/>
          </a:prstGeom>
          <a:noFill/>
          <a:ln/>
        </p:spPr>
        <p:txBody>
          <a:bodyPr wrap="square" lIns="0" tIns="0" rIns="0" bIns="0" rtlCol="0" anchor="t"/>
          <a:lstStyle/>
          <a:p>
            <a:pPr marL="0" indent="0">
              <a:buNone/>
            </a:pPr>
            <a:r>
              <a:rPr lang="en-US" sz="1500" b="1" dirty="0">
                <a:solidFill>
                  <a:srgbClr val="141A22"/>
                </a:solidFill>
                <a:latin typeface="Calibri" pitchFamily="34" charset="0"/>
                <a:ea typeface="Calibri" pitchFamily="34" charset="-122"/>
                <a:cs typeface="Calibri" pitchFamily="34" charset="-120"/>
              </a:rPr>
              <a:t>Rotated dihedral</a:t>
            </a:r>
            <a:endParaRPr lang="en-US" sz="1500" dirty="0"/>
          </a:p>
        </p:txBody>
      </p:sp>
      <p:sp>
        <p:nvSpPr>
          <p:cNvPr id="23" name="Text 17"/>
          <p:cNvSpPr/>
          <p:nvPr/>
        </p:nvSpPr>
        <p:spPr>
          <a:xfrm>
            <a:off x="6446520" y="5212080"/>
            <a:ext cx="4617720" cy="914400"/>
          </a:xfrm>
          <a:prstGeom prst="rect">
            <a:avLst/>
          </a:prstGeom>
          <a:noFill/>
          <a:ln/>
        </p:spPr>
        <p:txBody>
          <a:bodyPr wrap="square" lIns="0" tIns="0" rIns="0" bIns="0" rtlCol="0" anchor="t"/>
          <a:lstStyle/>
          <a:p>
            <a:pPr marL="0" indent="0">
              <a:lnSpc>
                <a:spcPct val="115000"/>
              </a:lnSpc>
              <a:buNone/>
            </a:pPr>
            <a:r>
              <a:rPr lang="en-US" sz="1200" i="1" dirty="0">
                <a:solidFill>
                  <a:srgbClr val="5B6672"/>
                </a:solidFill>
                <a:latin typeface="Calibri" pitchFamily="34" charset="0"/>
                <a:ea typeface="Calibri" pitchFamily="34" charset="-122"/>
                <a:cs typeface="Calibri" pitchFamily="34" charset="-120"/>
              </a:rPr>
              <a:t>Apparent cross-pol from polarization rotation -- deterministic, not the vegetation’s random depolarization.</a:t>
            </a:r>
            <a:endParaRPr lang="en-US" sz="1200" dirty="0"/>
          </a:p>
        </p:txBody>
      </p:sp>
      <p:sp>
        <p:nvSpPr>
          <p:cNvPr id="25" name="Text 0">
            <a:extLst>
              <a:ext uri="{FF2B5EF4-FFF2-40B4-BE49-F238E27FC236}">
                <a16:creationId xmlns:a16="http://schemas.microsoft.com/office/drawing/2014/main" id="{867A4377-1C8E-9BC4-82B1-BD18B1D06130}"/>
              </a:ext>
            </a:extLst>
          </p:cNvPr>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WHY POLARIZATION MATTERS, CONTINUED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Hybrid clutter model — don’t ray-trace grass</a:t>
            </a:r>
            <a:endParaRPr lang="en-US" sz="2800" dirty="0"/>
          </a:p>
        </p:txBody>
      </p:sp>
      <p:sp>
        <p:nvSpPr>
          <p:cNvPr id="4" name="Shape 2"/>
          <p:cNvSpPr/>
          <p:nvPr/>
        </p:nvSpPr>
        <p:spPr>
          <a:xfrm>
            <a:off x="548640" y="1783080"/>
            <a:ext cx="5120640" cy="3566160"/>
          </a:xfrm>
          <a:prstGeom prst="roundRect">
            <a:avLst>
              <a:gd name="adj" fmla="val 2051"/>
            </a:avLst>
          </a:prstGeom>
          <a:solidFill>
            <a:srgbClr val="F1F4F8"/>
          </a:solidFill>
          <a:ln/>
          <a:effectLst>
            <a:outerShdw blurRad="101600" dist="38100" dir="5400000" algn="bl" rotWithShape="0">
              <a:srgbClr val="9AA5B1">
                <a:alpha val="22000"/>
              </a:srgbClr>
            </a:outerShdw>
          </a:effectLst>
        </p:spPr>
      </p:sp>
      <p:sp>
        <p:nvSpPr>
          <p:cNvPr id="5" name="Shape 3"/>
          <p:cNvSpPr/>
          <p:nvPr/>
        </p:nvSpPr>
        <p:spPr>
          <a:xfrm>
            <a:off x="822960" y="2057400"/>
            <a:ext cx="640080" cy="640080"/>
          </a:xfrm>
          <a:prstGeom prst="ellipse">
            <a:avLst/>
          </a:prstGeom>
          <a:solidFill>
            <a:srgbClr val="FF9E2C"/>
          </a:solidFill>
          <a:ln/>
        </p:spPr>
      </p:sp>
      <p:pic>
        <p:nvPicPr>
          <p:cNvPr id="6" name="Image 0" descr="/sessions/sweet-friendly-mayer/mnt/outputs/presentation/icons/FaBuilding_dark.png"/>
          <p:cNvPicPr>
            <a:picLocks noChangeAspect="1"/>
          </p:cNvPicPr>
          <p:nvPr/>
        </p:nvPicPr>
        <p:blipFill>
          <a:blip r:embed="rId3"/>
          <a:stretch>
            <a:fillRect/>
          </a:stretch>
        </p:blipFill>
        <p:spPr>
          <a:xfrm>
            <a:off x="995782" y="2230222"/>
            <a:ext cx="294437" cy="294437"/>
          </a:xfrm>
          <a:prstGeom prst="rect">
            <a:avLst/>
          </a:prstGeom>
        </p:spPr>
      </p:pic>
      <p:sp>
        <p:nvSpPr>
          <p:cNvPr id="7" name="Text 4"/>
          <p:cNvSpPr/>
          <p:nvPr/>
        </p:nvSpPr>
        <p:spPr>
          <a:xfrm>
            <a:off x="1600200" y="2103120"/>
            <a:ext cx="3291840" cy="548640"/>
          </a:xfrm>
          <a:prstGeom prst="rect">
            <a:avLst/>
          </a:prstGeom>
          <a:noFill/>
          <a:ln/>
        </p:spPr>
        <p:txBody>
          <a:bodyPr wrap="square" lIns="0" tIns="0" rIns="0" bIns="0" rtlCol="0" anchor="ctr"/>
          <a:lstStyle/>
          <a:p>
            <a:pPr marL="0" indent="0">
              <a:buNone/>
            </a:pPr>
            <a:r>
              <a:rPr lang="en-US" sz="1500" b="1" dirty="0">
                <a:solidFill>
                  <a:srgbClr val="141A22"/>
                </a:solidFill>
                <a:latin typeface="Calibri" pitchFamily="34" charset="0"/>
                <a:ea typeface="Calibri" pitchFamily="34" charset="-122"/>
                <a:cs typeface="Calibri" pitchFamily="34" charset="-120"/>
              </a:rPr>
              <a:t>Deterministic / specular</a:t>
            </a:r>
            <a:endParaRPr lang="en-US" sz="1500" dirty="0"/>
          </a:p>
        </p:txBody>
      </p:sp>
      <p:sp>
        <p:nvSpPr>
          <p:cNvPr id="8" name="Text 5"/>
          <p:cNvSpPr/>
          <p:nvPr/>
        </p:nvSpPr>
        <p:spPr>
          <a:xfrm>
            <a:off x="822960" y="2926080"/>
            <a:ext cx="4572000" cy="2194560"/>
          </a:xfrm>
          <a:prstGeom prst="rect">
            <a:avLst/>
          </a:prstGeom>
          <a:noFill/>
          <a:ln/>
        </p:spPr>
        <p:txBody>
          <a:bodyPr wrap="square" lIns="0" tIns="0" rIns="0" bIns="0" rtlCol="0" anchor="t"/>
          <a:lstStyle/>
          <a:p>
            <a:pPr marL="203200" indent="-203200">
              <a:lnSpc>
                <a:spcPct val="112000"/>
              </a:lnSpc>
              <a:spcAft>
                <a:spcPts val="1200"/>
              </a:spcAft>
              <a:buSzPct val="100000"/>
              <a:buChar char="•"/>
            </a:pPr>
            <a:r>
              <a:rPr lang="en-US" sz="1350" dirty="0">
                <a:solidFill>
                  <a:srgbClr val="141A22"/>
                </a:solidFill>
                <a:latin typeface="Calibri" pitchFamily="34" charset="0"/>
                <a:ea typeface="Calibri" pitchFamily="34" charset="-122"/>
                <a:cs typeface="Calibri" pitchFamily="34" charset="-120"/>
              </a:rPr>
              <a:t>Buildings, metal, smooth ground, water</a:t>
            </a:r>
            <a:endParaRPr lang="en-US" sz="1350" dirty="0"/>
          </a:p>
          <a:p>
            <a:pPr marL="203200" indent="-203200">
              <a:lnSpc>
                <a:spcPct val="112000"/>
              </a:lnSpc>
              <a:spcAft>
                <a:spcPts val="1200"/>
              </a:spcAft>
              <a:buSzPct val="100000"/>
              <a:buChar char="•"/>
            </a:pPr>
            <a:r>
              <a:rPr lang="en-US" sz="1350" dirty="0">
                <a:solidFill>
                  <a:srgbClr val="141A22"/>
                </a:solidFill>
                <a:latin typeface="Calibri" pitchFamily="34" charset="0"/>
                <a:ea typeface="Calibri" pitchFamily="34" charset="-122"/>
                <a:cs typeface="Calibri" pitchFamily="34" charset="-120"/>
              </a:rPr>
              <a:t>Full ray-traced Sinclair-matrix treatment (Steps 3–4), or ASC parameters for canonical structures</a:t>
            </a:r>
            <a:endParaRPr lang="en-US" sz="1350" dirty="0"/>
          </a:p>
        </p:txBody>
      </p:sp>
      <p:sp>
        <p:nvSpPr>
          <p:cNvPr id="9" name="Shape 6"/>
          <p:cNvSpPr/>
          <p:nvPr/>
        </p:nvSpPr>
        <p:spPr>
          <a:xfrm>
            <a:off x="6126480" y="1783080"/>
            <a:ext cx="5120640" cy="3566160"/>
          </a:xfrm>
          <a:prstGeom prst="roundRect">
            <a:avLst>
              <a:gd name="adj" fmla="val 2051"/>
            </a:avLst>
          </a:prstGeom>
          <a:solidFill>
            <a:srgbClr val="F1F4F8"/>
          </a:solidFill>
          <a:ln/>
          <a:effectLst>
            <a:outerShdw blurRad="101600" dist="38100" dir="5400000" algn="bl" rotWithShape="0">
              <a:srgbClr val="9AA5B1">
                <a:alpha val="22000"/>
              </a:srgbClr>
            </a:outerShdw>
          </a:effectLst>
        </p:spPr>
      </p:sp>
      <p:sp>
        <p:nvSpPr>
          <p:cNvPr id="10" name="Shape 7"/>
          <p:cNvSpPr/>
          <p:nvPr/>
        </p:nvSpPr>
        <p:spPr>
          <a:xfrm>
            <a:off x="6400800" y="2057400"/>
            <a:ext cx="640080" cy="640080"/>
          </a:xfrm>
          <a:prstGeom prst="ellipse">
            <a:avLst/>
          </a:prstGeom>
          <a:solidFill>
            <a:srgbClr val="4FD8EB"/>
          </a:solidFill>
          <a:ln/>
        </p:spPr>
      </p:sp>
      <p:pic>
        <p:nvPicPr>
          <p:cNvPr id="11" name="Image 1" descr="/sessions/sweet-friendly-mayer/mnt/outputs/presentation/icons/FaLeaf_dark.png"/>
          <p:cNvPicPr>
            <a:picLocks noChangeAspect="1"/>
          </p:cNvPicPr>
          <p:nvPr/>
        </p:nvPicPr>
        <p:blipFill>
          <a:blip r:embed="rId4"/>
          <a:stretch>
            <a:fillRect/>
          </a:stretch>
        </p:blipFill>
        <p:spPr>
          <a:xfrm>
            <a:off x="6573622" y="2230222"/>
            <a:ext cx="294437" cy="294437"/>
          </a:xfrm>
          <a:prstGeom prst="rect">
            <a:avLst/>
          </a:prstGeom>
        </p:spPr>
      </p:pic>
      <p:sp>
        <p:nvSpPr>
          <p:cNvPr id="12" name="Text 8"/>
          <p:cNvSpPr/>
          <p:nvPr/>
        </p:nvSpPr>
        <p:spPr>
          <a:xfrm>
            <a:off x="7178040" y="2103120"/>
            <a:ext cx="3291840" cy="548640"/>
          </a:xfrm>
          <a:prstGeom prst="rect">
            <a:avLst/>
          </a:prstGeom>
          <a:noFill/>
          <a:ln/>
        </p:spPr>
        <p:txBody>
          <a:bodyPr wrap="square" lIns="0" tIns="0" rIns="0" bIns="0" rtlCol="0" anchor="ctr"/>
          <a:lstStyle/>
          <a:p>
            <a:pPr marL="0" indent="0">
              <a:buNone/>
            </a:pPr>
            <a:r>
              <a:rPr lang="en-US" sz="1500" b="1" dirty="0">
                <a:solidFill>
                  <a:srgbClr val="141A22"/>
                </a:solidFill>
                <a:latin typeface="Calibri" pitchFamily="34" charset="0"/>
                <a:ea typeface="Calibri" pitchFamily="34" charset="-122"/>
                <a:cs typeface="Calibri" pitchFamily="34" charset="-120"/>
              </a:rPr>
              <a:t>Diffuse / volume-scattering</a:t>
            </a:r>
            <a:endParaRPr lang="en-US" sz="1500" dirty="0"/>
          </a:p>
        </p:txBody>
      </p:sp>
      <p:sp>
        <p:nvSpPr>
          <p:cNvPr id="13" name="Text 9"/>
          <p:cNvSpPr/>
          <p:nvPr/>
        </p:nvSpPr>
        <p:spPr>
          <a:xfrm>
            <a:off x="6400800" y="2926080"/>
            <a:ext cx="4572000" cy="2194560"/>
          </a:xfrm>
          <a:prstGeom prst="rect">
            <a:avLst/>
          </a:prstGeom>
          <a:noFill/>
          <a:ln/>
        </p:spPr>
        <p:txBody>
          <a:bodyPr wrap="square" lIns="0" tIns="0" rIns="0" bIns="0" rtlCol="0" anchor="t"/>
          <a:lstStyle/>
          <a:p>
            <a:pPr marL="203200" indent="-203200">
              <a:lnSpc>
                <a:spcPct val="112000"/>
              </a:lnSpc>
              <a:spcAft>
                <a:spcPts val="1200"/>
              </a:spcAft>
              <a:buSzPct val="100000"/>
              <a:buChar char="•"/>
            </a:pPr>
            <a:r>
              <a:rPr lang="en-US" sz="1350" dirty="0">
                <a:solidFill>
                  <a:srgbClr val="141A22"/>
                </a:solidFill>
                <a:latin typeface="Calibri" pitchFamily="34" charset="0"/>
                <a:ea typeface="Calibri" pitchFamily="34" charset="-122"/>
                <a:cs typeface="Calibri" pitchFamily="34" charset="-120"/>
              </a:rPr>
              <a:t>Vegetation, rough soil</a:t>
            </a:r>
            <a:endParaRPr lang="en-US" sz="1350" dirty="0"/>
          </a:p>
          <a:p>
            <a:pPr marL="203200" indent="-203200">
              <a:lnSpc>
                <a:spcPct val="112000"/>
              </a:lnSpc>
              <a:spcAft>
                <a:spcPts val="1200"/>
              </a:spcAft>
              <a:buSzPct val="100000"/>
              <a:buChar char="•"/>
            </a:pPr>
            <a:r>
              <a:rPr lang="en-US" sz="1350" dirty="0">
                <a:solidFill>
                  <a:srgbClr val="141A22"/>
                </a:solidFill>
                <a:latin typeface="Calibri" pitchFamily="34" charset="0"/>
                <a:ea typeface="Calibri" pitchFamily="34" charset="-122"/>
                <a:cs typeface="Calibri" pitchFamily="34" charset="-120"/>
              </a:rPr>
              <a:t>Empirical σ⁰_hh/vv/hv vs. incidence angle per land-cover class (Oh/IEM, water-cloud model, or AIRSAR/PolSAR tables) -- statistical draw, not traced geometry</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oundRect">
            <a:avLst>
              <a:gd name="adj" fmla="val 1067"/>
            </a:avLst>
          </a:prstGeom>
          <a:solidFill>
            <a:srgbClr val="F1F4F8"/>
          </a:solidFill>
          <a:ln/>
        </p:spPr>
      </p:sp>
      <p:sp>
        <p:nvSpPr>
          <p:cNvPr id="3" name="Shape 1"/>
          <p:cNvSpPr/>
          <p:nvPr/>
        </p:nvSpPr>
        <p:spPr>
          <a:xfrm>
            <a:off x="548640" y="502920"/>
            <a:ext cx="868680" cy="868680"/>
          </a:xfrm>
          <a:prstGeom prst="ellipse">
            <a:avLst/>
          </a:prstGeom>
          <a:solidFill>
            <a:srgbClr val="4FD8EB"/>
          </a:solidFill>
          <a:ln/>
        </p:spPr>
      </p:sp>
      <p:pic>
        <p:nvPicPr>
          <p:cNvPr id="4" name="Image 0" descr="/sessions/sweet-friendly-mayer/mnt/outputs/presentation/icons/FaCloudRain_dark.png"/>
          <p:cNvPicPr>
            <a:picLocks noChangeAspect="1"/>
          </p:cNvPicPr>
          <p:nvPr/>
        </p:nvPicPr>
        <p:blipFill>
          <a:blip r:embed="rId3"/>
          <a:stretch>
            <a:fillRect/>
          </a:stretch>
        </p:blipFill>
        <p:spPr>
          <a:xfrm>
            <a:off x="783184" y="737464"/>
            <a:ext cx="399593" cy="399593"/>
          </a:xfrm>
          <a:prstGeom prst="rect">
            <a:avLst/>
          </a:prstGeom>
        </p:spPr>
      </p:pic>
      <p:sp>
        <p:nvSpPr>
          <p:cNvPr id="5" name="Text 2"/>
          <p:cNvSpPr/>
          <p:nvPr/>
        </p:nvSpPr>
        <p:spPr>
          <a:xfrm>
            <a:off x="1600200" y="566928"/>
            <a:ext cx="5486400" cy="320040"/>
          </a:xfrm>
          <a:prstGeom prst="rect">
            <a:avLst/>
          </a:prstGeom>
          <a:noFill/>
          <a:ln/>
        </p:spPr>
        <p:txBody>
          <a:bodyPr wrap="square" lIns="0" tIns="0" rIns="0" bIns="0" rtlCol="0" anchor="ctr"/>
          <a:lstStyle/>
          <a:p>
            <a:pPr marL="0" indent="0">
              <a:buNone/>
            </a:pPr>
            <a:r>
              <a:rPr lang="en-US" sz="1300" b="1" kern="0" spc="200" dirty="0">
                <a:solidFill>
                  <a:srgbClr val="0B7285"/>
                </a:solidFill>
                <a:latin typeface="Calibri" pitchFamily="34" charset="0"/>
                <a:ea typeface="Calibri" pitchFamily="34" charset="-122"/>
                <a:cs typeface="Calibri" pitchFamily="34" charset="-120"/>
              </a:rPr>
              <a:t>CORRECTION</a:t>
            </a:r>
            <a:endParaRPr lang="en-US" sz="1300" dirty="0"/>
          </a:p>
        </p:txBody>
      </p:sp>
      <p:sp>
        <p:nvSpPr>
          <p:cNvPr id="6" name="Text 3"/>
          <p:cNvSpPr/>
          <p:nvPr/>
        </p:nvSpPr>
        <p:spPr>
          <a:xfrm>
            <a:off x="1600200" y="868680"/>
            <a:ext cx="9966960" cy="868680"/>
          </a:xfrm>
          <a:prstGeom prst="rect">
            <a:avLst/>
          </a:prstGeom>
          <a:noFill/>
          <a:ln/>
        </p:spPr>
        <p:txBody>
          <a:bodyPr wrap="square" lIns="0" tIns="0" rIns="0" bIns="0" rtlCol="0" anchor="t"/>
          <a:lstStyle/>
          <a:p>
            <a:pPr marL="0" indent="0">
              <a:buNone/>
            </a:pPr>
            <a:r>
              <a:rPr lang="en-US" sz="2600" b="1" dirty="0">
                <a:solidFill>
                  <a:srgbClr val="141A22"/>
                </a:solidFill>
                <a:latin typeface="Cambria" pitchFamily="34" charset="0"/>
                <a:ea typeface="Cambria" pitchFamily="34" charset="-122"/>
                <a:cs typeface="Cambria" pitchFamily="34" charset="-120"/>
              </a:rPr>
              <a:t>Weather isn’t an ASC-vs-SBR question</a:t>
            </a:r>
            <a:endParaRPr lang="en-US" sz="2600" dirty="0"/>
          </a:p>
        </p:txBody>
      </p:sp>
      <p:sp>
        <p:nvSpPr>
          <p:cNvPr id="7" name="Text 4"/>
          <p:cNvSpPr/>
          <p:nvPr/>
        </p:nvSpPr>
        <p:spPr>
          <a:xfrm>
            <a:off x="548640" y="2011680"/>
            <a:ext cx="10698480" cy="4023360"/>
          </a:xfrm>
          <a:prstGeom prst="rect">
            <a:avLst/>
          </a:prstGeom>
          <a:noFill/>
          <a:ln/>
        </p:spPr>
        <p:txBody>
          <a:bodyPr wrap="square" lIns="0" tIns="0" rIns="0" bIns="0" rtlCol="0" anchor="t"/>
          <a:lstStyle/>
          <a:p>
            <a:pPr marL="203200" indent="-203200">
              <a:lnSpc>
                <a:spcPct val="112000"/>
              </a:lnSpc>
              <a:spcAft>
                <a:spcPts val="1800"/>
              </a:spcAft>
              <a:buSzPct val="100000"/>
              <a:buChar char="•"/>
            </a:pPr>
            <a:r>
              <a:rPr lang="en-US" sz="1500" dirty="0">
                <a:solidFill>
                  <a:srgbClr val="141A22"/>
                </a:solidFill>
                <a:latin typeface="Calibri" pitchFamily="34" charset="0"/>
                <a:ea typeface="Calibri" pitchFamily="34" charset="-122"/>
                <a:cs typeface="Calibri" pitchFamily="34" charset="-120"/>
              </a:rPr>
              <a:t>Doppler content doesn’t come from choosing ASC over SBR -- it falls out of the per-pulse forward model computing delay and phase at every platform position. Both already get correct Doppler for free.</a:t>
            </a:r>
            <a:endParaRPr lang="en-US" sz="1500" dirty="0"/>
          </a:p>
          <a:p>
            <a:pPr marL="203200" indent="-203200">
              <a:lnSpc>
                <a:spcPct val="112000"/>
              </a:lnSpc>
              <a:spcAft>
                <a:spcPts val="1800"/>
              </a:spcAft>
              <a:buSzPct val="100000"/>
              <a:buChar char="•"/>
            </a:pPr>
            <a:r>
              <a:rPr lang="en-US" sz="1500" dirty="0">
                <a:solidFill>
                  <a:srgbClr val="141A22"/>
                </a:solidFill>
                <a:latin typeface="Calibri" pitchFamily="34" charset="0"/>
                <a:ea typeface="Calibri" pitchFamily="34" charset="-122"/>
                <a:cs typeface="Calibri" pitchFamily="34" charset="-120"/>
              </a:rPr>
              <a:t>Rain isn’t a rigid discrete structure -- it’s a large, volumetric population of individually falling/drifting drops. A fundamentally different kind of target than the scattering centers ASC and SBR represent.</a:t>
            </a:r>
            <a:endParaRPr lang="en-US" sz="1500" dirty="0"/>
          </a:p>
          <a:p>
            <a:pPr marL="203200" indent="-203200">
              <a:lnSpc>
                <a:spcPct val="112000"/>
              </a:lnSpc>
              <a:spcAft>
                <a:spcPts val="1800"/>
              </a:spcAft>
              <a:buSzPct val="100000"/>
              <a:buChar char="•"/>
            </a:pPr>
            <a:r>
              <a:rPr lang="en-US" sz="1500" dirty="0">
                <a:solidFill>
                  <a:srgbClr val="141A22"/>
                </a:solidFill>
                <a:latin typeface="Calibri" pitchFamily="34" charset="0"/>
                <a:ea typeface="Calibri" pitchFamily="34" charset="-122"/>
                <a:cs typeface="Calibri" pitchFamily="34" charset="-120"/>
              </a:rPr>
              <a:t>What actually distinguishes weather: each contributor moves between pulses -- closer to the diffuse-terrain treatment (Step 5) than to either scattering-representation choice.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POSSIBLE EXTENSIONS</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600" b="1" dirty="0">
                <a:solidFill>
                  <a:srgbClr val="141A22"/>
                </a:solidFill>
                <a:latin typeface="Cambria" pitchFamily="34" charset="0"/>
                <a:ea typeface="Cambria" pitchFamily="34" charset="-122"/>
                <a:cs typeface="Cambria" pitchFamily="34" charset="-120"/>
              </a:rPr>
              <a:t>Movers &amp; maneuvering contacts – SAR/GMTI simulator?</a:t>
            </a:r>
            <a:endParaRPr lang="en-US" sz="2600" dirty="0"/>
          </a:p>
        </p:txBody>
      </p:sp>
      <p:sp>
        <p:nvSpPr>
          <p:cNvPr id="4" name="Shape 2"/>
          <p:cNvSpPr/>
          <p:nvPr/>
        </p:nvSpPr>
        <p:spPr>
          <a:xfrm>
            <a:off x="10378440" y="621792"/>
            <a:ext cx="914400" cy="914400"/>
          </a:xfrm>
          <a:prstGeom prst="ellipse">
            <a:avLst/>
          </a:prstGeom>
          <a:solidFill>
            <a:srgbClr val="FF9E2C"/>
          </a:solidFill>
          <a:ln/>
        </p:spPr>
      </p:sp>
      <p:pic>
        <p:nvPicPr>
          <p:cNvPr id="5" name="Image 0" descr="/sessions/sweet-friendly-mayer/mnt/outputs/presentation/icons/FaWaveSquare_dark.png"/>
          <p:cNvPicPr>
            <a:picLocks noChangeAspect="1"/>
          </p:cNvPicPr>
          <p:nvPr/>
        </p:nvPicPr>
        <p:blipFill>
          <a:blip r:embed="rId3"/>
          <a:stretch>
            <a:fillRect/>
          </a:stretch>
        </p:blipFill>
        <p:spPr>
          <a:xfrm>
            <a:off x="10625328" y="868680"/>
            <a:ext cx="420624" cy="420624"/>
          </a:xfrm>
          <a:prstGeom prst="rect">
            <a:avLst/>
          </a:prstGeom>
        </p:spPr>
      </p:pic>
      <p:sp>
        <p:nvSpPr>
          <p:cNvPr id="6" name="Shape 3"/>
          <p:cNvSpPr/>
          <p:nvPr/>
        </p:nvSpPr>
        <p:spPr>
          <a:xfrm>
            <a:off x="548640" y="1783080"/>
            <a:ext cx="5120640" cy="4251960"/>
          </a:xfrm>
          <a:prstGeom prst="roundRect">
            <a:avLst>
              <a:gd name="adj" fmla="val 1720"/>
            </a:avLst>
          </a:prstGeom>
          <a:solidFill>
            <a:srgbClr val="F1F4F8"/>
          </a:solidFill>
          <a:ln/>
          <a:effectLst>
            <a:outerShdw blurRad="101600" dist="38100" dir="5400000" algn="bl" rotWithShape="0">
              <a:srgbClr val="9AA5B1">
                <a:alpha val="22000"/>
              </a:srgbClr>
            </a:outerShdw>
          </a:effectLst>
        </p:spPr>
      </p:sp>
      <p:sp>
        <p:nvSpPr>
          <p:cNvPr id="7" name="Text 4"/>
          <p:cNvSpPr/>
          <p:nvPr/>
        </p:nvSpPr>
        <p:spPr>
          <a:xfrm>
            <a:off x="822960" y="1965960"/>
            <a:ext cx="4572000" cy="365760"/>
          </a:xfrm>
          <a:prstGeom prst="rect">
            <a:avLst/>
          </a:prstGeom>
          <a:noFill/>
          <a:ln/>
        </p:spPr>
        <p:txBody>
          <a:bodyPr wrap="square" lIns="0" tIns="0" rIns="0" bIns="0" rtlCol="0" anchor="ctr"/>
          <a:lstStyle/>
          <a:p>
            <a:pPr marL="0" indent="0">
              <a:buNone/>
            </a:pPr>
            <a:r>
              <a:rPr lang="en-US" sz="1300" b="1" kern="0" spc="100" dirty="0">
                <a:solidFill>
                  <a:srgbClr val="0B7285"/>
                </a:solidFill>
                <a:latin typeface="Calibri" pitchFamily="34" charset="0"/>
                <a:ea typeface="Calibri" pitchFamily="34" charset="-122"/>
                <a:cs typeface="Calibri" pitchFamily="34" charset="-120"/>
              </a:rPr>
              <a:t>CONSTANT-VELOCITY MOVERS</a:t>
            </a:r>
            <a:endParaRPr lang="en-US" sz="1300" dirty="0"/>
          </a:p>
        </p:txBody>
      </p:sp>
      <p:sp>
        <p:nvSpPr>
          <p:cNvPr id="8" name="Text 5"/>
          <p:cNvSpPr/>
          <p:nvPr/>
        </p:nvSpPr>
        <p:spPr>
          <a:xfrm>
            <a:off x="822960" y="2423160"/>
            <a:ext cx="4572000" cy="3429000"/>
          </a:xfrm>
          <a:prstGeom prst="rect">
            <a:avLst/>
          </a:prstGeom>
          <a:noFill/>
          <a:ln/>
        </p:spPr>
        <p:txBody>
          <a:bodyPr wrap="square" lIns="0" tIns="0" rIns="0" bIns="0" rtlCol="0" anchor="t"/>
          <a:lstStyle/>
          <a:p>
            <a:pPr marL="203200" indent="-203200">
              <a:lnSpc>
                <a:spcPct val="112000"/>
              </a:lnSpc>
              <a:spcAft>
                <a:spcPts val="1200"/>
              </a:spcAft>
              <a:buSzPct val="100000"/>
              <a:buChar char="•"/>
            </a:pPr>
            <a:r>
              <a:rPr lang="en-US" sz="1300" dirty="0">
                <a:solidFill>
                  <a:srgbClr val="141A22"/>
                </a:solidFill>
                <a:latin typeface="Calibri" pitchFamily="34" charset="0"/>
                <a:ea typeface="Calibri" pitchFamily="34" charset="-122"/>
                <a:cs typeface="Calibri" pitchFamily="34" charset="-120"/>
              </a:rPr>
              <a:t>Give a scatterer time-varying position pos0 + v·t instead of static -- forward model needs no other changes</a:t>
            </a:r>
            <a:endParaRPr lang="en-US" sz="1300" dirty="0"/>
          </a:p>
          <a:p>
            <a:pPr marL="203200" indent="-203200">
              <a:lnSpc>
                <a:spcPct val="112000"/>
              </a:lnSpc>
              <a:spcAft>
                <a:spcPts val="1200"/>
              </a:spcAft>
              <a:buSzPct val="100000"/>
              <a:buChar char="•"/>
            </a:pPr>
            <a:r>
              <a:rPr lang="en-US" sz="1300" dirty="0">
                <a:solidFill>
                  <a:srgbClr val="141A22"/>
                </a:solidFill>
                <a:latin typeface="Calibri" pitchFamily="34" charset="0"/>
                <a:ea typeface="Calibri" pitchFamily="34" charset="-122"/>
                <a:cs typeface="Calibri" pitchFamily="34" charset="-120"/>
              </a:rPr>
              <a:t>Azimuth displacement Δx ≈ R·v_r / v_platform and Doppler-rate-mismatch defocus emerge automatically, not hand-coded</a:t>
            </a:r>
            <a:endParaRPr lang="en-US" sz="1300" dirty="0"/>
          </a:p>
          <a:p>
            <a:pPr marL="203200" indent="-203200">
              <a:lnSpc>
                <a:spcPct val="112000"/>
              </a:lnSpc>
              <a:spcAft>
                <a:spcPts val="1200"/>
              </a:spcAft>
              <a:buSzPct val="100000"/>
              <a:buChar char="•"/>
            </a:pPr>
            <a:r>
              <a:rPr lang="en-US" sz="1300" dirty="0">
                <a:solidFill>
                  <a:srgbClr val="141A22"/>
                </a:solidFill>
                <a:latin typeface="Calibri" pitchFamily="34" charset="0"/>
                <a:ea typeface="Calibri" pitchFamily="34" charset="-122"/>
                <a:cs typeface="Calibri" pitchFamily="34" charset="-120"/>
              </a:rPr>
              <a:t>Validation check: does the sim reproduce the analytic displacement formula for a single point mover?</a:t>
            </a:r>
            <a:endParaRPr lang="en-US" sz="1300" dirty="0"/>
          </a:p>
        </p:txBody>
      </p:sp>
      <p:sp>
        <p:nvSpPr>
          <p:cNvPr id="9" name="Shape 6"/>
          <p:cNvSpPr/>
          <p:nvPr/>
        </p:nvSpPr>
        <p:spPr>
          <a:xfrm>
            <a:off x="6126480" y="1783080"/>
            <a:ext cx="5120640" cy="4251960"/>
          </a:xfrm>
          <a:prstGeom prst="roundRect">
            <a:avLst>
              <a:gd name="adj" fmla="val 1720"/>
            </a:avLst>
          </a:prstGeom>
          <a:solidFill>
            <a:srgbClr val="F1F4F8"/>
          </a:solidFill>
          <a:ln/>
          <a:effectLst>
            <a:outerShdw blurRad="101600" dist="38100" dir="5400000" algn="bl" rotWithShape="0">
              <a:srgbClr val="9AA5B1">
                <a:alpha val="22000"/>
              </a:srgbClr>
            </a:outerShdw>
          </a:effectLst>
        </p:spPr>
      </p:sp>
      <p:sp>
        <p:nvSpPr>
          <p:cNvPr id="10" name="Text 7"/>
          <p:cNvSpPr/>
          <p:nvPr/>
        </p:nvSpPr>
        <p:spPr>
          <a:xfrm>
            <a:off x="6400800" y="1965960"/>
            <a:ext cx="4572000" cy="365760"/>
          </a:xfrm>
          <a:prstGeom prst="rect">
            <a:avLst/>
          </a:prstGeom>
          <a:noFill/>
          <a:ln/>
        </p:spPr>
        <p:txBody>
          <a:bodyPr wrap="square" lIns="0" tIns="0" rIns="0" bIns="0" rtlCol="0" anchor="ctr"/>
          <a:lstStyle/>
          <a:p>
            <a:pPr marL="0" indent="0">
              <a:buNone/>
            </a:pPr>
            <a:r>
              <a:rPr lang="en-US" sz="1300" b="1" kern="0" spc="100" dirty="0">
                <a:solidFill>
                  <a:srgbClr val="B85C00"/>
                </a:solidFill>
                <a:latin typeface="Calibri" pitchFamily="34" charset="0"/>
                <a:ea typeface="Calibri" pitchFamily="34" charset="-122"/>
                <a:cs typeface="Calibri" pitchFamily="34" charset="-120"/>
              </a:rPr>
              <a:t>MANEUVERING CONTACTS (ASC)</a:t>
            </a:r>
            <a:endParaRPr lang="en-US" sz="1300" dirty="0"/>
          </a:p>
        </p:txBody>
      </p:sp>
      <p:sp>
        <p:nvSpPr>
          <p:cNvPr id="11" name="Text 8"/>
          <p:cNvSpPr/>
          <p:nvPr/>
        </p:nvSpPr>
        <p:spPr>
          <a:xfrm>
            <a:off x="6400800" y="2423160"/>
            <a:ext cx="4572000" cy="342900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300" dirty="0">
                <a:solidFill>
                  <a:srgbClr val="141A22"/>
                </a:solidFill>
                <a:latin typeface="Calibri" pitchFamily="34" charset="0"/>
                <a:ea typeface="Calibri" pitchFamily="34" charset="-122"/>
                <a:cs typeface="Calibri" pitchFamily="34" charset="-120"/>
              </a:rPr>
              <a:t>ASC is naturally suited: it’s already parameterized by aspect angle, and a maneuver is just a continuously varying aspect angle</a:t>
            </a:r>
            <a:endParaRPr lang="en-US" sz="1300" dirty="0"/>
          </a:p>
          <a:p>
            <a:pPr marL="203200" indent="-203200">
              <a:lnSpc>
                <a:spcPct val="112000"/>
              </a:lnSpc>
              <a:spcAft>
                <a:spcPts val="1000"/>
              </a:spcAft>
              <a:buSzPct val="100000"/>
              <a:buChar char="•"/>
            </a:pPr>
            <a:r>
              <a:rPr lang="en-US" sz="1300" dirty="0">
                <a:solidFill>
                  <a:srgbClr val="141A22"/>
                </a:solidFill>
                <a:latin typeface="Calibri" pitchFamily="34" charset="0"/>
                <a:ea typeface="Calibri" pitchFamily="34" charset="-122"/>
                <a:cs typeface="Calibri" pitchFamily="34" charset="-120"/>
              </a:rPr>
              <a:t>Fit the scattering-center library once per target type (offline SBR aspect sweep); evaluate the closed-form sum at whatever aspect the maneuver produces, per pulse -- same amortization as Slides 9–10</a:t>
            </a:r>
            <a:endParaRPr lang="en-US" sz="1300" dirty="0"/>
          </a:p>
          <a:p>
            <a:pPr marL="203200" indent="-203200">
              <a:lnSpc>
                <a:spcPct val="112000"/>
              </a:lnSpc>
              <a:spcAft>
                <a:spcPts val="1000"/>
              </a:spcAft>
              <a:buSzPct val="100000"/>
              <a:buChar char="•"/>
            </a:pPr>
            <a:r>
              <a:rPr lang="en-US" sz="1300" dirty="0">
                <a:solidFill>
                  <a:srgbClr val="141A22"/>
                </a:solidFill>
                <a:latin typeface="Calibri" pitchFamily="34" charset="0"/>
                <a:ea typeface="Calibri" pitchFamily="34" charset="-122"/>
                <a:cs typeface="Calibri" pitchFamily="34" charset="-120"/>
              </a:rPr>
              <a:t>Gotchas: sector pop-in/out at persistence-sector boundaries, reference-frame bookkeeping (bulk translation vs. local ASC origin), rigid-body-only -- no independently moving substructure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oundRect">
            <a:avLst>
              <a:gd name="adj" fmla="val 1067"/>
            </a:avLst>
          </a:prstGeom>
          <a:solidFill>
            <a:srgbClr val="F1F4F8"/>
          </a:solidFill>
          <a:ln/>
        </p:spPr>
      </p:sp>
      <p:sp>
        <p:nvSpPr>
          <p:cNvPr id="3" name="Shape 1"/>
          <p:cNvSpPr/>
          <p:nvPr/>
        </p:nvSpPr>
        <p:spPr>
          <a:xfrm>
            <a:off x="548640" y="502920"/>
            <a:ext cx="868680" cy="868680"/>
          </a:xfrm>
          <a:prstGeom prst="ellipse">
            <a:avLst/>
          </a:prstGeom>
          <a:solidFill>
            <a:srgbClr val="4FD8EB"/>
          </a:solidFill>
          <a:ln/>
        </p:spPr>
      </p:sp>
      <p:pic>
        <p:nvPicPr>
          <p:cNvPr id="4" name="Image 0" descr="/sessions/sweet-friendly-mayer/mnt/outputs/presentation/icons/FaLayerGroup_dark.png"/>
          <p:cNvPicPr>
            <a:picLocks noChangeAspect="1"/>
          </p:cNvPicPr>
          <p:nvPr/>
        </p:nvPicPr>
        <p:blipFill>
          <a:blip r:embed="rId3"/>
          <a:stretch>
            <a:fillRect/>
          </a:stretch>
        </p:blipFill>
        <p:spPr>
          <a:xfrm>
            <a:off x="783184" y="737464"/>
            <a:ext cx="399593" cy="399593"/>
          </a:xfrm>
          <a:prstGeom prst="rect">
            <a:avLst/>
          </a:prstGeom>
        </p:spPr>
      </p:pic>
      <p:sp>
        <p:nvSpPr>
          <p:cNvPr id="5" name="Text 2"/>
          <p:cNvSpPr/>
          <p:nvPr/>
        </p:nvSpPr>
        <p:spPr>
          <a:xfrm>
            <a:off x="1600200" y="566928"/>
            <a:ext cx="7315200" cy="320040"/>
          </a:xfrm>
          <a:prstGeom prst="rect">
            <a:avLst/>
          </a:prstGeom>
          <a:noFill/>
          <a:ln/>
        </p:spPr>
        <p:txBody>
          <a:bodyPr wrap="square" lIns="0" tIns="0" rIns="0" bIns="0" rtlCol="0" anchor="ctr"/>
          <a:lstStyle/>
          <a:p>
            <a:pPr marL="0" indent="0">
              <a:buNone/>
            </a:pPr>
            <a:r>
              <a:rPr lang="en-US" sz="1300" b="1" kern="0" spc="200" dirty="0">
                <a:solidFill>
                  <a:srgbClr val="0B7285"/>
                </a:solidFill>
                <a:latin typeface="Calibri" pitchFamily="34" charset="0"/>
                <a:ea typeface="Calibri" pitchFamily="34" charset="-122"/>
                <a:cs typeface="Calibri" pitchFamily="34" charset="-120"/>
              </a:rPr>
              <a:t>POSSIBLE EXTENSIONS</a:t>
            </a:r>
            <a:endParaRPr lang="en-US" sz="1300" dirty="0"/>
          </a:p>
        </p:txBody>
      </p:sp>
      <p:sp>
        <p:nvSpPr>
          <p:cNvPr id="6" name="Text 3"/>
          <p:cNvSpPr/>
          <p:nvPr/>
        </p:nvSpPr>
        <p:spPr>
          <a:xfrm>
            <a:off x="1600200" y="868680"/>
            <a:ext cx="10058400" cy="868680"/>
          </a:xfrm>
          <a:prstGeom prst="rect">
            <a:avLst/>
          </a:prstGeom>
          <a:noFill/>
          <a:ln/>
        </p:spPr>
        <p:txBody>
          <a:bodyPr wrap="square" lIns="0" tIns="0" rIns="0" bIns="0" rtlCol="0" anchor="t"/>
          <a:lstStyle/>
          <a:p>
            <a:pPr marL="0" indent="0">
              <a:buNone/>
            </a:pPr>
            <a:r>
              <a:rPr lang="en-US" sz="2300" b="1" dirty="0">
                <a:solidFill>
                  <a:srgbClr val="141A22"/>
                </a:solidFill>
                <a:latin typeface="Cambria" pitchFamily="34" charset="0"/>
                <a:ea typeface="Cambria" pitchFamily="34" charset="-122"/>
                <a:cs typeface="Cambria" pitchFamily="34" charset="-120"/>
              </a:rPr>
              <a:t>SAR → Ground Moving Target Interval (GMTI): a new architecture axis, not a scatterer type</a:t>
            </a:r>
            <a:endParaRPr lang="en-US" sz="2300" dirty="0"/>
          </a:p>
        </p:txBody>
      </p:sp>
      <p:sp>
        <p:nvSpPr>
          <p:cNvPr id="7" name="Text 4"/>
          <p:cNvSpPr/>
          <p:nvPr/>
        </p:nvSpPr>
        <p:spPr>
          <a:xfrm>
            <a:off x="548640" y="2011680"/>
            <a:ext cx="10698480" cy="2651760"/>
          </a:xfrm>
          <a:prstGeom prst="rect">
            <a:avLst/>
          </a:prstGeom>
          <a:noFill/>
          <a:ln/>
        </p:spPr>
        <p:txBody>
          <a:bodyPr wrap="square" lIns="0" tIns="0" rIns="0" bIns="0" rtlCol="0" anchor="t"/>
          <a:lstStyle/>
          <a:p>
            <a:pPr marL="203200" indent="-203200">
              <a:lnSpc>
                <a:spcPct val="112000"/>
              </a:lnSpc>
              <a:spcAft>
                <a:spcPts val="1200"/>
              </a:spcAft>
              <a:buSzPct val="100000"/>
              <a:buChar char="•"/>
            </a:pPr>
            <a:r>
              <a:rPr lang="en-US" sz="1400" dirty="0">
                <a:solidFill>
                  <a:srgbClr val="141A22"/>
                </a:solidFill>
                <a:latin typeface="Calibri" pitchFamily="34" charset="0"/>
                <a:ea typeface="Calibri" pitchFamily="34" charset="-122"/>
                <a:cs typeface="Calibri" pitchFamily="34" charset="-120"/>
              </a:rPr>
              <a:t>GMTI isn’t "notice a bright pixel moved" -- it needs N simultaneous receive phase centers (sub-aperture receive chains displaced along-track), all observing the same scene and pulse, coherently</a:t>
            </a:r>
            <a:endParaRPr lang="en-US" sz="1400" dirty="0"/>
          </a:p>
          <a:p>
            <a:pPr marL="203200" indent="-203200">
              <a:lnSpc>
                <a:spcPct val="112000"/>
              </a:lnSpc>
              <a:spcAft>
                <a:spcPts val="1200"/>
              </a:spcAft>
              <a:buSzPct val="100000"/>
              <a:buChar char="•"/>
            </a:pPr>
            <a:r>
              <a:rPr lang="en-US" sz="1400" dirty="0">
                <a:solidFill>
                  <a:srgbClr val="141A22"/>
                </a:solidFill>
                <a:latin typeface="Calibri" pitchFamily="34" charset="0"/>
                <a:ea typeface="Calibri" pitchFamily="34" charset="-122"/>
                <a:cs typeface="Calibri" pitchFamily="34" charset="-120"/>
              </a:rPr>
              <a:t>Clutter cancellation separates movers from stationary background across channels -- a genuinely different processing chain from Step 7’s single-channel image formation, not a variant of it</a:t>
            </a:r>
            <a:endParaRPr lang="en-US" sz="1400" dirty="0"/>
          </a:p>
          <a:p>
            <a:pPr marL="203200" indent="-203200">
              <a:lnSpc>
                <a:spcPct val="112000"/>
              </a:lnSpc>
              <a:spcAft>
                <a:spcPts val="1200"/>
              </a:spcAft>
              <a:buSzPct val="100000"/>
              <a:buChar char="•"/>
            </a:pPr>
            <a:r>
              <a:rPr lang="en-US" sz="1400" dirty="0">
                <a:solidFill>
                  <a:srgbClr val="141A22"/>
                </a:solidFill>
                <a:latin typeface="Calibri" pitchFamily="34" charset="0"/>
                <a:ea typeface="Calibri" pitchFamily="34" charset="-122"/>
                <a:cs typeface="Calibri" pitchFamily="34" charset="-120"/>
              </a:rPr>
              <a:t>Simulate the multi-channel mixture honestly and the minimum detectable velocity / clutter notch emerges physically -- slow-radial-velocity movers correctly vanish into clutter instead of a hand-set detection threshold</a:t>
            </a:r>
            <a:endParaRPr lang="en-US" sz="1400" dirty="0"/>
          </a:p>
          <a:p>
            <a:pPr marL="203200" indent="-203200">
              <a:lnSpc>
                <a:spcPct val="112000"/>
              </a:lnSpc>
              <a:spcAft>
                <a:spcPts val="1200"/>
              </a:spcAft>
              <a:buSzPct val="100000"/>
              <a:buChar char="•"/>
            </a:pPr>
            <a:r>
              <a:rPr lang="en-US" sz="1400" dirty="0">
                <a:solidFill>
                  <a:srgbClr val="141A22"/>
                </a:solidFill>
                <a:latin typeface="Calibri" pitchFamily="34" charset="0"/>
                <a:ea typeface="Calibri" pitchFamily="34" charset="-122"/>
                <a:cs typeface="Calibri" pitchFamily="34" charset="-120"/>
              </a:rPr>
              <a:t>Output is detections/tracks (range, azimuth, radial velocity) per contact, not an image</a:t>
            </a:r>
          </a:p>
          <a:p>
            <a:pPr marL="203200" indent="-203200">
              <a:lnSpc>
                <a:spcPct val="112000"/>
              </a:lnSpc>
              <a:spcAft>
                <a:spcPts val="1200"/>
              </a:spcAft>
              <a:buSzPct val="100000"/>
              <a:buChar char="•"/>
            </a:pPr>
            <a:r>
              <a:rPr lang="en-US" sz="1400" dirty="0">
                <a:solidFill>
                  <a:srgbClr val="141A22"/>
                </a:solidFill>
                <a:latin typeface="Calibri" pitchFamily="34" charset="0"/>
                <a:ea typeface="Calibri" pitchFamily="34" charset="-122"/>
                <a:cs typeface="Calibri" pitchFamily="34" charset="-120"/>
              </a:rPr>
              <a:t>Simulated world updates at radar slow-time rate, NOT compute rate</a:t>
            </a:r>
            <a:endParaRPr lang="en-US" sz="1400" dirty="0"/>
          </a:p>
        </p:txBody>
      </p:sp>
      <p:sp>
        <p:nvSpPr>
          <p:cNvPr id="8" name="Shape 5"/>
          <p:cNvSpPr/>
          <p:nvPr/>
        </p:nvSpPr>
        <p:spPr>
          <a:xfrm>
            <a:off x="548640" y="4892040"/>
            <a:ext cx="10698480" cy="1371600"/>
          </a:xfrm>
          <a:prstGeom prst="roundRect">
            <a:avLst>
              <a:gd name="adj" fmla="val 5333"/>
            </a:avLst>
          </a:prstGeom>
          <a:solidFill>
            <a:srgbClr val="E6EAF0"/>
          </a:solidFill>
          <a:ln/>
          <a:effectLst>
            <a:outerShdw blurRad="101600" dist="38100" dir="5400000" algn="bl" rotWithShape="0">
              <a:srgbClr val="9AA5B1">
                <a:alpha val="22000"/>
              </a:srgbClr>
            </a:outerShdw>
          </a:effectLst>
        </p:spPr>
      </p:sp>
      <p:sp>
        <p:nvSpPr>
          <p:cNvPr id="9" name="Text 6"/>
          <p:cNvSpPr/>
          <p:nvPr/>
        </p:nvSpPr>
        <p:spPr>
          <a:xfrm>
            <a:off x="822960" y="4892040"/>
            <a:ext cx="10149840" cy="1371600"/>
          </a:xfrm>
          <a:prstGeom prst="rect">
            <a:avLst/>
          </a:prstGeom>
          <a:noFill/>
          <a:ln/>
        </p:spPr>
        <p:txBody>
          <a:bodyPr wrap="square" lIns="0" tIns="0" rIns="0" bIns="0" rtlCol="0" anchor="ctr"/>
          <a:lstStyle/>
          <a:p>
            <a:pPr marL="0" indent="0">
              <a:lnSpc>
                <a:spcPct val="115000"/>
              </a:lnSpc>
              <a:buNone/>
            </a:pPr>
            <a:r>
              <a:rPr lang="en-US" sz="1300" b="1" dirty="0">
                <a:solidFill>
                  <a:srgbClr val="B85C00"/>
                </a:solidFill>
                <a:latin typeface="Calibri" pitchFamily="34" charset="0"/>
                <a:ea typeface="Calibri" pitchFamily="34" charset="-122"/>
                <a:cs typeface="Calibri" pitchFamily="34" charset="-120"/>
              </a:rPr>
              <a:t>Bonus -- scene generation:  </a:t>
            </a:r>
            <a:r>
              <a:rPr lang="en-US" sz="1300" dirty="0">
                <a:solidFill>
                  <a:srgbClr val="141A22"/>
                </a:solidFill>
                <a:latin typeface="Calibri" pitchFamily="34" charset="0"/>
                <a:ea typeface="Calibri" pitchFamily="34" charset="-122"/>
                <a:cs typeface="Calibri" pitchFamily="34" charset="-120"/>
              </a:rPr>
              <a:t>drive multi-actor scenes with the engine’s own nav-mesh/crowd/traffic AI instead of hand-scripting tracks. Bake each actor’s trajectory once (position + heading vs. time), then replay it decoupled from the engine’s render tick -- a coherent processing interval can be well under a second of slow-time, faster than the nav-mesh update rate.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WEATHER</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300" b="1" dirty="0">
                <a:solidFill>
                  <a:srgbClr val="141A22"/>
                </a:solidFill>
                <a:latin typeface="Cambria" pitchFamily="34" charset="0"/>
                <a:ea typeface="Cambria" pitchFamily="34" charset="-122"/>
                <a:cs typeface="Cambria" pitchFamily="34" charset="-120"/>
              </a:rPr>
              <a:t>Injecting rain: backscatter + Doppler spectrum + attenuation</a:t>
            </a:r>
            <a:endParaRPr lang="en-US" sz="2300" dirty="0"/>
          </a:p>
        </p:txBody>
      </p:sp>
      <p:sp>
        <p:nvSpPr>
          <p:cNvPr id="4" name="Shape 2"/>
          <p:cNvSpPr/>
          <p:nvPr/>
        </p:nvSpPr>
        <p:spPr>
          <a:xfrm>
            <a:off x="548640" y="1856232"/>
            <a:ext cx="502920" cy="502920"/>
          </a:xfrm>
          <a:prstGeom prst="ellipse">
            <a:avLst/>
          </a:prstGeom>
          <a:solidFill>
            <a:srgbClr val="4FD8EB"/>
          </a:solidFill>
          <a:ln/>
        </p:spPr>
      </p:sp>
      <p:sp>
        <p:nvSpPr>
          <p:cNvPr id="5" name="Text 3"/>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700" b="1" dirty="0">
                <a:solidFill>
                  <a:srgbClr val="12161C"/>
                </a:solidFill>
                <a:latin typeface="Cambria" pitchFamily="34" charset="0"/>
                <a:ea typeface="Cambria" pitchFamily="34" charset="-122"/>
                <a:cs typeface="Cambria" pitchFamily="34" charset="-120"/>
              </a:rPr>
              <a:t>1</a:t>
            </a:r>
            <a:endParaRPr lang="en-US" sz="1700" dirty="0"/>
          </a:p>
        </p:txBody>
      </p:sp>
      <p:sp>
        <p:nvSpPr>
          <p:cNvPr id="6" name="Text 4"/>
          <p:cNvSpPr/>
          <p:nvPr/>
        </p:nvSpPr>
        <p:spPr>
          <a:xfrm>
            <a:off x="1280160" y="1783080"/>
            <a:ext cx="10332720" cy="896112"/>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Volume backscatter  </a:t>
            </a:r>
            <a:r>
              <a:rPr lang="en-US" sz="1250" dirty="0">
                <a:solidFill>
                  <a:srgbClr val="5B6672"/>
                </a:solidFill>
                <a:latin typeface="Calibri" pitchFamily="34" charset="0"/>
                <a:ea typeface="Calibri" pitchFamily="34" charset="-122"/>
                <a:cs typeface="Calibri" pitchFamily="34" charset="-120"/>
              </a:rPr>
              <a:t>Distributed point scatterers fill the illuminated volume; reflectivity via Marshall-Palmer drop-size distribution → Z, standard Z–R relation.</a:t>
            </a:r>
            <a:endParaRPr lang="en-US" sz="1450" dirty="0"/>
          </a:p>
        </p:txBody>
      </p:sp>
      <p:sp>
        <p:nvSpPr>
          <p:cNvPr id="7" name="Shape 5"/>
          <p:cNvSpPr/>
          <p:nvPr/>
        </p:nvSpPr>
        <p:spPr>
          <a:xfrm>
            <a:off x="548640" y="2752344"/>
            <a:ext cx="502920" cy="502920"/>
          </a:xfrm>
          <a:prstGeom prst="ellipse">
            <a:avLst/>
          </a:prstGeom>
          <a:solidFill>
            <a:srgbClr val="FF9E2C"/>
          </a:solidFill>
          <a:ln/>
        </p:spPr>
      </p:sp>
      <p:sp>
        <p:nvSpPr>
          <p:cNvPr id="8" name="Text 6"/>
          <p:cNvSpPr/>
          <p:nvPr/>
        </p:nvSpPr>
        <p:spPr>
          <a:xfrm>
            <a:off x="548640" y="2752344"/>
            <a:ext cx="502920" cy="502920"/>
          </a:xfrm>
          <a:prstGeom prst="rect">
            <a:avLst/>
          </a:prstGeom>
          <a:noFill/>
          <a:ln/>
        </p:spPr>
        <p:txBody>
          <a:bodyPr wrap="square" lIns="0" tIns="0" rIns="0" bIns="0" rtlCol="0" anchor="ctr"/>
          <a:lstStyle/>
          <a:p>
            <a:pPr marL="0" indent="0" algn="ctr">
              <a:buNone/>
            </a:pPr>
            <a:r>
              <a:rPr lang="en-US" sz="1700" b="1" dirty="0">
                <a:solidFill>
                  <a:srgbClr val="12161C"/>
                </a:solidFill>
                <a:latin typeface="Cambria" pitchFamily="34" charset="0"/>
                <a:ea typeface="Cambria" pitchFamily="34" charset="-122"/>
                <a:cs typeface="Cambria" pitchFamily="34" charset="-120"/>
              </a:rPr>
              <a:t>2</a:t>
            </a:r>
            <a:endParaRPr lang="en-US" sz="1700" dirty="0"/>
          </a:p>
        </p:txBody>
      </p:sp>
      <p:sp>
        <p:nvSpPr>
          <p:cNvPr id="9" name="Text 7"/>
          <p:cNvSpPr/>
          <p:nvPr/>
        </p:nvSpPr>
        <p:spPr>
          <a:xfrm>
            <a:off x="1280160" y="2679192"/>
            <a:ext cx="10332720" cy="896112"/>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Per-scatterer Doppler  </a:t>
            </a:r>
            <a:r>
              <a:rPr lang="en-US" sz="1250" dirty="0">
                <a:solidFill>
                  <a:srgbClr val="5B6672"/>
                </a:solidFill>
                <a:latin typeface="Calibri" pitchFamily="34" charset="0"/>
                <a:ea typeface="Calibri" pitchFamily="34" charset="-122"/>
                <a:cs typeface="Calibri" pitchFamily="34" charset="-120"/>
              </a:rPr>
              <a:t>Each drop’s radial velocity = size-dependent terminal fall speed (projected) + ambient wind -- a genuine mean Doppler shift.</a:t>
            </a:r>
            <a:endParaRPr lang="en-US" sz="1450" dirty="0"/>
          </a:p>
        </p:txBody>
      </p:sp>
      <p:sp>
        <p:nvSpPr>
          <p:cNvPr id="10" name="Shape 8"/>
          <p:cNvSpPr/>
          <p:nvPr/>
        </p:nvSpPr>
        <p:spPr>
          <a:xfrm>
            <a:off x="548640" y="3648456"/>
            <a:ext cx="502920" cy="502920"/>
          </a:xfrm>
          <a:prstGeom prst="ellipse">
            <a:avLst/>
          </a:prstGeom>
          <a:solidFill>
            <a:srgbClr val="4FD8EB"/>
          </a:solidFill>
          <a:ln/>
        </p:spPr>
      </p:sp>
      <p:sp>
        <p:nvSpPr>
          <p:cNvPr id="11" name="Text 9"/>
          <p:cNvSpPr/>
          <p:nvPr/>
        </p:nvSpPr>
        <p:spPr>
          <a:xfrm>
            <a:off x="548640" y="3648456"/>
            <a:ext cx="502920" cy="502920"/>
          </a:xfrm>
          <a:prstGeom prst="rect">
            <a:avLst/>
          </a:prstGeom>
          <a:noFill/>
          <a:ln/>
        </p:spPr>
        <p:txBody>
          <a:bodyPr wrap="square" lIns="0" tIns="0" rIns="0" bIns="0" rtlCol="0" anchor="ctr"/>
          <a:lstStyle/>
          <a:p>
            <a:pPr marL="0" indent="0" algn="ctr">
              <a:buNone/>
            </a:pPr>
            <a:r>
              <a:rPr lang="en-US" sz="1700" b="1" dirty="0">
                <a:solidFill>
                  <a:srgbClr val="12161C"/>
                </a:solidFill>
                <a:latin typeface="Cambria" pitchFamily="34" charset="0"/>
                <a:ea typeface="Cambria" pitchFamily="34" charset="-122"/>
                <a:cs typeface="Cambria" pitchFamily="34" charset="-120"/>
              </a:rPr>
              <a:t>3</a:t>
            </a:r>
            <a:endParaRPr lang="en-US" sz="1700" dirty="0"/>
          </a:p>
        </p:txBody>
      </p:sp>
      <p:sp>
        <p:nvSpPr>
          <p:cNvPr id="12" name="Text 10"/>
          <p:cNvSpPr/>
          <p:nvPr/>
        </p:nvSpPr>
        <p:spPr>
          <a:xfrm>
            <a:off x="1280160" y="3575304"/>
            <a:ext cx="10332720" cy="896112"/>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Spectrum width  </a:t>
            </a:r>
            <a:r>
              <a:rPr lang="en-US" sz="1250" dirty="0">
                <a:solidFill>
                  <a:srgbClr val="5B6672"/>
                </a:solidFill>
                <a:latin typeface="Calibri" pitchFamily="34" charset="0"/>
                <a:ea typeface="Calibri" pitchFamily="34" charset="-122"/>
                <a:cs typeface="Calibri" pitchFamily="34" charset="-120"/>
              </a:rPr>
              <a:t>Turbulence and wind shear spread the mean -- standard Doviak &amp; Zrnić treatment; sample per-scatterer velocity from a distribution.</a:t>
            </a:r>
            <a:endParaRPr lang="en-US" sz="1450" dirty="0"/>
          </a:p>
        </p:txBody>
      </p:sp>
      <p:sp>
        <p:nvSpPr>
          <p:cNvPr id="13" name="Shape 11"/>
          <p:cNvSpPr/>
          <p:nvPr/>
        </p:nvSpPr>
        <p:spPr>
          <a:xfrm>
            <a:off x="548640" y="4544568"/>
            <a:ext cx="502920" cy="502920"/>
          </a:xfrm>
          <a:prstGeom prst="ellipse">
            <a:avLst/>
          </a:prstGeom>
          <a:solidFill>
            <a:srgbClr val="FF9E2C"/>
          </a:solidFill>
          <a:ln/>
        </p:spPr>
      </p:sp>
      <p:sp>
        <p:nvSpPr>
          <p:cNvPr id="14" name="Text 12"/>
          <p:cNvSpPr/>
          <p:nvPr/>
        </p:nvSpPr>
        <p:spPr>
          <a:xfrm>
            <a:off x="548640" y="4544568"/>
            <a:ext cx="502920" cy="502920"/>
          </a:xfrm>
          <a:prstGeom prst="rect">
            <a:avLst/>
          </a:prstGeom>
          <a:noFill/>
          <a:ln/>
        </p:spPr>
        <p:txBody>
          <a:bodyPr wrap="square" lIns="0" tIns="0" rIns="0" bIns="0" rtlCol="0" anchor="ctr"/>
          <a:lstStyle/>
          <a:p>
            <a:pPr marL="0" indent="0" algn="ctr">
              <a:buNone/>
            </a:pPr>
            <a:r>
              <a:rPr lang="en-US" sz="1700" b="1" dirty="0">
                <a:solidFill>
                  <a:srgbClr val="12161C"/>
                </a:solidFill>
                <a:latin typeface="Cambria" pitchFamily="34" charset="0"/>
                <a:ea typeface="Cambria" pitchFamily="34" charset="-122"/>
                <a:cs typeface="Cambria" pitchFamily="34" charset="-120"/>
              </a:rPr>
              <a:t>4</a:t>
            </a:r>
            <a:endParaRPr lang="en-US" sz="1700" dirty="0"/>
          </a:p>
        </p:txBody>
      </p:sp>
      <p:sp>
        <p:nvSpPr>
          <p:cNvPr id="15" name="Text 13"/>
          <p:cNvSpPr/>
          <p:nvPr/>
        </p:nvSpPr>
        <p:spPr>
          <a:xfrm>
            <a:off x="1280160" y="4471416"/>
            <a:ext cx="10332720" cy="896112"/>
          </a:xfrm>
          <a:prstGeom prst="rect">
            <a:avLst/>
          </a:prstGeom>
          <a:noFill/>
          <a:ln/>
        </p:spPr>
        <p:txBody>
          <a:bodyPr wrap="square" lIns="0" tIns="0" rIns="0" bIns="0" rtlCol="0" anchor="t"/>
          <a:lstStyle/>
          <a:p>
            <a:pPr marL="0" indent="0">
              <a:lnSpc>
                <a:spcPct val="110000"/>
              </a:lnSpc>
              <a:buNone/>
            </a:pPr>
            <a:r>
              <a:rPr lang="en-US" sz="1450" b="1" dirty="0">
                <a:solidFill>
                  <a:srgbClr val="141A22"/>
                </a:solidFill>
                <a:latin typeface="Calibri" pitchFamily="34" charset="0"/>
                <a:ea typeface="Calibri" pitchFamily="34" charset="-122"/>
                <a:cs typeface="Calibri" pitchFamily="34" charset="-120"/>
              </a:rPr>
              <a:t>Two-way attenuation  </a:t>
            </a:r>
            <a:r>
              <a:rPr lang="en-US" sz="1250" dirty="0">
                <a:solidFill>
                  <a:srgbClr val="5B6672"/>
                </a:solidFill>
                <a:latin typeface="Calibri" pitchFamily="34" charset="0"/>
                <a:ea typeface="Calibri" pitchFamily="34" charset="-122"/>
                <a:cs typeface="Calibri" pitchFamily="34" charset="-120"/>
              </a:rPr>
              <a:t>Rain also attenuates the wave passing through it (dB/km, frequency- and rate-dependent) -- dims whatever is behind the cell.</a:t>
            </a:r>
            <a:endParaRPr lang="en-US" sz="1450" dirty="0"/>
          </a:p>
        </p:txBody>
      </p:sp>
      <p:sp>
        <p:nvSpPr>
          <p:cNvPr id="16" name="Text 14"/>
          <p:cNvSpPr/>
          <p:nvPr/>
        </p:nvSpPr>
        <p:spPr>
          <a:xfrm>
            <a:off x="548640" y="5413248"/>
            <a:ext cx="10698480" cy="640080"/>
          </a:xfrm>
          <a:prstGeom prst="rect">
            <a:avLst/>
          </a:prstGeom>
          <a:noFill/>
          <a:ln/>
        </p:spPr>
        <p:txBody>
          <a:bodyPr wrap="square" lIns="0" tIns="0" rIns="0" bIns="0" rtlCol="0" anchor="ctr"/>
          <a:lstStyle/>
          <a:p>
            <a:pPr marL="0" indent="0">
              <a:lnSpc>
                <a:spcPct val="110000"/>
              </a:lnSpc>
              <a:buNone/>
            </a:pPr>
            <a:r>
              <a:rPr lang="en-US" sz="1250" i="1" dirty="0">
                <a:solidFill>
                  <a:srgbClr val="B85C00"/>
                </a:solidFill>
                <a:latin typeface="Calibri" pitchFamily="34" charset="0"/>
                <a:ea typeface="Calibri" pitchFamily="34" charset="-122"/>
                <a:cs typeface="Calibri" pitchFamily="34" charset="-120"/>
              </a:rPr>
              <a:t>Net effect: the scatterer population re-randomizes faster than it coherently integrates -- rain shows up as diffuse, poorly-focused clutter, and can visibly shadow terrain behind it.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THE MAP</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Pipeline overview</a:t>
            </a:r>
            <a:endParaRPr lang="en-US" sz="2800" dirty="0"/>
          </a:p>
        </p:txBody>
      </p:sp>
      <p:sp>
        <p:nvSpPr>
          <p:cNvPr id="4" name="Shape 2"/>
          <p:cNvSpPr/>
          <p:nvPr/>
        </p:nvSpPr>
        <p:spPr>
          <a:xfrm>
            <a:off x="896112" y="1965960"/>
            <a:ext cx="36576" cy="3840480"/>
          </a:xfrm>
          <a:prstGeom prst="rect">
            <a:avLst/>
          </a:prstGeom>
          <a:solidFill>
            <a:srgbClr val="CBD3DB"/>
          </a:solidFill>
          <a:ln/>
        </p:spPr>
      </p:sp>
      <p:sp>
        <p:nvSpPr>
          <p:cNvPr id="5" name="Shape 3"/>
          <p:cNvSpPr/>
          <p:nvPr/>
        </p:nvSpPr>
        <p:spPr>
          <a:xfrm>
            <a:off x="594360" y="1783080"/>
            <a:ext cx="640080" cy="640080"/>
          </a:xfrm>
          <a:prstGeom prst="ellipse">
            <a:avLst/>
          </a:prstGeom>
          <a:solidFill>
            <a:srgbClr val="FF9E2C"/>
          </a:solidFill>
          <a:ln/>
        </p:spPr>
      </p:sp>
      <p:sp>
        <p:nvSpPr>
          <p:cNvPr id="6" name="Text 4"/>
          <p:cNvSpPr/>
          <p:nvPr/>
        </p:nvSpPr>
        <p:spPr>
          <a:xfrm>
            <a:off x="594360" y="1783080"/>
            <a:ext cx="640080" cy="640080"/>
          </a:xfrm>
          <a:prstGeom prst="rect">
            <a:avLst/>
          </a:prstGeom>
          <a:noFill/>
          <a:ln/>
        </p:spPr>
        <p:txBody>
          <a:bodyPr wrap="square" lIns="0" tIns="0" rIns="0" bIns="0" rtlCol="0" anchor="ctr"/>
          <a:lstStyle/>
          <a:p>
            <a:pPr marL="0" indent="0" algn="ctr">
              <a:buNone/>
            </a:pPr>
            <a:r>
              <a:rPr lang="en-US" sz="2100" b="1" dirty="0">
                <a:solidFill>
                  <a:srgbClr val="12161C"/>
                </a:solidFill>
                <a:latin typeface="Cambria" pitchFamily="34" charset="0"/>
                <a:ea typeface="Cambria" pitchFamily="34" charset="-122"/>
                <a:cs typeface="Cambria" pitchFamily="34" charset="-120"/>
              </a:rPr>
              <a:t>1</a:t>
            </a:r>
            <a:endParaRPr lang="en-US" sz="2100" dirty="0"/>
          </a:p>
        </p:txBody>
      </p:sp>
      <p:sp>
        <p:nvSpPr>
          <p:cNvPr id="7" name="Text 5"/>
          <p:cNvSpPr/>
          <p:nvPr/>
        </p:nvSpPr>
        <p:spPr>
          <a:xfrm>
            <a:off x="1417320" y="1764792"/>
            <a:ext cx="10058400" cy="685800"/>
          </a:xfrm>
          <a:prstGeom prst="rect">
            <a:avLst/>
          </a:prstGeom>
          <a:noFill/>
          <a:ln/>
        </p:spPr>
        <p:txBody>
          <a:bodyPr wrap="square" lIns="0" tIns="0" rIns="0" bIns="0" rtlCol="0" anchor="ctr"/>
          <a:lstStyle/>
          <a:p>
            <a:pPr marL="0" indent="0">
              <a:lnSpc>
                <a:spcPct val="105000"/>
              </a:lnSpc>
              <a:buNone/>
            </a:pPr>
            <a:r>
              <a:rPr lang="en-US" sz="1400" dirty="0">
                <a:solidFill>
                  <a:srgbClr val="141A22"/>
                </a:solidFill>
                <a:latin typeface="Calibri" pitchFamily="34" charset="0"/>
                <a:ea typeface="Calibri" pitchFamily="34" charset="-122"/>
                <a:cs typeface="Calibri" pitchFamily="34" charset="-120"/>
              </a:rPr>
              <a:t>Extract geometry + assign real EM material properties (not game albedo)</a:t>
            </a:r>
            <a:endParaRPr lang="en-US" sz="1400" dirty="0"/>
          </a:p>
        </p:txBody>
      </p:sp>
      <p:sp>
        <p:nvSpPr>
          <p:cNvPr id="8" name="Shape 6"/>
          <p:cNvSpPr/>
          <p:nvPr/>
        </p:nvSpPr>
        <p:spPr>
          <a:xfrm>
            <a:off x="594360" y="2542032"/>
            <a:ext cx="640080" cy="640080"/>
          </a:xfrm>
          <a:prstGeom prst="ellipse">
            <a:avLst/>
          </a:prstGeom>
          <a:solidFill>
            <a:srgbClr val="FF9E2C"/>
          </a:solidFill>
          <a:ln/>
        </p:spPr>
      </p:sp>
      <p:sp>
        <p:nvSpPr>
          <p:cNvPr id="9" name="Text 7"/>
          <p:cNvSpPr/>
          <p:nvPr/>
        </p:nvSpPr>
        <p:spPr>
          <a:xfrm>
            <a:off x="594360" y="2542032"/>
            <a:ext cx="640080" cy="640080"/>
          </a:xfrm>
          <a:prstGeom prst="rect">
            <a:avLst/>
          </a:prstGeom>
          <a:noFill/>
          <a:ln/>
        </p:spPr>
        <p:txBody>
          <a:bodyPr wrap="square" lIns="0" tIns="0" rIns="0" bIns="0" rtlCol="0" anchor="ctr"/>
          <a:lstStyle/>
          <a:p>
            <a:pPr marL="0" indent="0" algn="ctr">
              <a:buNone/>
            </a:pPr>
            <a:r>
              <a:rPr lang="en-US" sz="2100" b="1" dirty="0">
                <a:solidFill>
                  <a:srgbClr val="12161C"/>
                </a:solidFill>
                <a:latin typeface="Cambria" pitchFamily="34" charset="0"/>
                <a:ea typeface="Cambria" pitchFamily="34" charset="-122"/>
                <a:cs typeface="Cambria" pitchFamily="34" charset="-120"/>
              </a:rPr>
              <a:t>2</a:t>
            </a:r>
            <a:endParaRPr lang="en-US" sz="2100" dirty="0"/>
          </a:p>
        </p:txBody>
      </p:sp>
      <p:sp>
        <p:nvSpPr>
          <p:cNvPr id="10" name="Text 8"/>
          <p:cNvSpPr/>
          <p:nvPr/>
        </p:nvSpPr>
        <p:spPr>
          <a:xfrm>
            <a:off x="1417320" y="2523744"/>
            <a:ext cx="10058400" cy="685800"/>
          </a:xfrm>
          <a:prstGeom prst="rect">
            <a:avLst/>
          </a:prstGeom>
          <a:noFill/>
          <a:ln/>
        </p:spPr>
        <p:txBody>
          <a:bodyPr wrap="square" lIns="0" tIns="0" rIns="0" bIns="0" rtlCol="0" anchor="ctr"/>
          <a:lstStyle/>
          <a:p>
            <a:pPr marL="0" indent="0">
              <a:lnSpc>
                <a:spcPct val="105000"/>
              </a:lnSpc>
              <a:buNone/>
            </a:pPr>
            <a:r>
              <a:rPr lang="en-US" sz="1400" dirty="0">
                <a:solidFill>
                  <a:srgbClr val="141A22"/>
                </a:solidFill>
                <a:latin typeface="Calibri" pitchFamily="34" charset="0"/>
                <a:ea typeface="Calibri" pitchFamily="34" charset="-122"/>
                <a:cs typeface="Calibri" pitchFamily="34" charset="-120"/>
              </a:rPr>
              <a:t>Segment scene, trace rays with hardware-accelerated ray tracing where needed</a:t>
            </a:r>
            <a:endParaRPr lang="en-US" sz="1400" dirty="0"/>
          </a:p>
        </p:txBody>
      </p:sp>
      <p:sp>
        <p:nvSpPr>
          <p:cNvPr id="11" name="Shape 9"/>
          <p:cNvSpPr/>
          <p:nvPr/>
        </p:nvSpPr>
        <p:spPr>
          <a:xfrm>
            <a:off x="594360" y="3300984"/>
            <a:ext cx="640080" cy="640080"/>
          </a:xfrm>
          <a:prstGeom prst="ellipse">
            <a:avLst/>
          </a:prstGeom>
          <a:solidFill>
            <a:srgbClr val="FF9E2C"/>
          </a:solidFill>
          <a:ln/>
        </p:spPr>
      </p:sp>
      <p:sp>
        <p:nvSpPr>
          <p:cNvPr id="12" name="Text 10"/>
          <p:cNvSpPr/>
          <p:nvPr/>
        </p:nvSpPr>
        <p:spPr>
          <a:xfrm>
            <a:off x="594360" y="3300984"/>
            <a:ext cx="640080" cy="640080"/>
          </a:xfrm>
          <a:prstGeom prst="rect">
            <a:avLst/>
          </a:prstGeom>
          <a:noFill/>
          <a:ln/>
        </p:spPr>
        <p:txBody>
          <a:bodyPr wrap="square" lIns="0" tIns="0" rIns="0" bIns="0" rtlCol="0" anchor="ctr"/>
          <a:lstStyle/>
          <a:p>
            <a:pPr marL="0" indent="0" algn="ctr">
              <a:buNone/>
            </a:pPr>
            <a:r>
              <a:rPr lang="en-US" sz="2100" b="1" dirty="0">
                <a:solidFill>
                  <a:srgbClr val="12161C"/>
                </a:solidFill>
                <a:latin typeface="Cambria" pitchFamily="34" charset="0"/>
                <a:ea typeface="Cambria" pitchFamily="34" charset="-122"/>
                <a:cs typeface="Cambria" pitchFamily="34" charset="-120"/>
              </a:rPr>
              <a:t>3</a:t>
            </a:r>
            <a:endParaRPr lang="en-US" sz="2100" dirty="0"/>
          </a:p>
        </p:txBody>
      </p:sp>
      <p:sp>
        <p:nvSpPr>
          <p:cNvPr id="13" name="Text 11"/>
          <p:cNvSpPr/>
          <p:nvPr/>
        </p:nvSpPr>
        <p:spPr>
          <a:xfrm>
            <a:off x="1417320" y="3282696"/>
            <a:ext cx="10058400" cy="685800"/>
          </a:xfrm>
          <a:prstGeom prst="rect">
            <a:avLst/>
          </a:prstGeom>
          <a:noFill/>
          <a:ln/>
        </p:spPr>
        <p:txBody>
          <a:bodyPr wrap="square" lIns="0" tIns="0" rIns="0" bIns="0" rtlCol="0" anchor="ctr"/>
          <a:lstStyle/>
          <a:p>
            <a:pPr marL="0" indent="0">
              <a:lnSpc>
                <a:spcPct val="105000"/>
              </a:lnSpc>
              <a:buNone/>
            </a:pPr>
            <a:r>
              <a:rPr lang="en-US" sz="1400" dirty="0">
                <a:solidFill>
                  <a:srgbClr val="141A22"/>
                </a:solidFill>
                <a:latin typeface="Calibri" pitchFamily="34" charset="0"/>
                <a:ea typeface="Calibri" pitchFamily="34" charset="-122"/>
                <a:cs typeface="Calibri" pitchFamily="34" charset="-120"/>
              </a:rPr>
              <a:t>Collapse to point-scatterer contributions; empirical backscatter for diffuse terrain</a:t>
            </a:r>
            <a:endParaRPr lang="en-US" sz="1400" dirty="0"/>
          </a:p>
        </p:txBody>
      </p:sp>
      <p:sp>
        <p:nvSpPr>
          <p:cNvPr id="14" name="Shape 12"/>
          <p:cNvSpPr/>
          <p:nvPr/>
        </p:nvSpPr>
        <p:spPr>
          <a:xfrm>
            <a:off x="594360" y="4059936"/>
            <a:ext cx="640080" cy="640080"/>
          </a:xfrm>
          <a:prstGeom prst="ellipse">
            <a:avLst/>
          </a:prstGeom>
          <a:solidFill>
            <a:srgbClr val="FF9E2C"/>
          </a:solidFill>
          <a:ln/>
        </p:spPr>
      </p:sp>
      <p:sp>
        <p:nvSpPr>
          <p:cNvPr id="15" name="Text 13"/>
          <p:cNvSpPr/>
          <p:nvPr/>
        </p:nvSpPr>
        <p:spPr>
          <a:xfrm>
            <a:off x="594360" y="4059936"/>
            <a:ext cx="640080" cy="640080"/>
          </a:xfrm>
          <a:prstGeom prst="rect">
            <a:avLst/>
          </a:prstGeom>
          <a:noFill/>
          <a:ln/>
        </p:spPr>
        <p:txBody>
          <a:bodyPr wrap="square" lIns="0" tIns="0" rIns="0" bIns="0" rtlCol="0" anchor="ctr"/>
          <a:lstStyle/>
          <a:p>
            <a:pPr marL="0" indent="0" algn="ctr">
              <a:buNone/>
            </a:pPr>
            <a:r>
              <a:rPr lang="en-US" sz="2100" b="1" dirty="0">
                <a:solidFill>
                  <a:srgbClr val="12161C"/>
                </a:solidFill>
                <a:latin typeface="Cambria" pitchFamily="34" charset="0"/>
                <a:ea typeface="Cambria" pitchFamily="34" charset="-122"/>
                <a:cs typeface="Cambria" pitchFamily="34" charset="-120"/>
              </a:rPr>
              <a:t>4</a:t>
            </a:r>
            <a:endParaRPr lang="en-US" sz="2100" dirty="0"/>
          </a:p>
        </p:txBody>
      </p:sp>
      <p:sp>
        <p:nvSpPr>
          <p:cNvPr id="16" name="Text 14"/>
          <p:cNvSpPr/>
          <p:nvPr/>
        </p:nvSpPr>
        <p:spPr>
          <a:xfrm>
            <a:off x="1417320" y="4041648"/>
            <a:ext cx="10058400" cy="685800"/>
          </a:xfrm>
          <a:prstGeom prst="rect">
            <a:avLst/>
          </a:prstGeom>
          <a:noFill/>
          <a:ln/>
        </p:spPr>
        <p:txBody>
          <a:bodyPr wrap="square" lIns="0" tIns="0" rIns="0" bIns="0" rtlCol="0" anchor="ctr"/>
          <a:lstStyle/>
          <a:p>
            <a:pPr marL="0" indent="0">
              <a:lnSpc>
                <a:spcPct val="105000"/>
              </a:lnSpc>
              <a:buNone/>
            </a:pPr>
            <a:r>
              <a:rPr lang="en-US" sz="1400" dirty="0">
                <a:solidFill>
                  <a:srgbClr val="141A22"/>
                </a:solidFill>
                <a:latin typeface="Calibri" pitchFamily="34" charset="0"/>
                <a:ea typeface="Calibri" pitchFamily="34" charset="-122"/>
                <a:cs typeface="Calibri" pitchFamily="34" charset="-120"/>
              </a:rPr>
              <a:t>Forward-simulate raw phase history per pulse across the synthetic aperture</a:t>
            </a:r>
            <a:endParaRPr lang="en-US" sz="1400" dirty="0"/>
          </a:p>
        </p:txBody>
      </p:sp>
      <p:sp>
        <p:nvSpPr>
          <p:cNvPr id="17" name="Shape 15"/>
          <p:cNvSpPr/>
          <p:nvPr/>
        </p:nvSpPr>
        <p:spPr>
          <a:xfrm>
            <a:off x="594360" y="4818888"/>
            <a:ext cx="640080" cy="640080"/>
          </a:xfrm>
          <a:prstGeom prst="ellipse">
            <a:avLst/>
          </a:prstGeom>
          <a:solidFill>
            <a:srgbClr val="FF9E2C"/>
          </a:solidFill>
          <a:ln/>
        </p:spPr>
      </p:sp>
      <p:sp>
        <p:nvSpPr>
          <p:cNvPr id="18" name="Text 16"/>
          <p:cNvSpPr/>
          <p:nvPr/>
        </p:nvSpPr>
        <p:spPr>
          <a:xfrm>
            <a:off x="594360" y="4818888"/>
            <a:ext cx="640080" cy="640080"/>
          </a:xfrm>
          <a:prstGeom prst="rect">
            <a:avLst/>
          </a:prstGeom>
          <a:noFill/>
          <a:ln/>
        </p:spPr>
        <p:txBody>
          <a:bodyPr wrap="square" lIns="0" tIns="0" rIns="0" bIns="0" rtlCol="0" anchor="ctr"/>
          <a:lstStyle/>
          <a:p>
            <a:pPr marL="0" indent="0" algn="ctr">
              <a:buNone/>
            </a:pPr>
            <a:r>
              <a:rPr lang="en-US" sz="2100" b="1" dirty="0">
                <a:solidFill>
                  <a:srgbClr val="12161C"/>
                </a:solidFill>
                <a:latin typeface="Cambria" pitchFamily="34" charset="0"/>
                <a:ea typeface="Cambria" pitchFamily="34" charset="-122"/>
                <a:cs typeface="Cambria" pitchFamily="34" charset="-120"/>
              </a:rPr>
              <a:t>5</a:t>
            </a:r>
            <a:endParaRPr lang="en-US" sz="2100" dirty="0"/>
          </a:p>
        </p:txBody>
      </p:sp>
      <p:sp>
        <p:nvSpPr>
          <p:cNvPr id="19" name="Text 17"/>
          <p:cNvSpPr/>
          <p:nvPr/>
        </p:nvSpPr>
        <p:spPr>
          <a:xfrm>
            <a:off x="1417320" y="4800600"/>
            <a:ext cx="10058400" cy="685800"/>
          </a:xfrm>
          <a:prstGeom prst="rect">
            <a:avLst/>
          </a:prstGeom>
          <a:noFill/>
          <a:ln/>
        </p:spPr>
        <p:txBody>
          <a:bodyPr wrap="square" lIns="0" tIns="0" rIns="0" bIns="0" rtlCol="0" anchor="ctr"/>
          <a:lstStyle/>
          <a:p>
            <a:pPr marL="0" indent="0">
              <a:lnSpc>
                <a:spcPct val="105000"/>
              </a:lnSpc>
              <a:buNone/>
            </a:pPr>
            <a:r>
              <a:rPr lang="en-US" sz="1400" dirty="0">
                <a:solidFill>
                  <a:srgbClr val="141A22"/>
                </a:solidFill>
                <a:latin typeface="Calibri" pitchFamily="34" charset="0"/>
                <a:ea typeface="Calibri" pitchFamily="34" charset="-122"/>
                <a:cs typeface="Calibri" pitchFamily="34" charset="-120"/>
              </a:rPr>
              <a:t>Run standard SAR image formation</a:t>
            </a:r>
            <a:endParaRPr lang="en-US" sz="1400" dirty="0"/>
          </a:p>
        </p:txBody>
      </p:sp>
      <p:sp>
        <p:nvSpPr>
          <p:cNvPr id="20" name="Shape 18"/>
          <p:cNvSpPr/>
          <p:nvPr/>
        </p:nvSpPr>
        <p:spPr>
          <a:xfrm>
            <a:off x="594360" y="5577840"/>
            <a:ext cx="640080" cy="640080"/>
          </a:xfrm>
          <a:prstGeom prst="ellipse">
            <a:avLst/>
          </a:prstGeom>
          <a:solidFill>
            <a:srgbClr val="4FD8EB"/>
          </a:solidFill>
          <a:ln/>
        </p:spPr>
      </p:sp>
      <p:sp>
        <p:nvSpPr>
          <p:cNvPr id="21" name="Text 19"/>
          <p:cNvSpPr/>
          <p:nvPr/>
        </p:nvSpPr>
        <p:spPr>
          <a:xfrm>
            <a:off x="594360" y="5577840"/>
            <a:ext cx="640080" cy="640080"/>
          </a:xfrm>
          <a:prstGeom prst="rect">
            <a:avLst/>
          </a:prstGeom>
          <a:noFill/>
          <a:ln/>
        </p:spPr>
        <p:txBody>
          <a:bodyPr wrap="square" lIns="0" tIns="0" rIns="0" bIns="0" rtlCol="0" anchor="ctr"/>
          <a:lstStyle/>
          <a:p>
            <a:pPr marL="0" indent="0" algn="ctr">
              <a:buNone/>
            </a:pPr>
            <a:r>
              <a:rPr lang="en-US" sz="2100" b="1" dirty="0">
                <a:solidFill>
                  <a:srgbClr val="12161C"/>
                </a:solidFill>
                <a:latin typeface="Cambria" pitchFamily="34" charset="0"/>
                <a:ea typeface="Cambria" pitchFamily="34" charset="-122"/>
                <a:cs typeface="Cambria" pitchFamily="34" charset="-120"/>
              </a:rPr>
              <a:t>6</a:t>
            </a:r>
            <a:endParaRPr lang="en-US" sz="2100" dirty="0"/>
          </a:p>
        </p:txBody>
      </p:sp>
      <p:sp>
        <p:nvSpPr>
          <p:cNvPr id="22" name="Text 20"/>
          <p:cNvSpPr/>
          <p:nvPr/>
        </p:nvSpPr>
        <p:spPr>
          <a:xfrm>
            <a:off x="1417320" y="5559552"/>
            <a:ext cx="10058400" cy="685800"/>
          </a:xfrm>
          <a:prstGeom prst="rect">
            <a:avLst/>
          </a:prstGeom>
          <a:noFill/>
          <a:ln/>
        </p:spPr>
        <p:txBody>
          <a:bodyPr wrap="square" lIns="0" tIns="0" rIns="0" bIns="0" rtlCol="0" anchor="ctr"/>
          <a:lstStyle/>
          <a:p>
            <a:pPr marL="0" indent="0">
              <a:lnSpc>
                <a:spcPct val="105000"/>
              </a:lnSpc>
              <a:buNone/>
            </a:pPr>
            <a:r>
              <a:rPr lang="en-US" sz="1400" dirty="0">
                <a:solidFill>
                  <a:srgbClr val="141A22"/>
                </a:solidFill>
                <a:latin typeface="Calibri" pitchFamily="34" charset="0"/>
                <a:ea typeface="Calibri" pitchFamily="34" charset="-122"/>
                <a:cs typeface="Calibri" pitchFamily="34" charset="-120"/>
              </a:rPr>
              <a:t>Layover, shadow, double-bounce, speckle emerge naturally -- real geometry, not a hack</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VALIDATION</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200" b="1" dirty="0">
                <a:solidFill>
                  <a:srgbClr val="141A22"/>
                </a:solidFill>
                <a:latin typeface="Cambria" pitchFamily="34" charset="0"/>
                <a:ea typeface="Cambria" pitchFamily="34" charset="-122"/>
                <a:cs typeface="Cambria" pitchFamily="34" charset="-120"/>
              </a:rPr>
              <a:t>How do we know it’s right? A falsifiable ladder, not a vibe check</a:t>
            </a:r>
            <a:endParaRPr lang="en-US" sz="2200" dirty="0"/>
          </a:p>
        </p:txBody>
      </p:sp>
      <p:sp>
        <p:nvSpPr>
          <p:cNvPr id="4" name="Text 2"/>
          <p:cNvSpPr/>
          <p:nvPr/>
        </p:nvSpPr>
        <p:spPr>
          <a:xfrm>
            <a:off x="548640" y="1371600"/>
            <a:ext cx="10698480" cy="320040"/>
          </a:xfrm>
          <a:prstGeom prst="rect">
            <a:avLst/>
          </a:prstGeom>
          <a:noFill/>
          <a:ln/>
        </p:spPr>
        <p:txBody>
          <a:bodyPr wrap="square" lIns="0" tIns="0" rIns="0" bIns="0" rtlCol="0" anchor="ctr"/>
          <a:lstStyle/>
          <a:p>
            <a:pPr marL="0" indent="0">
              <a:lnSpc>
                <a:spcPct val="115000"/>
              </a:lnSpc>
              <a:buNone/>
            </a:pPr>
            <a:r>
              <a:rPr lang="en-US" sz="1250" i="1" dirty="0">
                <a:solidFill>
                  <a:srgbClr val="5B6672"/>
                </a:solidFill>
                <a:latin typeface="Calibri" pitchFamily="34" charset="0"/>
                <a:ea typeface="Calibri" pitchFamily="34" charset="-122"/>
                <a:cs typeface="Calibri" pitchFamily="34" charset="-120"/>
              </a:rPr>
              <a:t>Each tier should be able to FAIL and reveal a real bug -- not just "look plausible." Cheapest, most diagnostic checks first.</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993355251"/>
              </p:ext>
            </p:extLst>
          </p:nvPr>
        </p:nvGraphicFramePr>
        <p:xfrm>
          <a:off x="457200" y="1828800"/>
          <a:ext cx="11247120" cy="4206240"/>
        </p:xfrm>
        <a:graphic>
          <a:graphicData uri="http://schemas.openxmlformats.org/drawingml/2006/table">
            <a:tbl>
              <a:tblPr/>
              <a:tblGrid>
                <a:gridCol w="18288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701040">
                <a:tc>
                  <a:txBody>
                    <a:bodyPr/>
                    <a:lstStyle/>
                    <a:p>
                      <a:pPr marL="0" indent="0">
                        <a:buNone/>
                      </a:pPr>
                      <a:r>
                        <a:rPr lang="en-US" sz="1100" b="1" dirty="0">
                          <a:solidFill>
                            <a:srgbClr val="12161C"/>
                          </a:solidFill>
                          <a:latin typeface="Calibri" pitchFamily="34" charset="0"/>
                          <a:ea typeface="Calibri" pitchFamily="34" charset="-122"/>
                          <a:cs typeface="Calibri" pitchFamily="34" charset="-120"/>
                        </a:rPr>
                        <a:t>Tier</a:t>
                      </a:r>
                      <a:endParaRPr lang="en-US" sz="11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100" b="1" dirty="0">
                          <a:solidFill>
                            <a:srgbClr val="12161C"/>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100" b="1" dirty="0">
                          <a:solidFill>
                            <a:srgbClr val="12161C"/>
                          </a:solidFill>
                          <a:latin typeface="Calibri" pitchFamily="34" charset="0"/>
                          <a:ea typeface="Calibri" pitchFamily="34" charset="-122"/>
                          <a:cs typeface="Calibri" pitchFamily="34" charset="-120"/>
                        </a:rPr>
                        <a:t>What it validates</a:t>
                      </a:r>
                      <a:endParaRPr lang="en-US" sz="11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100" b="1" dirty="0">
                          <a:solidFill>
                            <a:srgbClr val="12161C"/>
                          </a:solidFill>
                          <a:latin typeface="Calibri" pitchFamily="34" charset="0"/>
                          <a:ea typeface="Calibri" pitchFamily="34" charset="-122"/>
                          <a:cs typeface="Calibri" pitchFamily="34" charset="-120"/>
                        </a:rPr>
                        <a:t>Pass criterion</a:t>
                      </a:r>
                      <a:endParaRPr lang="en-US" sz="11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extLst>
                  <a:ext uri="{0D108BD9-81ED-4DB2-BD59-A6C34878D82A}">
                    <a16:rowId xmlns:a16="http://schemas.microsoft.com/office/drawing/2014/main" val="10000"/>
                  </a:ext>
                </a:extLst>
              </a:tr>
              <a:tr h="701040">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1. Canonical target</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Isolated trihedral / dihedral / sphere vs. closed-form RCS-vs-aspect and impulse response</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Forward model + windowing/image-formation chain, in isolation</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Peak radar cross section (RCS), null depth, sidelobe level, and mainlobe width all match theory</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701040">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2. ASC vs. dense SBR</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Per structure type, same sector, same noise realization: form a chip from ASC-cached and from full dense-SBR phase history; score with SSIM / MS-SSIM (Wang et al. 2004) plus amplitude/phase RMS error</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The compression itself -- is the cache structurally faithful, not just numerically close</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Structural Similarity Matix ≥ 0.95 (typical) and root mean square (RMS) error below threshold inside the sector; both degrade sharply together just outside it</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701040">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2.5. ASC position fidelity</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Extract (x_k,y_k[,z_k]) from simulated phase history via CLEAN/matrix-pencil as if unknown; transform aperture-relative → world coords; compare to rendering mesh</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The extraction/fitting stage itself -- not the forward model’s mesh lookup, which trivially matches by construction</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Tight agreement in range/cross-range; wide or degenerate out-of-plane without real elevation-angle diversity -- report anisotropic error, not one 3D number</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701040">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3. Kinematic (movers)</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Simulated azimuth displacement &amp; defocus vs. analytic Δx = R·v_r / v_platform</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The forward model’s time-varying-position path (see Extensions)</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Matches the closed-form displacement to numerical precision</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701040">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4. Scene-level statistics</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Speckle texture (equivalent number of looks), clutter amplitude distribution, layover/shadow geometry vs. real MSTAR chips and their SAMPLE synthetic twins</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Everything at once, end to end -- the only tier that touches real data</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950" dirty="0">
                          <a:solidFill>
                            <a:srgbClr val="141A22"/>
                          </a:solidFill>
                          <a:latin typeface="Calibri" pitchFamily="34" charset="0"/>
                          <a:ea typeface="Calibri" pitchFamily="34" charset="-122"/>
                          <a:cs typeface="Calibri" pitchFamily="34" charset="-120"/>
                        </a:rPr>
                        <a:t>Falls within the same distribution family/parameter range as real MSTAR data</a:t>
                      </a:r>
                      <a:endParaRPr lang="en-US" sz="9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6126480"/>
            <a:ext cx="10698480" cy="640080"/>
          </a:xfrm>
          <a:prstGeom prst="roundRect">
            <a:avLst>
              <a:gd name="adj" fmla="val 11429"/>
            </a:avLst>
          </a:prstGeom>
          <a:solidFill>
            <a:srgbClr val="E6EAF0"/>
          </a:solidFill>
          <a:ln/>
          <a:effectLst>
            <a:outerShdw blurRad="101600" dist="38100" dir="5400000" algn="bl" rotWithShape="0">
              <a:srgbClr val="9AA5B1">
                <a:alpha val="22000"/>
              </a:srgbClr>
            </a:outerShdw>
          </a:effectLst>
        </p:spPr>
      </p:sp>
      <p:sp>
        <p:nvSpPr>
          <p:cNvPr id="7" name="Text 4"/>
          <p:cNvSpPr/>
          <p:nvPr/>
        </p:nvSpPr>
        <p:spPr>
          <a:xfrm>
            <a:off x="822960" y="6126480"/>
            <a:ext cx="10149840" cy="640080"/>
          </a:xfrm>
          <a:prstGeom prst="rect">
            <a:avLst/>
          </a:prstGeom>
          <a:noFill/>
          <a:ln/>
        </p:spPr>
        <p:txBody>
          <a:bodyPr wrap="square" lIns="0" tIns="0" rIns="0" bIns="0" rtlCol="0" anchor="ctr"/>
          <a:lstStyle/>
          <a:p>
            <a:pPr marL="0" indent="0">
              <a:lnSpc>
                <a:spcPct val="110000"/>
              </a:lnSpc>
              <a:buNone/>
            </a:pPr>
            <a:r>
              <a:rPr lang="en-US" sz="1000" b="1" dirty="0">
                <a:solidFill>
                  <a:srgbClr val="0B7285"/>
                </a:solidFill>
                <a:latin typeface="Calibri" pitchFamily="34" charset="0"/>
                <a:ea typeface="Calibri" pitchFamily="34" charset="-122"/>
                <a:cs typeface="Calibri" pitchFamily="34" charset="-120"/>
              </a:rPr>
              <a:t>Reference data, no special access needed:  </a:t>
            </a:r>
            <a:r>
              <a:rPr lang="en-US" sz="1000" dirty="0">
                <a:solidFill>
                  <a:srgbClr val="141A22"/>
                </a:solidFill>
                <a:latin typeface="Calibri" pitchFamily="34" charset="0"/>
                <a:ea typeface="Calibri" pitchFamily="34" charset="-122"/>
                <a:cs typeface="Calibri" pitchFamily="34" charset="-120"/>
              </a:rPr>
              <a:t>MSTAR real chips ship paired with a DIFFERENT simulator's synthetic twin of the same target/pose in the public SAMPLE dataset (10 vehicle classes, github.com/benjaminlewis-afrl/SAMPLE_dataset_public) -- turning Tier 4 into a 3-way check that separates physics error from real-world confounds.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VALIDATION, CONTINUED</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100" b="1" dirty="0">
                <a:solidFill>
                  <a:srgbClr val="141A22"/>
                </a:solidFill>
                <a:latin typeface="Cambria" pitchFamily="34" charset="0"/>
                <a:ea typeface="Cambria" pitchFamily="34" charset="-122"/>
                <a:cs typeface="Cambria" pitchFamily="34" charset="-120"/>
              </a:rPr>
              <a:t>Tier 2, actually run: is the ASC cache structurally faithful?</a:t>
            </a:r>
            <a:endParaRPr lang="en-US" sz="2100" dirty="0"/>
          </a:p>
        </p:txBody>
      </p:sp>
      <p:sp>
        <p:nvSpPr>
          <p:cNvPr id="4" name="Text 2"/>
          <p:cNvSpPr/>
          <p:nvPr/>
        </p:nvSpPr>
        <p:spPr>
          <a:xfrm>
            <a:off x="548640" y="1234440"/>
            <a:ext cx="9056536" cy="566928"/>
          </a:xfrm>
          <a:prstGeom prst="rect">
            <a:avLst/>
          </a:prstGeom>
          <a:noFill/>
          <a:ln/>
        </p:spPr>
        <p:txBody>
          <a:bodyPr wrap="square" lIns="0" tIns="0" rIns="0" bIns="0" rtlCol="0" anchor="ctr"/>
          <a:lstStyle/>
          <a:p>
            <a:pPr marL="0" indent="0">
              <a:lnSpc>
                <a:spcPct val="112000"/>
              </a:lnSpc>
              <a:buNone/>
            </a:pPr>
            <a:r>
              <a:rPr lang="en-US" sz="1150" i="1" dirty="0">
                <a:solidFill>
                  <a:srgbClr val="5B6672"/>
                </a:solidFill>
                <a:latin typeface="Calibri" pitchFamily="34" charset="0"/>
                <a:ea typeface="Calibri" pitchFamily="34" charset="-122"/>
                <a:cs typeface="Calibri" pitchFamily="34" charset="-120"/>
              </a:rPr>
              <a:t>Full city-block scene (200 buildings, 1000 facets, 1km x 1km), real collection geometry (60km standoff / 22.5km altitude, ~20.6° depression, 2m resolution, 450-pulse Nyquist-sampled aperture), scored per building against the Tier 1 table's own SSIM &gt;= 0.95 criterion -- on a single consumer laptop GPU (RTX 4050).</a:t>
            </a:r>
            <a:endParaRPr lang="en-US" sz="1150" dirty="0"/>
          </a:p>
        </p:txBody>
      </p:sp>
      <p:sp>
        <p:nvSpPr>
          <p:cNvPr id="6" name="Shape 3"/>
          <p:cNvSpPr/>
          <p:nvPr/>
        </p:nvSpPr>
        <p:spPr>
          <a:xfrm>
            <a:off x="548640" y="5110533"/>
            <a:ext cx="11091672" cy="1290267"/>
          </a:xfrm>
          <a:prstGeom prst="roundRect">
            <a:avLst>
              <a:gd name="adj" fmla="val 5670"/>
            </a:avLst>
          </a:prstGeom>
          <a:solidFill>
            <a:srgbClr val="F1F4F8"/>
          </a:solidFill>
          <a:ln/>
          <a:effectLst>
            <a:outerShdw blurRad="101600" dist="38100" dir="5400000" algn="bl" rotWithShape="0">
              <a:srgbClr val="9AA5B1">
                <a:alpha val="22000"/>
              </a:srgbClr>
            </a:outerShdw>
          </a:effectLst>
        </p:spPr>
      </p:sp>
      <p:sp>
        <p:nvSpPr>
          <p:cNvPr id="7" name="Text 4"/>
          <p:cNvSpPr/>
          <p:nvPr/>
        </p:nvSpPr>
        <p:spPr>
          <a:xfrm>
            <a:off x="777240" y="524769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WHOLE-IMAGE SSIM</a:t>
            </a:r>
            <a:endParaRPr lang="en-US" sz="1000" dirty="0"/>
          </a:p>
        </p:txBody>
      </p:sp>
      <p:sp>
        <p:nvSpPr>
          <p:cNvPr id="8" name="Text 5"/>
          <p:cNvSpPr/>
          <p:nvPr/>
        </p:nvSpPr>
        <p:spPr>
          <a:xfrm>
            <a:off x="777240" y="549458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0.993</a:t>
            </a:r>
            <a:endParaRPr lang="en-US" sz="1700" dirty="0"/>
          </a:p>
        </p:txBody>
      </p:sp>
      <p:sp>
        <p:nvSpPr>
          <p:cNvPr id="9" name="Text 6"/>
          <p:cNvSpPr/>
          <p:nvPr/>
        </p:nvSpPr>
        <p:spPr>
          <a:xfrm>
            <a:off x="777240" y="595178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PASS vs. &gt;= 0.95 -- but inflated/diluted, see per-building</a:t>
            </a:r>
            <a:endParaRPr lang="en-US" sz="900" dirty="0"/>
          </a:p>
        </p:txBody>
      </p:sp>
      <p:sp>
        <p:nvSpPr>
          <p:cNvPr id="10" name="Text 7"/>
          <p:cNvSpPr/>
          <p:nvPr/>
        </p:nvSpPr>
        <p:spPr>
          <a:xfrm>
            <a:off x="3412998" y="524769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PER-BUILDING (the real check)</a:t>
            </a:r>
            <a:endParaRPr lang="en-US" sz="1000" dirty="0"/>
          </a:p>
        </p:txBody>
      </p:sp>
      <p:sp>
        <p:nvSpPr>
          <p:cNvPr id="11" name="Text 8"/>
          <p:cNvSpPr/>
          <p:nvPr/>
        </p:nvSpPr>
        <p:spPr>
          <a:xfrm>
            <a:off x="3412998" y="549458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197 / 200 pass</a:t>
            </a:r>
            <a:endParaRPr lang="en-US" sz="1700" dirty="0"/>
          </a:p>
        </p:txBody>
      </p:sp>
      <p:sp>
        <p:nvSpPr>
          <p:cNvPr id="12" name="Text 9"/>
          <p:cNvSpPr/>
          <p:nvPr/>
        </p:nvSpPr>
        <p:spPr>
          <a:xfrm>
            <a:off x="3412998" y="595178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mean 0.991, median 0.996, min 0.923 -- matches the table's "same sector" criterion</a:t>
            </a:r>
            <a:endParaRPr lang="en-US" sz="900" dirty="0"/>
          </a:p>
        </p:txBody>
      </p:sp>
      <p:sp>
        <p:nvSpPr>
          <p:cNvPr id="13" name="Text 10"/>
          <p:cNvSpPr/>
          <p:nvPr/>
        </p:nvSpPr>
        <p:spPr>
          <a:xfrm>
            <a:off x="6048756" y="524769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AMP / PHASE RMS</a:t>
            </a:r>
            <a:endParaRPr lang="en-US" sz="1000" dirty="0"/>
          </a:p>
        </p:txBody>
      </p:sp>
      <p:sp>
        <p:nvSpPr>
          <p:cNvPr id="14" name="Text 11"/>
          <p:cNvSpPr/>
          <p:nvPr/>
        </p:nvSpPr>
        <p:spPr>
          <a:xfrm>
            <a:off x="6048756" y="549458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0.003 / 5.8°</a:t>
            </a:r>
            <a:endParaRPr lang="en-US" sz="1700" dirty="0"/>
          </a:p>
        </p:txBody>
      </p:sp>
      <p:sp>
        <p:nvSpPr>
          <p:cNvPr id="15" name="Text 12"/>
          <p:cNvSpPr/>
          <p:nvPr/>
        </p:nvSpPr>
        <p:spPr>
          <a:xfrm>
            <a:off x="6048756" y="595178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whole-image, magnitude-weighted</a:t>
            </a:r>
            <a:endParaRPr lang="en-US" sz="900" dirty="0"/>
          </a:p>
        </p:txBody>
      </p:sp>
      <p:sp>
        <p:nvSpPr>
          <p:cNvPr id="16" name="Text 13"/>
          <p:cNvSpPr/>
          <p:nvPr/>
        </p:nvSpPr>
        <p:spPr>
          <a:xfrm>
            <a:off x="8684514" y="524769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MEASURED SPEEDUP (RTX 4050)</a:t>
            </a:r>
            <a:endParaRPr lang="en-US" sz="1000" dirty="0"/>
          </a:p>
        </p:txBody>
      </p:sp>
      <p:sp>
        <p:nvSpPr>
          <p:cNvPr id="17" name="Text 14"/>
          <p:cNvSpPr/>
          <p:nvPr/>
        </p:nvSpPr>
        <p:spPr>
          <a:xfrm>
            <a:off x="8684514" y="549458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818x / pulse</a:t>
            </a:r>
          </a:p>
          <a:p>
            <a:r>
              <a:rPr lang="en-US" sz="1600" b="1" dirty="0">
                <a:latin typeface="Courier New" panose="02070309020205020404" pitchFamily="49" charset="0"/>
                <a:cs typeface="Courier New" panose="02070309020205020404" pitchFamily="49" charset="0"/>
              </a:rPr>
              <a:t>1.7s / 1398s total</a:t>
            </a:r>
            <a:endParaRPr lang="en-US" sz="1700" b="1" dirty="0">
              <a:latin typeface="Courier New" panose="02070309020205020404" pitchFamily="49" charset="0"/>
              <a:cs typeface="Courier New" panose="02070309020205020404" pitchFamily="49" charset="0"/>
            </a:endParaRPr>
          </a:p>
        </p:txBody>
      </p:sp>
      <p:sp>
        <p:nvSpPr>
          <p:cNvPr id="18" name="Text 15"/>
          <p:cNvSpPr/>
          <p:nvPr/>
        </p:nvSpPr>
        <p:spPr>
          <a:xfrm>
            <a:off x="8684514" y="5951781"/>
            <a:ext cx="2407158" cy="502920"/>
          </a:xfrm>
          <a:prstGeom prst="rect">
            <a:avLst/>
          </a:prstGeom>
          <a:noFill/>
          <a:ln/>
        </p:spPr>
        <p:txBody>
          <a:bodyPr wrap="square" lIns="0" tIns="0" rIns="0" bIns="0" rtlCol="0" anchor="ctr"/>
          <a:lstStyle/>
          <a:p>
            <a:pPr>
              <a:lnSpc>
                <a:spcPct val="110000"/>
              </a:lnSpc>
            </a:pPr>
            <a:r>
              <a:rPr lang="en-US" sz="900" i="1" dirty="0">
                <a:solidFill>
                  <a:srgbClr val="5B6672"/>
                </a:solidFill>
                <a:latin typeface="Calibri" pitchFamily="34" charset="0"/>
                <a:ea typeface="Calibri" pitchFamily="34" charset="-122"/>
                <a:cs typeface="Calibri" pitchFamily="34" charset="-120"/>
              </a:rPr>
              <a:t>ray/facet intersection is more expensive than estimated</a:t>
            </a:r>
            <a:endParaRPr lang="en-US" sz="900" dirty="0"/>
          </a:p>
        </p:txBody>
      </p:sp>
      <p:pic>
        <p:nvPicPr>
          <p:cNvPr id="20" name="Picture 19">
            <a:extLst>
              <a:ext uri="{FF2B5EF4-FFF2-40B4-BE49-F238E27FC236}">
                <a16:creationId xmlns:a16="http://schemas.microsoft.com/office/drawing/2014/main" id="{3469333A-0E49-7CD2-5A18-AA839F6797F2}"/>
              </a:ext>
            </a:extLst>
          </p:cNvPr>
          <p:cNvPicPr>
            <a:picLocks noChangeAspect="1"/>
          </p:cNvPicPr>
          <p:nvPr/>
        </p:nvPicPr>
        <p:blipFill>
          <a:blip r:embed="rId3"/>
          <a:stretch>
            <a:fillRect/>
          </a:stretch>
        </p:blipFill>
        <p:spPr>
          <a:xfrm>
            <a:off x="9419237" y="7950"/>
            <a:ext cx="2844324" cy="2187941"/>
          </a:xfrm>
          <a:prstGeom prst="rect">
            <a:avLst/>
          </a:prstGeom>
        </p:spPr>
      </p:pic>
      <p:pic>
        <p:nvPicPr>
          <p:cNvPr id="5" name="Image 0" descr="/sessions/sweet-friendly-mayer/mnt/outputs/presentation/tier2_sbr_vs_asc_comparison.png"/>
          <p:cNvPicPr>
            <a:picLocks noChangeAspect="1"/>
          </p:cNvPicPr>
          <p:nvPr/>
        </p:nvPicPr>
        <p:blipFill>
          <a:blip r:embed="rId4"/>
          <a:stretch>
            <a:fillRect/>
          </a:stretch>
        </p:blipFill>
        <p:spPr>
          <a:xfrm>
            <a:off x="516636" y="1874520"/>
            <a:ext cx="11155680" cy="3053133"/>
          </a:xfrm>
          <a:prstGeom prst="rect">
            <a:avLst/>
          </a:prstGeom>
        </p:spPr>
      </p:pic>
      <p:sp>
        <p:nvSpPr>
          <p:cNvPr id="21" name="Thought Bubble: Cloud 20">
            <a:extLst>
              <a:ext uri="{FF2B5EF4-FFF2-40B4-BE49-F238E27FC236}">
                <a16:creationId xmlns:a16="http://schemas.microsoft.com/office/drawing/2014/main" id="{097E1056-BCE9-13BA-D602-CBDBBB28874C}"/>
              </a:ext>
            </a:extLst>
          </p:cNvPr>
          <p:cNvSpPr/>
          <p:nvPr/>
        </p:nvSpPr>
        <p:spPr>
          <a:xfrm>
            <a:off x="2370914" y="2802904"/>
            <a:ext cx="2550944" cy="1252192"/>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After some thought, I realized these lacked layover!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VALIDATION, CONTINUED</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000" b="1" dirty="0">
                <a:solidFill>
                  <a:srgbClr val="141A22"/>
                </a:solidFill>
                <a:latin typeface="Cambria" pitchFamily="34" charset="0"/>
                <a:ea typeface="Cambria" pitchFamily="34" charset="-122"/>
                <a:cs typeface="Cambria" pitchFamily="34" charset="-120"/>
              </a:rPr>
              <a:t>Same run, a stricter question: does phase agree, not just amplitude?</a:t>
            </a:r>
            <a:endParaRPr lang="en-US" sz="2000" dirty="0"/>
          </a:p>
        </p:txBody>
      </p:sp>
      <p:sp>
        <p:nvSpPr>
          <p:cNvPr id="4" name="Text 2"/>
          <p:cNvSpPr/>
          <p:nvPr/>
        </p:nvSpPr>
        <p:spPr>
          <a:xfrm>
            <a:off x="548640" y="1207008"/>
            <a:ext cx="11091672" cy="621792"/>
          </a:xfrm>
          <a:prstGeom prst="rect">
            <a:avLst/>
          </a:prstGeom>
          <a:noFill/>
          <a:ln/>
        </p:spPr>
        <p:txBody>
          <a:bodyPr wrap="square" lIns="0" tIns="0" rIns="0" bIns="0" rtlCol="0" anchor="ctr"/>
          <a:lstStyle/>
          <a:p>
            <a:pPr marL="0" indent="0">
              <a:lnSpc>
                <a:spcPct val="112000"/>
              </a:lnSpc>
              <a:buNone/>
            </a:pPr>
            <a:r>
              <a:rPr lang="en-US" sz="1100" i="1" dirty="0">
                <a:solidFill>
                  <a:srgbClr val="5B6672"/>
                </a:solidFill>
                <a:latin typeface="Calibri" pitchFamily="34" charset="0"/>
                <a:ea typeface="Calibri" pitchFamily="34" charset="-122"/>
                <a:cs typeface="Calibri" pitchFamily="34" charset="-120"/>
              </a:rPr>
              <a:t>SSIM (previous slide) is a structural comparison of log-magnitude imagery -- it can miss cases where amplitude and phase are jointly misaligned even if the broad dB pattern still looks similar. Complex coherence (InSAR-standard, |sum(a·b*)| / sqrt(sum|a|²·sum|b|²)) is sensitive to both at once. Same 200-building, 450-pulse run as the previous slide -- no new simulation, just a second metric on the same phase history.</a:t>
            </a:r>
            <a:endParaRPr lang="en-US" sz="1100" dirty="0"/>
          </a:p>
        </p:txBody>
      </p:sp>
      <p:pic>
        <p:nvPicPr>
          <p:cNvPr id="5" name="Image 0" descr="/sessions/sweet-friendly-mayer/mnt/outputs/presentation/tier2_phase_coherence.png"/>
          <p:cNvPicPr>
            <a:picLocks noChangeAspect="1"/>
          </p:cNvPicPr>
          <p:nvPr/>
        </p:nvPicPr>
        <p:blipFill>
          <a:blip r:embed="rId3"/>
          <a:stretch>
            <a:fillRect/>
          </a:stretch>
        </p:blipFill>
        <p:spPr>
          <a:xfrm>
            <a:off x="516636" y="1920240"/>
            <a:ext cx="11155680" cy="3053133"/>
          </a:xfrm>
          <a:prstGeom prst="rect">
            <a:avLst/>
          </a:prstGeom>
        </p:spPr>
      </p:pic>
      <p:sp>
        <p:nvSpPr>
          <p:cNvPr id="6" name="Shape 3"/>
          <p:cNvSpPr/>
          <p:nvPr/>
        </p:nvSpPr>
        <p:spPr>
          <a:xfrm>
            <a:off x="548640" y="5156253"/>
            <a:ext cx="11091672" cy="1244547"/>
          </a:xfrm>
          <a:prstGeom prst="roundRect">
            <a:avLst>
              <a:gd name="adj" fmla="val 5878"/>
            </a:avLst>
          </a:prstGeom>
          <a:solidFill>
            <a:srgbClr val="F1F4F8"/>
          </a:solidFill>
          <a:ln/>
          <a:effectLst>
            <a:outerShdw blurRad="101600" dist="38100" dir="5400000" algn="bl" rotWithShape="0">
              <a:srgbClr val="9AA5B1">
                <a:alpha val="22000"/>
              </a:srgbClr>
            </a:outerShdw>
          </a:effectLst>
        </p:spPr>
      </p:sp>
      <p:sp>
        <p:nvSpPr>
          <p:cNvPr id="7" name="Text 4"/>
          <p:cNvSpPr/>
          <p:nvPr/>
        </p:nvSpPr>
        <p:spPr>
          <a:xfrm>
            <a:off x="777240" y="529341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WHOLE-IMAGE COHERENCE</a:t>
            </a:r>
            <a:endParaRPr lang="en-US" sz="1000" dirty="0"/>
          </a:p>
        </p:txBody>
      </p:sp>
      <p:sp>
        <p:nvSpPr>
          <p:cNvPr id="8" name="Text 5"/>
          <p:cNvSpPr/>
          <p:nvPr/>
        </p:nvSpPr>
        <p:spPr>
          <a:xfrm>
            <a:off x="777240" y="554030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0.989</a:t>
            </a:r>
            <a:endParaRPr lang="en-US" sz="1700" dirty="0"/>
          </a:p>
        </p:txBody>
      </p:sp>
      <p:sp>
        <p:nvSpPr>
          <p:cNvPr id="9" name="Text 6"/>
          <p:cNvSpPr/>
          <p:nvPr/>
        </p:nvSpPr>
        <p:spPr>
          <a:xfrm>
            <a:off x="777240" y="599750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same dilution issue as whole-image SSIM -- see per-building</a:t>
            </a:r>
            <a:endParaRPr lang="en-US" sz="900" dirty="0"/>
          </a:p>
        </p:txBody>
      </p:sp>
      <p:sp>
        <p:nvSpPr>
          <p:cNvPr id="10" name="Text 7"/>
          <p:cNvSpPr/>
          <p:nvPr/>
        </p:nvSpPr>
        <p:spPr>
          <a:xfrm>
            <a:off x="3412998" y="529341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PER-BUILDING COHERENCE</a:t>
            </a:r>
            <a:endParaRPr lang="en-US" sz="1000" dirty="0"/>
          </a:p>
        </p:txBody>
      </p:sp>
      <p:sp>
        <p:nvSpPr>
          <p:cNvPr id="11" name="Text 8"/>
          <p:cNvSpPr/>
          <p:nvPr/>
        </p:nvSpPr>
        <p:spPr>
          <a:xfrm>
            <a:off x="3412998" y="554030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mean 0.986, min 0.668</a:t>
            </a:r>
            <a:endParaRPr lang="en-US" sz="1700" dirty="0"/>
          </a:p>
        </p:txBody>
      </p:sp>
      <p:sp>
        <p:nvSpPr>
          <p:cNvPr id="12" name="Text 9"/>
          <p:cNvSpPr/>
          <p:nvPr/>
        </p:nvSpPr>
        <p:spPr>
          <a:xfrm>
            <a:off x="3412998" y="599750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median 1.000 -- a few outliers pull the mean, not a broad drift</a:t>
            </a:r>
            <a:endParaRPr lang="en-US" sz="900" dirty="0"/>
          </a:p>
        </p:txBody>
      </p:sp>
      <p:sp>
        <p:nvSpPr>
          <p:cNvPr id="13" name="Text 10"/>
          <p:cNvSpPr/>
          <p:nvPr/>
        </p:nvSpPr>
        <p:spPr>
          <a:xfrm>
            <a:off x="6048756" y="529341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PHASE BIAS / RMS</a:t>
            </a:r>
            <a:endParaRPr lang="en-US" sz="1000" dirty="0"/>
          </a:p>
        </p:txBody>
      </p:sp>
      <p:sp>
        <p:nvSpPr>
          <p:cNvPr id="14" name="Text 11"/>
          <p:cNvSpPr/>
          <p:nvPr/>
        </p:nvSpPr>
        <p:spPr>
          <a:xfrm>
            <a:off x="6048756" y="554030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-0.04° / 5.78°</a:t>
            </a:r>
            <a:endParaRPr lang="en-US" sz="1700" dirty="0"/>
          </a:p>
        </p:txBody>
      </p:sp>
      <p:sp>
        <p:nvSpPr>
          <p:cNvPr id="15" name="Text 12"/>
          <p:cNvSpPr/>
          <p:nvPr/>
        </p:nvSpPr>
        <p:spPr>
          <a:xfrm>
            <a:off x="6048756" y="599750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bias ~0 -- symmetric scatter, not a systematic offset bug</a:t>
            </a:r>
            <a:endParaRPr lang="en-US" sz="900" dirty="0"/>
          </a:p>
        </p:txBody>
      </p:sp>
      <p:sp>
        <p:nvSpPr>
          <p:cNvPr id="16" name="Text 13"/>
          <p:cNvSpPr/>
          <p:nvPr/>
        </p:nvSpPr>
        <p:spPr>
          <a:xfrm>
            <a:off x="8684514" y="529341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CAUGHT BY COHERENCE, MISSED BY SSIM</a:t>
            </a:r>
            <a:endParaRPr lang="en-US" sz="1000" dirty="0"/>
          </a:p>
        </p:txBody>
      </p:sp>
      <p:sp>
        <p:nvSpPr>
          <p:cNvPr id="17" name="Text 14"/>
          <p:cNvSpPr/>
          <p:nvPr/>
        </p:nvSpPr>
        <p:spPr>
          <a:xfrm>
            <a:off x="8684514" y="554030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16 / 200 buildings</a:t>
            </a:r>
            <a:endParaRPr lang="en-US" sz="1700" dirty="0"/>
          </a:p>
        </p:txBody>
      </p:sp>
      <p:sp>
        <p:nvSpPr>
          <p:cNvPr id="18" name="Text 15"/>
          <p:cNvSpPr/>
          <p:nvPr/>
        </p:nvSpPr>
        <p:spPr>
          <a:xfrm>
            <a:off x="8684514" y="599750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pass SSIM≥0.95 but fail coherence≥0.95 -- worst: SSIM=0.971, coherence=0.678</a:t>
            </a:r>
            <a:endParaRPr lang="en-US" sz="900" dirty="0"/>
          </a:p>
        </p:txBody>
      </p:sp>
      <p:sp>
        <p:nvSpPr>
          <p:cNvPr id="19" name="Text 16"/>
          <p:cNvSpPr/>
          <p:nvPr/>
        </p:nvSpPr>
        <p:spPr>
          <a:xfrm>
            <a:off x="548640" y="6428232"/>
            <a:ext cx="10607040" cy="274320"/>
          </a:xfrm>
          <a:prstGeom prst="rect">
            <a:avLst/>
          </a:prstGeom>
          <a:noFill/>
          <a:ln/>
        </p:spPr>
        <p:txBody>
          <a:bodyPr wrap="square" lIns="0" tIns="0" rIns="0" bIns="0" rtlCol="0" anchor="ctr"/>
          <a:lstStyle/>
          <a:p>
            <a:pPr marL="0" indent="0">
              <a:buNone/>
            </a:pPr>
            <a:r>
              <a:rPr lang="en-US" sz="850" i="1" dirty="0">
                <a:solidFill>
                  <a:srgbClr val="5B6672"/>
                </a:solidFill>
                <a:latin typeface="Calibri" pitchFamily="34" charset="0"/>
                <a:ea typeface="Calibri" pitchFamily="34" charset="-122"/>
                <a:cs typeface="Calibri" pitchFamily="34" charset="-120"/>
              </a:rPr>
              <a:t>Reading this honestly: coherence is a stricter, complementary check, not a contradiction of the SSIM result -- but 16 buildings (8%) that SSIM alone would call clean show materially worse joint amplitude/phase agreement. Worth a coherence threshold alongside SSIM in the Tier 2 criteria, not a replacement for it.</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3B7EB-2DCC-A462-42BC-ADD41CFBA20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32C1F1-80A7-1ADF-20A5-3B7CDED3B992}"/>
              </a:ext>
            </a:extLst>
          </p:cNvPr>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VALIDATION, CONTINUED</a:t>
            </a:r>
            <a:endParaRPr lang="en-US" sz="1200" dirty="0"/>
          </a:p>
        </p:txBody>
      </p:sp>
      <p:sp>
        <p:nvSpPr>
          <p:cNvPr id="3" name="Text 1">
            <a:extLst>
              <a:ext uri="{FF2B5EF4-FFF2-40B4-BE49-F238E27FC236}">
                <a16:creationId xmlns:a16="http://schemas.microsoft.com/office/drawing/2014/main" id="{73B7BB90-DDC5-FAB8-4E9D-8521F58B5BDC}"/>
              </a:ext>
            </a:extLst>
          </p:cNvPr>
          <p:cNvSpPr/>
          <p:nvPr/>
        </p:nvSpPr>
        <p:spPr>
          <a:xfrm>
            <a:off x="548640" y="658368"/>
            <a:ext cx="10881360" cy="868680"/>
          </a:xfrm>
          <a:prstGeom prst="rect">
            <a:avLst/>
          </a:prstGeom>
          <a:noFill/>
          <a:ln/>
        </p:spPr>
        <p:txBody>
          <a:bodyPr wrap="square" lIns="0" tIns="0" rIns="0" bIns="0" rtlCol="0" anchor="t"/>
          <a:lstStyle/>
          <a:p>
            <a:pPr marL="0" indent="0">
              <a:buNone/>
            </a:pPr>
            <a:r>
              <a:rPr lang="en-US" sz="2100" b="1" dirty="0">
                <a:solidFill>
                  <a:srgbClr val="141A22"/>
                </a:solidFill>
                <a:latin typeface="Cambria" pitchFamily="34" charset="0"/>
                <a:ea typeface="Cambria" pitchFamily="34" charset="-122"/>
                <a:cs typeface="Cambria" pitchFamily="34" charset="-120"/>
              </a:rPr>
              <a:t>Tier 2 – with proper layover!</a:t>
            </a:r>
            <a:endParaRPr lang="en-US" sz="2100" dirty="0"/>
          </a:p>
        </p:txBody>
      </p:sp>
      <p:sp>
        <p:nvSpPr>
          <p:cNvPr id="4" name="Text 2">
            <a:extLst>
              <a:ext uri="{FF2B5EF4-FFF2-40B4-BE49-F238E27FC236}">
                <a16:creationId xmlns:a16="http://schemas.microsoft.com/office/drawing/2014/main" id="{F715558F-FB19-5BE6-CD7A-998776B69C7F}"/>
              </a:ext>
            </a:extLst>
          </p:cNvPr>
          <p:cNvSpPr/>
          <p:nvPr/>
        </p:nvSpPr>
        <p:spPr>
          <a:xfrm>
            <a:off x="548640" y="1234440"/>
            <a:ext cx="9056536" cy="566928"/>
          </a:xfrm>
          <a:prstGeom prst="rect">
            <a:avLst/>
          </a:prstGeom>
          <a:noFill/>
          <a:ln/>
        </p:spPr>
        <p:txBody>
          <a:bodyPr wrap="square" lIns="0" tIns="0" rIns="0" bIns="0" rtlCol="0" anchor="ctr"/>
          <a:lstStyle/>
          <a:p>
            <a:pPr marL="0" indent="0">
              <a:lnSpc>
                <a:spcPct val="112000"/>
              </a:lnSpc>
              <a:buNone/>
            </a:pPr>
            <a:r>
              <a:rPr lang="en-US" sz="1150" i="1" dirty="0">
                <a:solidFill>
                  <a:srgbClr val="5B6672"/>
                </a:solidFill>
                <a:latin typeface="Calibri" pitchFamily="34" charset="0"/>
                <a:ea typeface="Calibri" pitchFamily="34" charset="-122"/>
                <a:cs typeface="Calibri" pitchFamily="34" charset="-120"/>
              </a:rPr>
              <a:t>Dug into SBR – Rays were intersecting at center of facet. </a:t>
            </a:r>
            <a:endParaRPr lang="en-US" sz="1150" dirty="0"/>
          </a:p>
        </p:txBody>
      </p:sp>
      <p:sp>
        <p:nvSpPr>
          <p:cNvPr id="6" name="Shape 3">
            <a:extLst>
              <a:ext uri="{FF2B5EF4-FFF2-40B4-BE49-F238E27FC236}">
                <a16:creationId xmlns:a16="http://schemas.microsoft.com/office/drawing/2014/main" id="{D407540E-EC2E-430E-D40C-6B41A8EE1F6C}"/>
              </a:ext>
            </a:extLst>
          </p:cNvPr>
          <p:cNvSpPr/>
          <p:nvPr/>
        </p:nvSpPr>
        <p:spPr>
          <a:xfrm>
            <a:off x="548640" y="5110533"/>
            <a:ext cx="11091672" cy="1290267"/>
          </a:xfrm>
          <a:prstGeom prst="roundRect">
            <a:avLst>
              <a:gd name="adj" fmla="val 5670"/>
            </a:avLst>
          </a:prstGeom>
          <a:solidFill>
            <a:srgbClr val="F1F4F8"/>
          </a:solidFill>
          <a:ln/>
          <a:effectLst>
            <a:outerShdw blurRad="101600" dist="38100" dir="5400000" algn="bl" rotWithShape="0">
              <a:srgbClr val="9AA5B1">
                <a:alpha val="22000"/>
              </a:srgbClr>
            </a:outerShdw>
          </a:effectLst>
        </p:spPr>
      </p:sp>
      <p:sp>
        <p:nvSpPr>
          <p:cNvPr id="7" name="Text 4">
            <a:extLst>
              <a:ext uri="{FF2B5EF4-FFF2-40B4-BE49-F238E27FC236}">
                <a16:creationId xmlns:a16="http://schemas.microsoft.com/office/drawing/2014/main" id="{CA5414BD-3DE3-0B1D-CA93-1C3FC11FB062}"/>
              </a:ext>
            </a:extLst>
          </p:cNvPr>
          <p:cNvSpPr/>
          <p:nvPr/>
        </p:nvSpPr>
        <p:spPr>
          <a:xfrm>
            <a:off x="777240" y="524769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WHOLE-IMAGE SSIM</a:t>
            </a:r>
            <a:endParaRPr lang="en-US" sz="1000" dirty="0"/>
          </a:p>
        </p:txBody>
      </p:sp>
      <p:sp>
        <p:nvSpPr>
          <p:cNvPr id="8" name="Text 5">
            <a:extLst>
              <a:ext uri="{FF2B5EF4-FFF2-40B4-BE49-F238E27FC236}">
                <a16:creationId xmlns:a16="http://schemas.microsoft.com/office/drawing/2014/main" id="{BEBC04F8-0B77-045F-2355-4D5B5D8550D8}"/>
              </a:ext>
            </a:extLst>
          </p:cNvPr>
          <p:cNvSpPr/>
          <p:nvPr/>
        </p:nvSpPr>
        <p:spPr>
          <a:xfrm>
            <a:off x="777240" y="549458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0.982</a:t>
            </a:r>
            <a:endParaRPr lang="en-US" sz="1700" dirty="0"/>
          </a:p>
        </p:txBody>
      </p:sp>
      <p:sp>
        <p:nvSpPr>
          <p:cNvPr id="9" name="Text 6">
            <a:extLst>
              <a:ext uri="{FF2B5EF4-FFF2-40B4-BE49-F238E27FC236}">
                <a16:creationId xmlns:a16="http://schemas.microsoft.com/office/drawing/2014/main" id="{0CA97D9F-8FD4-6210-1CA2-362C22CDFACD}"/>
              </a:ext>
            </a:extLst>
          </p:cNvPr>
          <p:cNvSpPr/>
          <p:nvPr/>
        </p:nvSpPr>
        <p:spPr>
          <a:xfrm>
            <a:off x="777240" y="595178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PASS vs. &gt;= 0.95 -- but inflated/diluted, see per-building</a:t>
            </a:r>
            <a:endParaRPr lang="en-US" sz="900" dirty="0"/>
          </a:p>
        </p:txBody>
      </p:sp>
      <p:sp>
        <p:nvSpPr>
          <p:cNvPr id="10" name="Text 7">
            <a:extLst>
              <a:ext uri="{FF2B5EF4-FFF2-40B4-BE49-F238E27FC236}">
                <a16:creationId xmlns:a16="http://schemas.microsoft.com/office/drawing/2014/main" id="{2A597CDA-8F08-2A31-3B8B-A7CDF46C04AC}"/>
              </a:ext>
            </a:extLst>
          </p:cNvPr>
          <p:cNvSpPr/>
          <p:nvPr/>
        </p:nvSpPr>
        <p:spPr>
          <a:xfrm>
            <a:off x="3412998" y="524769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PER-BUILDING (the real check)</a:t>
            </a:r>
            <a:endParaRPr lang="en-US" sz="1000" dirty="0"/>
          </a:p>
        </p:txBody>
      </p:sp>
      <p:sp>
        <p:nvSpPr>
          <p:cNvPr id="11" name="Text 8">
            <a:extLst>
              <a:ext uri="{FF2B5EF4-FFF2-40B4-BE49-F238E27FC236}">
                <a16:creationId xmlns:a16="http://schemas.microsoft.com/office/drawing/2014/main" id="{AA597662-4C83-2693-4BC8-6BD979E99781}"/>
              </a:ext>
            </a:extLst>
          </p:cNvPr>
          <p:cNvSpPr/>
          <p:nvPr/>
        </p:nvSpPr>
        <p:spPr>
          <a:xfrm>
            <a:off x="3412998" y="549458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182 / 200 pass</a:t>
            </a:r>
            <a:endParaRPr lang="en-US" sz="1700" dirty="0"/>
          </a:p>
        </p:txBody>
      </p:sp>
      <p:sp>
        <p:nvSpPr>
          <p:cNvPr id="12" name="Text 9">
            <a:extLst>
              <a:ext uri="{FF2B5EF4-FFF2-40B4-BE49-F238E27FC236}">
                <a16:creationId xmlns:a16="http://schemas.microsoft.com/office/drawing/2014/main" id="{1936D2E2-38FC-1093-412A-E332D9042344}"/>
              </a:ext>
            </a:extLst>
          </p:cNvPr>
          <p:cNvSpPr/>
          <p:nvPr/>
        </p:nvSpPr>
        <p:spPr>
          <a:xfrm>
            <a:off x="3412998" y="595178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mean 0.991, median 0.996, min 0.923 -- matches the table's "same sector" criterion</a:t>
            </a:r>
            <a:endParaRPr lang="en-US" sz="900" dirty="0"/>
          </a:p>
        </p:txBody>
      </p:sp>
      <p:sp>
        <p:nvSpPr>
          <p:cNvPr id="13" name="Text 10">
            <a:extLst>
              <a:ext uri="{FF2B5EF4-FFF2-40B4-BE49-F238E27FC236}">
                <a16:creationId xmlns:a16="http://schemas.microsoft.com/office/drawing/2014/main" id="{A82C96B2-523E-9536-35B2-1D4A273D2BC2}"/>
              </a:ext>
            </a:extLst>
          </p:cNvPr>
          <p:cNvSpPr/>
          <p:nvPr/>
        </p:nvSpPr>
        <p:spPr>
          <a:xfrm>
            <a:off x="6048756" y="524769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AMP / PHASE RMS</a:t>
            </a:r>
            <a:endParaRPr lang="en-US" sz="1000" dirty="0"/>
          </a:p>
        </p:txBody>
      </p:sp>
      <p:sp>
        <p:nvSpPr>
          <p:cNvPr id="14" name="Text 11">
            <a:extLst>
              <a:ext uri="{FF2B5EF4-FFF2-40B4-BE49-F238E27FC236}">
                <a16:creationId xmlns:a16="http://schemas.microsoft.com/office/drawing/2014/main" id="{6703E233-C0D0-768B-EF5B-9099923AC58C}"/>
              </a:ext>
            </a:extLst>
          </p:cNvPr>
          <p:cNvSpPr/>
          <p:nvPr/>
        </p:nvSpPr>
        <p:spPr>
          <a:xfrm>
            <a:off x="6048756" y="549458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0.008 / 8.5°</a:t>
            </a:r>
            <a:endParaRPr lang="en-US" sz="1700" dirty="0"/>
          </a:p>
        </p:txBody>
      </p:sp>
      <p:sp>
        <p:nvSpPr>
          <p:cNvPr id="15" name="Text 12">
            <a:extLst>
              <a:ext uri="{FF2B5EF4-FFF2-40B4-BE49-F238E27FC236}">
                <a16:creationId xmlns:a16="http://schemas.microsoft.com/office/drawing/2014/main" id="{BA85B3A5-BAEC-A402-84FF-B95972175A98}"/>
              </a:ext>
            </a:extLst>
          </p:cNvPr>
          <p:cNvSpPr/>
          <p:nvPr/>
        </p:nvSpPr>
        <p:spPr>
          <a:xfrm>
            <a:off x="6048756" y="595178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whole-image, magnitude-weighted</a:t>
            </a:r>
            <a:endParaRPr lang="en-US" sz="900" dirty="0"/>
          </a:p>
        </p:txBody>
      </p:sp>
      <p:sp>
        <p:nvSpPr>
          <p:cNvPr id="16" name="Text 13">
            <a:extLst>
              <a:ext uri="{FF2B5EF4-FFF2-40B4-BE49-F238E27FC236}">
                <a16:creationId xmlns:a16="http://schemas.microsoft.com/office/drawing/2014/main" id="{9B66A1B2-F3DB-88BF-F00B-11CD6C7618C7}"/>
              </a:ext>
            </a:extLst>
          </p:cNvPr>
          <p:cNvSpPr/>
          <p:nvPr/>
        </p:nvSpPr>
        <p:spPr>
          <a:xfrm>
            <a:off x="8684514" y="524769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MEASURED SPEEDUP (RTX 4050)</a:t>
            </a:r>
            <a:endParaRPr lang="en-US" sz="1000" dirty="0"/>
          </a:p>
        </p:txBody>
      </p:sp>
      <p:sp>
        <p:nvSpPr>
          <p:cNvPr id="17" name="Text 14">
            <a:extLst>
              <a:ext uri="{FF2B5EF4-FFF2-40B4-BE49-F238E27FC236}">
                <a16:creationId xmlns:a16="http://schemas.microsoft.com/office/drawing/2014/main" id="{9439CC84-D168-6237-0053-57894A3066BF}"/>
              </a:ext>
            </a:extLst>
          </p:cNvPr>
          <p:cNvSpPr/>
          <p:nvPr/>
        </p:nvSpPr>
        <p:spPr>
          <a:xfrm>
            <a:off x="8684514" y="549458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464x / pulse</a:t>
            </a:r>
          </a:p>
          <a:p>
            <a:r>
              <a:rPr lang="en-US" sz="1600" b="1" dirty="0">
                <a:latin typeface="Courier New" panose="02070309020205020404" pitchFamily="49" charset="0"/>
                <a:cs typeface="Courier New" panose="02070309020205020404" pitchFamily="49" charset="0"/>
              </a:rPr>
              <a:t>60s / 23126s total</a:t>
            </a:r>
            <a:endParaRPr lang="en-US" sz="1700" b="1" dirty="0">
              <a:latin typeface="Courier New" panose="02070309020205020404" pitchFamily="49" charset="0"/>
              <a:cs typeface="Courier New" panose="02070309020205020404" pitchFamily="49" charset="0"/>
            </a:endParaRPr>
          </a:p>
        </p:txBody>
      </p:sp>
      <p:sp>
        <p:nvSpPr>
          <p:cNvPr id="18" name="Text 15">
            <a:extLst>
              <a:ext uri="{FF2B5EF4-FFF2-40B4-BE49-F238E27FC236}">
                <a16:creationId xmlns:a16="http://schemas.microsoft.com/office/drawing/2014/main" id="{1F16027F-F88B-0A34-7EDB-E4A002DAB6AB}"/>
              </a:ext>
            </a:extLst>
          </p:cNvPr>
          <p:cNvSpPr/>
          <p:nvPr/>
        </p:nvSpPr>
        <p:spPr>
          <a:xfrm>
            <a:off x="8684514" y="5951781"/>
            <a:ext cx="2407158" cy="502920"/>
          </a:xfrm>
          <a:prstGeom prst="rect">
            <a:avLst/>
          </a:prstGeom>
          <a:noFill/>
          <a:ln/>
        </p:spPr>
        <p:txBody>
          <a:bodyPr wrap="square" lIns="0" tIns="0" rIns="0" bIns="0" rtlCol="0" anchor="ctr"/>
          <a:lstStyle/>
          <a:p>
            <a:pPr>
              <a:lnSpc>
                <a:spcPct val="110000"/>
              </a:lnSpc>
            </a:pPr>
            <a:r>
              <a:rPr lang="en-US" sz="900" i="1" dirty="0">
                <a:solidFill>
                  <a:srgbClr val="5B6672"/>
                </a:solidFill>
                <a:latin typeface="Calibri" pitchFamily="34" charset="0"/>
                <a:ea typeface="Calibri" pitchFamily="34" charset="-122"/>
                <a:cs typeface="Calibri" pitchFamily="34" charset="-120"/>
              </a:rPr>
              <a:t>ray/facet intersection is more expensive than estimated</a:t>
            </a:r>
            <a:endParaRPr lang="en-US" sz="900" dirty="0"/>
          </a:p>
        </p:txBody>
      </p:sp>
      <p:pic>
        <p:nvPicPr>
          <p:cNvPr id="20" name="Picture 19">
            <a:extLst>
              <a:ext uri="{FF2B5EF4-FFF2-40B4-BE49-F238E27FC236}">
                <a16:creationId xmlns:a16="http://schemas.microsoft.com/office/drawing/2014/main" id="{8C7EFB97-BBB4-B858-E319-B8FAC9324062}"/>
              </a:ext>
            </a:extLst>
          </p:cNvPr>
          <p:cNvPicPr>
            <a:picLocks noChangeAspect="1"/>
          </p:cNvPicPr>
          <p:nvPr/>
        </p:nvPicPr>
        <p:blipFill>
          <a:blip r:embed="rId3"/>
          <a:stretch>
            <a:fillRect/>
          </a:stretch>
        </p:blipFill>
        <p:spPr>
          <a:xfrm>
            <a:off x="9419237" y="7950"/>
            <a:ext cx="2844324" cy="2187941"/>
          </a:xfrm>
          <a:prstGeom prst="rect">
            <a:avLst/>
          </a:prstGeom>
        </p:spPr>
      </p:pic>
      <p:pic>
        <p:nvPicPr>
          <p:cNvPr id="24" name="Picture 23">
            <a:extLst>
              <a:ext uri="{FF2B5EF4-FFF2-40B4-BE49-F238E27FC236}">
                <a16:creationId xmlns:a16="http://schemas.microsoft.com/office/drawing/2014/main" id="{3E2400F5-CA83-C89B-1AA3-C3B8580F09C6}"/>
              </a:ext>
            </a:extLst>
          </p:cNvPr>
          <p:cNvPicPr>
            <a:picLocks noChangeAspect="1"/>
          </p:cNvPicPr>
          <p:nvPr/>
        </p:nvPicPr>
        <p:blipFill>
          <a:blip r:embed="rId4"/>
          <a:stretch>
            <a:fillRect/>
          </a:stretch>
        </p:blipFill>
        <p:spPr>
          <a:xfrm>
            <a:off x="362309" y="1760621"/>
            <a:ext cx="11576650" cy="3336758"/>
          </a:xfrm>
          <a:prstGeom prst="rect">
            <a:avLst/>
          </a:prstGeom>
        </p:spPr>
      </p:pic>
    </p:spTree>
    <p:extLst>
      <p:ext uri="{BB962C8B-B14F-4D97-AF65-F5344CB8AC3E}">
        <p14:creationId xmlns:p14="http://schemas.microsoft.com/office/powerpoint/2010/main" val="3650786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A6D9-DDFF-E73F-719E-087169E5A07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CB9B116-4C8F-29F0-AA82-69964672D7E0}"/>
              </a:ext>
            </a:extLst>
          </p:cNvPr>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VALIDATION, CONTINUED</a:t>
            </a:r>
            <a:endParaRPr lang="en-US" sz="1200" dirty="0"/>
          </a:p>
        </p:txBody>
      </p:sp>
      <p:sp>
        <p:nvSpPr>
          <p:cNvPr id="3" name="Text 1">
            <a:extLst>
              <a:ext uri="{FF2B5EF4-FFF2-40B4-BE49-F238E27FC236}">
                <a16:creationId xmlns:a16="http://schemas.microsoft.com/office/drawing/2014/main" id="{31233364-B185-C010-2C63-01AF0FFE9D36}"/>
              </a:ext>
            </a:extLst>
          </p:cNvPr>
          <p:cNvSpPr/>
          <p:nvPr/>
        </p:nvSpPr>
        <p:spPr>
          <a:xfrm>
            <a:off x="548640" y="658368"/>
            <a:ext cx="10881360" cy="448056"/>
          </a:xfrm>
          <a:prstGeom prst="rect">
            <a:avLst/>
          </a:prstGeom>
          <a:noFill/>
          <a:ln/>
        </p:spPr>
        <p:txBody>
          <a:bodyPr wrap="square" lIns="0" tIns="0" rIns="0" bIns="0" rtlCol="0" anchor="t"/>
          <a:lstStyle/>
          <a:p>
            <a:pPr marL="0" indent="0">
              <a:buNone/>
            </a:pPr>
            <a:r>
              <a:rPr lang="en-US" sz="2000" b="1" dirty="0">
                <a:solidFill>
                  <a:srgbClr val="141A22"/>
                </a:solidFill>
                <a:latin typeface="Cambria" pitchFamily="34" charset="0"/>
                <a:ea typeface="Cambria" pitchFamily="34" charset="-122"/>
                <a:cs typeface="Cambria" pitchFamily="34" charset="-120"/>
              </a:rPr>
              <a:t>Same run, a stricter question: does phase agree, not just amplitude?</a:t>
            </a:r>
            <a:endParaRPr lang="en-US" sz="2000" dirty="0"/>
          </a:p>
        </p:txBody>
      </p:sp>
      <p:sp>
        <p:nvSpPr>
          <p:cNvPr id="6" name="Shape 3">
            <a:extLst>
              <a:ext uri="{FF2B5EF4-FFF2-40B4-BE49-F238E27FC236}">
                <a16:creationId xmlns:a16="http://schemas.microsoft.com/office/drawing/2014/main" id="{28F1E18F-3C51-D84E-0742-26956EFB8615}"/>
              </a:ext>
            </a:extLst>
          </p:cNvPr>
          <p:cNvSpPr/>
          <p:nvPr/>
        </p:nvSpPr>
        <p:spPr>
          <a:xfrm>
            <a:off x="548640" y="5156253"/>
            <a:ext cx="11091672" cy="1244547"/>
          </a:xfrm>
          <a:prstGeom prst="roundRect">
            <a:avLst>
              <a:gd name="adj" fmla="val 5878"/>
            </a:avLst>
          </a:prstGeom>
          <a:solidFill>
            <a:srgbClr val="F1F4F8"/>
          </a:solidFill>
          <a:ln/>
          <a:effectLst>
            <a:outerShdw blurRad="101600" dist="38100" dir="5400000" algn="bl" rotWithShape="0">
              <a:srgbClr val="9AA5B1">
                <a:alpha val="22000"/>
              </a:srgbClr>
            </a:outerShdw>
          </a:effectLst>
        </p:spPr>
      </p:sp>
      <p:sp>
        <p:nvSpPr>
          <p:cNvPr id="7" name="Text 4">
            <a:extLst>
              <a:ext uri="{FF2B5EF4-FFF2-40B4-BE49-F238E27FC236}">
                <a16:creationId xmlns:a16="http://schemas.microsoft.com/office/drawing/2014/main" id="{1E29B9DB-F336-100B-479F-35317823511B}"/>
              </a:ext>
            </a:extLst>
          </p:cNvPr>
          <p:cNvSpPr/>
          <p:nvPr/>
        </p:nvSpPr>
        <p:spPr>
          <a:xfrm>
            <a:off x="777240" y="529341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WHOLE-IMAGE COHERENCE</a:t>
            </a:r>
            <a:endParaRPr lang="en-US" sz="1000" dirty="0"/>
          </a:p>
        </p:txBody>
      </p:sp>
      <p:sp>
        <p:nvSpPr>
          <p:cNvPr id="8" name="Text 5">
            <a:extLst>
              <a:ext uri="{FF2B5EF4-FFF2-40B4-BE49-F238E27FC236}">
                <a16:creationId xmlns:a16="http://schemas.microsoft.com/office/drawing/2014/main" id="{2DE06A9B-6AD7-BD8F-2E31-25410FA68BA3}"/>
              </a:ext>
            </a:extLst>
          </p:cNvPr>
          <p:cNvSpPr/>
          <p:nvPr/>
        </p:nvSpPr>
        <p:spPr>
          <a:xfrm>
            <a:off x="777240" y="554030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0.956</a:t>
            </a:r>
            <a:endParaRPr lang="en-US" sz="1700" dirty="0"/>
          </a:p>
        </p:txBody>
      </p:sp>
      <p:sp>
        <p:nvSpPr>
          <p:cNvPr id="9" name="Text 6">
            <a:extLst>
              <a:ext uri="{FF2B5EF4-FFF2-40B4-BE49-F238E27FC236}">
                <a16:creationId xmlns:a16="http://schemas.microsoft.com/office/drawing/2014/main" id="{35E3FD4F-0B37-AB54-97EF-74F106C174E7}"/>
              </a:ext>
            </a:extLst>
          </p:cNvPr>
          <p:cNvSpPr/>
          <p:nvPr/>
        </p:nvSpPr>
        <p:spPr>
          <a:xfrm>
            <a:off x="777240" y="599750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same dilution issue as whole-image SSIM -- see per-building</a:t>
            </a:r>
            <a:endParaRPr lang="en-US" sz="900" dirty="0"/>
          </a:p>
        </p:txBody>
      </p:sp>
      <p:sp>
        <p:nvSpPr>
          <p:cNvPr id="10" name="Text 7">
            <a:extLst>
              <a:ext uri="{FF2B5EF4-FFF2-40B4-BE49-F238E27FC236}">
                <a16:creationId xmlns:a16="http://schemas.microsoft.com/office/drawing/2014/main" id="{2D7852D4-A06F-A4DB-C0D9-CB34D8D7B38E}"/>
              </a:ext>
            </a:extLst>
          </p:cNvPr>
          <p:cNvSpPr/>
          <p:nvPr/>
        </p:nvSpPr>
        <p:spPr>
          <a:xfrm>
            <a:off x="3412998" y="529341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PER-BUILDING COHERENCE</a:t>
            </a:r>
            <a:endParaRPr lang="en-US" sz="1000" dirty="0"/>
          </a:p>
        </p:txBody>
      </p:sp>
      <p:sp>
        <p:nvSpPr>
          <p:cNvPr id="11" name="Text 8">
            <a:extLst>
              <a:ext uri="{FF2B5EF4-FFF2-40B4-BE49-F238E27FC236}">
                <a16:creationId xmlns:a16="http://schemas.microsoft.com/office/drawing/2014/main" id="{56331090-1901-40AE-5891-DFDF2869F8C1}"/>
              </a:ext>
            </a:extLst>
          </p:cNvPr>
          <p:cNvSpPr/>
          <p:nvPr/>
        </p:nvSpPr>
        <p:spPr>
          <a:xfrm>
            <a:off x="3412998" y="554030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mean 0.96, median .99, min 0.75</a:t>
            </a:r>
            <a:endParaRPr lang="en-US" sz="1700" dirty="0"/>
          </a:p>
        </p:txBody>
      </p:sp>
      <p:sp>
        <p:nvSpPr>
          <p:cNvPr id="12" name="Text 9">
            <a:extLst>
              <a:ext uri="{FF2B5EF4-FFF2-40B4-BE49-F238E27FC236}">
                <a16:creationId xmlns:a16="http://schemas.microsoft.com/office/drawing/2014/main" id="{8D6C534D-8088-1F7A-1FB9-AF6D5021B721}"/>
              </a:ext>
            </a:extLst>
          </p:cNvPr>
          <p:cNvSpPr/>
          <p:nvPr/>
        </p:nvSpPr>
        <p:spPr>
          <a:xfrm>
            <a:off x="3412998" y="599750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median 1.000 -- a few outliers pull the mean, not a broad drift</a:t>
            </a:r>
            <a:endParaRPr lang="en-US" sz="900" dirty="0"/>
          </a:p>
        </p:txBody>
      </p:sp>
      <p:sp>
        <p:nvSpPr>
          <p:cNvPr id="13" name="Text 10">
            <a:extLst>
              <a:ext uri="{FF2B5EF4-FFF2-40B4-BE49-F238E27FC236}">
                <a16:creationId xmlns:a16="http://schemas.microsoft.com/office/drawing/2014/main" id="{BB8147CF-6780-F8DB-2806-1060BFE54D43}"/>
              </a:ext>
            </a:extLst>
          </p:cNvPr>
          <p:cNvSpPr/>
          <p:nvPr/>
        </p:nvSpPr>
        <p:spPr>
          <a:xfrm>
            <a:off x="6048756" y="529341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PHASE BIAS / RMS</a:t>
            </a:r>
            <a:endParaRPr lang="en-US" sz="1000" dirty="0"/>
          </a:p>
        </p:txBody>
      </p:sp>
      <p:sp>
        <p:nvSpPr>
          <p:cNvPr id="14" name="Text 11">
            <a:extLst>
              <a:ext uri="{FF2B5EF4-FFF2-40B4-BE49-F238E27FC236}">
                <a16:creationId xmlns:a16="http://schemas.microsoft.com/office/drawing/2014/main" id="{DDD577A3-9438-E4F6-2C0A-F02578339CD4}"/>
              </a:ext>
            </a:extLst>
          </p:cNvPr>
          <p:cNvSpPr/>
          <p:nvPr/>
        </p:nvSpPr>
        <p:spPr>
          <a:xfrm>
            <a:off x="6048756" y="554030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-0.11° / 8.5°</a:t>
            </a:r>
            <a:endParaRPr lang="en-US" sz="1700" dirty="0"/>
          </a:p>
        </p:txBody>
      </p:sp>
      <p:sp>
        <p:nvSpPr>
          <p:cNvPr id="15" name="Text 12">
            <a:extLst>
              <a:ext uri="{FF2B5EF4-FFF2-40B4-BE49-F238E27FC236}">
                <a16:creationId xmlns:a16="http://schemas.microsoft.com/office/drawing/2014/main" id="{756384F1-B270-6501-5DC0-CAA185C65724}"/>
              </a:ext>
            </a:extLst>
          </p:cNvPr>
          <p:cNvSpPr/>
          <p:nvPr/>
        </p:nvSpPr>
        <p:spPr>
          <a:xfrm>
            <a:off x="6048756" y="599750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bias ~0 -- symmetric scatter, not a systematic offset bug</a:t>
            </a:r>
            <a:endParaRPr lang="en-US" sz="900" dirty="0"/>
          </a:p>
        </p:txBody>
      </p:sp>
      <p:sp>
        <p:nvSpPr>
          <p:cNvPr id="16" name="Text 13">
            <a:extLst>
              <a:ext uri="{FF2B5EF4-FFF2-40B4-BE49-F238E27FC236}">
                <a16:creationId xmlns:a16="http://schemas.microsoft.com/office/drawing/2014/main" id="{47E1D29A-7668-20E1-B6F1-213334CC482A}"/>
              </a:ext>
            </a:extLst>
          </p:cNvPr>
          <p:cNvSpPr/>
          <p:nvPr/>
        </p:nvSpPr>
        <p:spPr>
          <a:xfrm>
            <a:off x="8684514" y="5293413"/>
            <a:ext cx="2407158" cy="256032"/>
          </a:xfrm>
          <a:prstGeom prst="rect">
            <a:avLst/>
          </a:prstGeom>
          <a:noFill/>
          <a:ln/>
        </p:spPr>
        <p:txBody>
          <a:bodyPr wrap="square" lIns="0" tIns="0" rIns="0" bIns="0" rtlCol="0" anchor="ctr"/>
          <a:lstStyle/>
          <a:p>
            <a:pPr marL="0" indent="0">
              <a:buNone/>
            </a:pPr>
            <a:r>
              <a:rPr lang="en-US" sz="1000" b="1" kern="0" spc="100" dirty="0">
                <a:solidFill>
                  <a:srgbClr val="B85C00"/>
                </a:solidFill>
                <a:latin typeface="Calibri" pitchFamily="34" charset="0"/>
                <a:ea typeface="Calibri" pitchFamily="34" charset="-122"/>
                <a:cs typeface="Calibri" pitchFamily="34" charset="-120"/>
              </a:rPr>
              <a:t>CAUGHT BY COHERENCE, MISSED BY SSIM</a:t>
            </a:r>
            <a:endParaRPr lang="en-US" sz="1000" dirty="0"/>
          </a:p>
        </p:txBody>
      </p:sp>
      <p:sp>
        <p:nvSpPr>
          <p:cNvPr id="17" name="Text 14">
            <a:extLst>
              <a:ext uri="{FF2B5EF4-FFF2-40B4-BE49-F238E27FC236}">
                <a16:creationId xmlns:a16="http://schemas.microsoft.com/office/drawing/2014/main" id="{0EE042FF-BCAC-7F4E-A80E-139B4276448A}"/>
              </a:ext>
            </a:extLst>
          </p:cNvPr>
          <p:cNvSpPr/>
          <p:nvPr/>
        </p:nvSpPr>
        <p:spPr>
          <a:xfrm>
            <a:off x="8684514" y="5540301"/>
            <a:ext cx="2407158" cy="457200"/>
          </a:xfrm>
          <a:prstGeom prst="rect">
            <a:avLst/>
          </a:prstGeom>
          <a:noFill/>
          <a:ln/>
        </p:spPr>
        <p:txBody>
          <a:bodyPr wrap="square" lIns="0" tIns="0" rIns="0" bIns="0" rtlCol="0" anchor="ctr"/>
          <a:lstStyle/>
          <a:p>
            <a:pPr marL="0" indent="0">
              <a:buNone/>
            </a:pPr>
            <a:r>
              <a:rPr lang="en-US" sz="1700" b="1" dirty="0">
                <a:solidFill>
                  <a:srgbClr val="141A22"/>
                </a:solidFill>
                <a:latin typeface="Courier New" pitchFamily="34" charset="0"/>
                <a:ea typeface="Courier New" pitchFamily="34" charset="-122"/>
                <a:cs typeface="Courier New" pitchFamily="34" charset="-120"/>
              </a:rPr>
              <a:t>27 / 200 buildings</a:t>
            </a:r>
            <a:endParaRPr lang="en-US" sz="1700" dirty="0"/>
          </a:p>
        </p:txBody>
      </p:sp>
      <p:sp>
        <p:nvSpPr>
          <p:cNvPr id="18" name="Text 15">
            <a:extLst>
              <a:ext uri="{FF2B5EF4-FFF2-40B4-BE49-F238E27FC236}">
                <a16:creationId xmlns:a16="http://schemas.microsoft.com/office/drawing/2014/main" id="{3EA3550C-6EAF-4BA2-5F8D-2D2C567649D3}"/>
              </a:ext>
            </a:extLst>
          </p:cNvPr>
          <p:cNvSpPr/>
          <p:nvPr/>
        </p:nvSpPr>
        <p:spPr>
          <a:xfrm>
            <a:off x="8684514" y="5997501"/>
            <a:ext cx="2407158" cy="502920"/>
          </a:xfrm>
          <a:prstGeom prst="rect">
            <a:avLst/>
          </a:prstGeom>
          <a:noFill/>
          <a:ln/>
        </p:spPr>
        <p:txBody>
          <a:bodyPr wrap="square" lIns="0" tIns="0" rIns="0" bIns="0" rtlCol="0" anchor="ctr"/>
          <a:lstStyle/>
          <a:p>
            <a:pPr marL="0" indent="0">
              <a:lnSpc>
                <a:spcPct val="110000"/>
              </a:lnSpc>
              <a:buNone/>
            </a:pPr>
            <a:r>
              <a:rPr lang="en-US" sz="900" i="1" dirty="0">
                <a:solidFill>
                  <a:srgbClr val="5B6672"/>
                </a:solidFill>
                <a:latin typeface="Calibri" pitchFamily="34" charset="0"/>
                <a:ea typeface="Calibri" pitchFamily="34" charset="-122"/>
                <a:cs typeface="Calibri" pitchFamily="34" charset="-120"/>
              </a:rPr>
              <a:t>pass SSIM≥0.95 but fail coherence≥0.95 -- worst: SSIM=0.963, coherence=0.75</a:t>
            </a:r>
            <a:endParaRPr lang="en-US" sz="900" dirty="0"/>
          </a:p>
        </p:txBody>
      </p:sp>
      <p:sp>
        <p:nvSpPr>
          <p:cNvPr id="19" name="Text 16">
            <a:extLst>
              <a:ext uri="{FF2B5EF4-FFF2-40B4-BE49-F238E27FC236}">
                <a16:creationId xmlns:a16="http://schemas.microsoft.com/office/drawing/2014/main" id="{DF6358D2-4321-3CE3-5A2D-4C1D34536F6C}"/>
              </a:ext>
            </a:extLst>
          </p:cNvPr>
          <p:cNvSpPr/>
          <p:nvPr/>
        </p:nvSpPr>
        <p:spPr>
          <a:xfrm>
            <a:off x="548640" y="6428232"/>
            <a:ext cx="10607040" cy="274320"/>
          </a:xfrm>
          <a:prstGeom prst="rect">
            <a:avLst/>
          </a:prstGeom>
          <a:noFill/>
          <a:ln/>
        </p:spPr>
        <p:txBody>
          <a:bodyPr wrap="square" lIns="0" tIns="0" rIns="0" bIns="0" rtlCol="0" anchor="ctr"/>
          <a:lstStyle/>
          <a:p>
            <a:pPr marL="0" indent="0">
              <a:buNone/>
            </a:pPr>
            <a:endParaRPr lang="en-US" sz="850" dirty="0"/>
          </a:p>
        </p:txBody>
      </p:sp>
      <p:pic>
        <p:nvPicPr>
          <p:cNvPr id="29" name="Picture 28">
            <a:extLst>
              <a:ext uri="{FF2B5EF4-FFF2-40B4-BE49-F238E27FC236}">
                <a16:creationId xmlns:a16="http://schemas.microsoft.com/office/drawing/2014/main" id="{BAE34C60-C2B7-C5E7-2221-7C2ED20A38D8}"/>
              </a:ext>
            </a:extLst>
          </p:cNvPr>
          <p:cNvPicPr>
            <a:picLocks noChangeAspect="1"/>
          </p:cNvPicPr>
          <p:nvPr/>
        </p:nvPicPr>
        <p:blipFill>
          <a:blip r:embed="rId3"/>
          <a:stretch>
            <a:fillRect/>
          </a:stretch>
        </p:blipFill>
        <p:spPr>
          <a:xfrm>
            <a:off x="120770" y="1308555"/>
            <a:ext cx="11869947" cy="3788824"/>
          </a:xfrm>
          <a:prstGeom prst="rect">
            <a:avLst/>
          </a:prstGeom>
        </p:spPr>
      </p:pic>
    </p:spTree>
    <p:extLst>
      <p:ext uri="{BB962C8B-B14F-4D97-AF65-F5344CB8AC3E}">
        <p14:creationId xmlns:p14="http://schemas.microsoft.com/office/powerpoint/2010/main" val="1866589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658368"/>
            <a:ext cx="10881360" cy="868680"/>
          </a:xfrm>
          <a:prstGeom prst="rect">
            <a:avLst/>
          </a:prstGeom>
          <a:noFill/>
          <a:ln/>
        </p:spPr>
        <p:txBody>
          <a:bodyPr wrap="square" lIns="0" tIns="0" rIns="0" bIns="0" rtlCol="0" anchor="t"/>
          <a:lstStyle/>
          <a:p>
            <a:pPr marL="0" indent="0">
              <a:buNone/>
            </a:pPr>
            <a:r>
              <a:rPr lang="en-US" sz="3400" b="1" dirty="0">
                <a:solidFill>
                  <a:srgbClr val="141A22"/>
                </a:solidFill>
                <a:latin typeface="Cambria" pitchFamily="34" charset="0"/>
                <a:ea typeface="Cambria" pitchFamily="34" charset="-122"/>
                <a:cs typeface="Cambria" pitchFamily="34" charset="-120"/>
              </a:rPr>
              <a:t>Summary</a:t>
            </a:r>
            <a:endParaRPr lang="en-US" sz="3400" dirty="0"/>
          </a:p>
        </p:txBody>
      </p:sp>
      <p:sp>
        <p:nvSpPr>
          <p:cNvPr id="3" name="Text 1"/>
          <p:cNvSpPr/>
          <p:nvPr/>
        </p:nvSpPr>
        <p:spPr>
          <a:xfrm>
            <a:off x="548640" y="1554480"/>
            <a:ext cx="10698480" cy="822960"/>
          </a:xfrm>
          <a:prstGeom prst="rect">
            <a:avLst/>
          </a:prstGeom>
          <a:noFill/>
          <a:ln/>
        </p:spPr>
        <p:txBody>
          <a:bodyPr wrap="square" lIns="0" tIns="0" rIns="0" bIns="0" rtlCol="0" anchor="ctr"/>
          <a:lstStyle/>
          <a:p>
            <a:pPr marL="0" indent="0">
              <a:lnSpc>
                <a:spcPct val="115000"/>
              </a:lnSpc>
              <a:buNone/>
            </a:pPr>
            <a:r>
              <a:rPr lang="en-US" sz="1500" i="1" dirty="0">
                <a:solidFill>
                  <a:srgbClr val="5B6672"/>
                </a:solidFill>
                <a:latin typeface="Calibri" pitchFamily="34" charset="0"/>
                <a:ea typeface="Calibri" pitchFamily="34" charset="-122"/>
                <a:cs typeface="Calibri" pitchFamily="34" charset="-120"/>
              </a:rPr>
              <a:t>SAR simulation from a 3D scene is a physics forward-model problem wearing a graphics costume -- geometry and ray tracing infrastructure transfer</a:t>
            </a:r>
            <a:endParaRPr lang="en-US" sz="1500" dirty="0"/>
          </a:p>
        </p:txBody>
      </p:sp>
      <p:sp>
        <p:nvSpPr>
          <p:cNvPr id="4" name="Shape 2"/>
          <p:cNvSpPr/>
          <p:nvPr/>
        </p:nvSpPr>
        <p:spPr>
          <a:xfrm>
            <a:off x="548640" y="2606040"/>
            <a:ext cx="2560320" cy="2377440"/>
          </a:xfrm>
          <a:prstGeom prst="roundRect">
            <a:avLst>
              <a:gd name="adj" fmla="val 3077"/>
            </a:avLst>
          </a:prstGeom>
          <a:solidFill>
            <a:srgbClr val="F1F4F8"/>
          </a:solidFill>
          <a:ln/>
          <a:effectLst>
            <a:outerShdw blurRad="101600" dist="38100" dir="5400000" algn="bl" rotWithShape="0">
              <a:srgbClr val="9AA5B1">
                <a:alpha val="22000"/>
              </a:srgbClr>
            </a:outerShdw>
          </a:effectLst>
        </p:spPr>
      </p:sp>
      <p:sp>
        <p:nvSpPr>
          <p:cNvPr id="5" name="Shape 3"/>
          <p:cNvSpPr/>
          <p:nvPr/>
        </p:nvSpPr>
        <p:spPr>
          <a:xfrm>
            <a:off x="1463040" y="2880360"/>
            <a:ext cx="731520" cy="731520"/>
          </a:xfrm>
          <a:prstGeom prst="ellipse">
            <a:avLst/>
          </a:prstGeom>
          <a:solidFill>
            <a:srgbClr val="FF9E2C"/>
          </a:solidFill>
          <a:ln/>
        </p:spPr>
      </p:sp>
      <p:pic>
        <p:nvPicPr>
          <p:cNvPr id="6" name="Image 0" descr="/sessions/sweet-friendly-mayer/mnt/outputs/presentation/icons/FaLayerGroup_dark.png"/>
          <p:cNvPicPr>
            <a:picLocks noChangeAspect="1"/>
          </p:cNvPicPr>
          <p:nvPr/>
        </p:nvPicPr>
        <p:blipFill>
          <a:blip r:embed="rId3"/>
          <a:stretch>
            <a:fillRect/>
          </a:stretch>
        </p:blipFill>
        <p:spPr>
          <a:xfrm>
            <a:off x="1660550" y="3077870"/>
            <a:ext cx="336499" cy="336499"/>
          </a:xfrm>
          <a:prstGeom prst="rect">
            <a:avLst/>
          </a:prstGeom>
        </p:spPr>
      </p:pic>
      <p:sp>
        <p:nvSpPr>
          <p:cNvPr id="7" name="Text 4"/>
          <p:cNvSpPr/>
          <p:nvPr/>
        </p:nvSpPr>
        <p:spPr>
          <a:xfrm>
            <a:off x="548640" y="3749040"/>
            <a:ext cx="2560320" cy="365760"/>
          </a:xfrm>
          <a:prstGeom prst="rect">
            <a:avLst/>
          </a:prstGeom>
          <a:noFill/>
          <a:ln/>
        </p:spPr>
        <p:txBody>
          <a:bodyPr wrap="square" lIns="0" tIns="0" rIns="0" bIns="0" rtlCol="0" anchor="ctr"/>
          <a:lstStyle/>
          <a:p>
            <a:pPr marL="0" indent="0" algn="ctr">
              <a:buNone/>
            </a:pPr>
            <a:r>
              <a:rPr lang="en-US" sz="1400" b="1" dirty="0">
                <a:solidFill>
                  <a:srgbClr val="141A22"/>
                </a:solidFill>
                <a:latin typeface="Calibri" pitchFamily="34" charset="0"/>
                <a:ea typeface="Calibri" pitchFamily="34" charset="-122"/>
                <a:cs typeface="Calibri" pitchFamily="34" charset="-120"/>
              </a:rPr>
              <a:t>Multi-bounce</a:t>
            </a:r>
            <a:endParaRPr lang="en-US" sz="1400" dirty="0"/>
          </a:p>
        </p:txBody>
      </p:sp>
      <p:sp>
        <p:nvSpPr>
          <p:cNvPr id="8" name="Text 5"/>
          <p:cNvSpPr/>
          <p:nvPr/>
        </p:nvSpPr>
        <p:spPr>
          <a:xfrm>
            <a:off x="685800" y="4114800"/>
            <a:ext cx="2286000" cy="777240"/>
          </a:xfrm>
          <a:prstGeom prst="rect">
            <a:avLst/>
          </a:prstGeom>
          <a:noFill/>
          <a:ln/>
        </p:spPr>
        <p:txBody>
          <a:bodyPr wrap="square" lIns="0" tIns="0" rIns="0" bIns="0" rtlCol="0" anchor="ctr"/>
          <a:lstStyle/>
          <a:p>
            <a:pPr marL="0" indent="0" algn="ctr">
              <a:lnSpc>
                <a:spcPct val="110000"/>
              </a:lnSpc>
              <a:buNone/>
            </a:pPr>
            <a:r>
              <a:rPr lang="en-US" sz="1100" i="1" dirty="0">
                <a:solidFill>
                  <a:srgbClr val="5B6672"/>
                </a:solidFill>
                <a:latin typeface="Calibri" pitchFamily="34" charset="0"/>
                <a:ea typeface="Calibri" pitchFamily="34" charset="-122"/>
                <a:cs typeface="Calibri" pitchFamily="34" charset="-120"/>
              </a:rPr>
              <a:t>Resolvable RCS contributors, not aesthetic reflections</a:t>
            </a:r>
            <a:endParaRPr lang="en-US" sz="1100" dirty="0"/>
          </a:p>
        </p:txBody>
      </p:sp>
      <p:sp>
        <p:nvSpPr>
          <p:cNvPr id="9" name="Shape 6"/>
          <p:cNvSpPr/>
          <p:nvPr/>
        </p:nvSpPr>
        <p:spPr>
          <a:xfrm>
            <a:off x="3310128" y="2606040"/>
            <a:ext cx="2560320" cy="2377440"/>
          </a:xfrm>
          <a:prstGeom prst="roundRect">
            <a:avLst>
              <a:gd name="adj" fmla="val 3077"/>
            </a:avLst>
          </a:prstGeom>
          <a:solidFill>
            <a:srgbClr val="F1F4F8"/>
          </a:solidFill>
          <a:ln/>
          <a:effectLst>
            <a:outerShdw blurRad="101600" dist="38100" dir="5400000" algn="bl" rotWithShape="0">
              <a:srgbClr val="9AA5B1">
                <a:alpha val="22000"/>
              </a:srgbClr>
            </a:outerShdw>
          </a:effectLst>
        </p:spPr>
      </p:sp>
      <p:sp>
        <p:nvSpPr>
          <p:cNvPr id="10" name="Shape 7"/>
          <p:cNvSpPr/>
          <p:nvPr/>
        </p:nvSpPr>
        <p:spPr>
          <a:xfrm>
            <a:off x="4224528" y="2880360"/>
            <a:ext cx="731520" cy="731520"/>
          </a:xfrm>
          <a:prstGeom prst="ellipse">
            <a:avLst/>
          </a:prstGeom>
          <a:solidFill>
            <a:srgbClr val="FF9E2C"/>
          </a:solidFill>
          <a:ln/>
        </p:spPr>
      </p:sp>
      <p:pic>
        <p:nvPicPr>
          <p:cNvPr id="11" name="Image 1" descr="/sessions/sweet-friendly-mayer/mnt/outputs/presentation/icons/FaCube_dark.png"/>
          <p:cNvPicPr>
            <a:picLocks noChangeAspect="1"/>
          </p:cNvPicPr>
          <p:nvPr/>
        </p:nvPicPr>
        <p:blipFill>
          <a:blip r:embed="rId4"/>
          <a:stretch>
            <a:fillRect/>
          </a:stretch>
        </p:blipFill>
        <p:spPr>
          <a:xfrm>
            <a:off x="4422038" y="3077870"/>
            <a:ext cx="336499" cy="336499"/>
          </a:xfrm>
          <a:prstGeom prst="rect">
            <a:avLst/>
          </a:prstGeom>
        </p:spPr>
      </p:pic>
      <p:sp>
        <p:nvSpPr>
          <p:cNvPr id="12" name="Text 8"/>
          <p:cNvSpPr/>
          <p:nvPr/>
        </p:nvSpPr>
        <p:spPr>
          <a:xfrm>
            <a:off x="3310128" y="3749040"/>
            <a:ext cx="2560320" cy="365760"/>
          </a:xfrm>
          <a:prstGeom prst="rect">
            <a:avLst/>
          </a:prstGeom>
          <a:noFill/>
          <a:ln/>
        </p:spPr>
        <p:txBody>
          <a:bodyPr wrap="square" lIns="0" tIns="0" rIns="0" bIns="0" rtlCol="0" anchor="ctr"/>
          <a:lstStyle/>
          <a:p>
            <a:pPr marL="0" indent="0" algn="ctr">
              <a:buNone/>
            </a:pPr>
            <a:r>
              <a:rPr lang="en-US" sz="1400" b="1" dirty="0">
                <a:solidFill>
                  <a:srgbClr val="141A22"/>
                </a:solidFill>
                <a:latin typeface="Calibri" pitchFamily="34" charset="0"/>
                <a:ea typeface="Calibri" pitchFamily="34" charset="-122"/>
                <a:cs typeface="Calibri" pitchFamily="34" charset="-120"/>
              </a:rPr>
              <a:t>Material</a:t>
            </a:r>
            <a:endParaRPr lang="en-US" sz="1400" dirty="0"/>
          </a:p>
        </p:txBody>
      </p:sp>
      <p:sp>
        <p:nvSpPr>
          <p:cNvPr id="13" name="Text 9"/>
          <p:cNvSpPr/>
          <p:nvPr/>
        </p:nvSpPr>
        <p:spPr>
          <a:xfrm>
            <a:off x="3447288" y="4114800"/>
            <a:ext cx="2286000" cy="777240"/>
          </a:xfrm>
          <a:prstGeom prst="rect">
            <a:avLst/>
          </a:prstGeom>
          <a:noFill/>
          <a:ln/>
        </p:spPr>
        <p:txBody>
          <a:bodyPr wrap="square" lIns="0" tIns="0" rIns="0" bIns="0" rtlCol="0" anchor="ctr"/>
          <a:lstStyle/>
          <a:p>
            <a:pPr marL="0" indent="0" algn="ctr">
              <a:lnSpc>
                <a:spcPct val="110000"/>
              </a:lnSpc>
              <a:buNone/>
            </a:pPr>
            <a:r>
              <a:rPr lang="en-US" sz="1100" i="1" dirty="0">
                <a:solidFill>
                  <a:srgbClr val="5B6672"/>
                </a:solidFill>
                <a:latin typeface="Calibri" pitchFamily="34" charset="0"/>
                <a:ea typeface="Calibri" pitchFamily="34" charset="-122"/>
                <a:cs typeface="Calibri" pitchFamily="34" charset="-120"/>
              </a:rPr>
              <a:t>EM permittivity, not albedo</a:t>
            </a:r>
            <a:endParaRPr lang="en-US" sz="1100" dirty="0"/>
          </a:p>
        </p:txBody>
      </p:sp>
      <p:sp>
        <p:nvSpPr>
          <p:cNvPr id="14" name="Shape 10"/>
          <p:cNvSpPr/>
          <p:nvPr/>
        </p:nvSpPr>
        <p:spPr>
          <a:xfrm>
            <a:off x="6071616" y="2606040"/>
            <a:ext cx="2560320" cy="2377440"/>
          </a:xfrm>
          <a:prstGeom prst="roundRect">
            <a:avLst>
              <a:gd name="adj" fmla="val 3077"/>
            </a:avLst>
          </a:prstGeom>
          <a:solidFill>
            <a:srgbClr val="F1F4F8"/>
          </a:solidFill>
          <a:ln/>
          <a:effectLst>
            <a:outerShdw blurRad="101600" dist="38100" dir="5400000" algn="bl" rotWithShape="0">
              <a:srgbClr val="9AA5B1">
                <a:alpha val="22000"/>
              </a:srgbClr>
            </a:outerShdw>
          </a:effectLst>
        </p:spPr>
      </p:sp>
      <p:sp>
        <p:nvSpPr>
          <p:cNvPr id="15" name="Shape 11"/>
          <p:cNvSpPr/>
          <p:nvPr/>
        </p:nvSpPr>
        <p:spPr>
          <a:xfrm>
            <a:off x="6986016" y="2880360"/>
            <a:ext cx="731520" cy="731520"/>
          </a:xfrm>
          <a:prstGeom prst="ellipse">
            <a:avLst/>
          </a:prstGeom>
          <a:solidFill>
            <a:srgbClr val="FF9E2C"/>
          </a:solidFill>
          <a:ln/>
        </p:spPr>
      </p:sp>
      <p:pic>
        <p:nvPicPr>
          <p:cNvPr id="16" name="Image 2" descr="/sessions/sweet-friendly-mayer/mnt/outputs/presentation/icons/FaWaveSquare_dark.png"/>
          <p:cNvPicPr>
            <a:picLocks noChangeAspect="1"/>
          </p:cNvPicPr>
          <p:nvPr/>
        </p:nvPicPr>
        <p:blipFill>
          <a:blip r:embed="rId5"/>
          <a:stretch>
            <a:fillRect/>
          </a:stretch>
        </p:blipFill>
        <p:spPr>
          <a:xfrm>
            <a:off x="7183526" y="3077870"/>
            <a:ext cx="336499" cy="336499"/>
          </a:xfrm>
          <a:prstGeom prst="rect">
            <a:avLst/>
          </a:prstGeom>
        </p:spPr>
      </p:pic>
      <p:sp>
        <p:nvSpPr>
          <p:cNvPr id="17" name="Text 12"/>
          <p:cNvSpPr/>
          <p:nvPr/>
        </p:nvSpPr>
        <p:spPr>
          <a:xfrm>
            <a:off x="6071616" y="3749040"/>
            <a:ext cx="2560320" cy="365760"/>
          </a:xfrm>
          <a:prstGeom prst="rect">
            <a:avLst/>
          </a:prstGeom>
          <a:noFill/>
          <a:ln/>
        </p:spPr>
        <p:txBody>
          <a:bodyPr wrap="square" lIns="0" tIns="0" rIns="0" bIns="0" rtlCol="0" anchor="ctr"/>
          <a:lstStyle/>
          <a:p>
            <a:pPr marL="0" indent="0" algn="ctr">
              <a:buNone/>
            </a:pPr>
            <a:r>
              <a:rPr lang="en-US" sz="1400" b="1" dirty="0">
                <a:solidFill>
                  <a:srgbClr val="141A22"/>
                </a:solidFill>
                <a:latin typeface="Calibri" pitchFamily="34" charset="0"/>
                <a:ea typeface="Calibri" pitchFamily="34" charset="-122"/>
                <a:cs typeface="Calibri" pitchFamily="34" charset="-120"/>
              </a:rPr>
              <a:t>Polarization</a:t>
            </a:r>
            <a:endParaRPr lang="en-US" sz="1400" dirty="0"/>
          </a:p>
        </p:txBody>
      </p:sp>
      <p:sp>
        <p:nvSpPr>
          <p:cNvPr id="18" name="Text 13"/>
          <p:cNvSpPr/>
          <p:nvPr/>
        </p:nvSpPr>
        <p:spPr>
          <a:xfrm>
            <a:off x="6208776" y="4114800"/>
            <a:ext cx="2286000" cy="777240"/>
          </a:xfrm>
          <a:prstGeom prst="rect">
            <a:avLst/>
          </a:prstGeom>
          <a:noFill/>
          <a:ln/>
        </p:spPr>
        <p:txBody>
          <a:bodyPr wrap="square" lIns="0" tIns="0" rIns="0" bIns="0" rtlCol="0" anchor="ctr"/>
          <a:lstStyle/>
          <a:p>
            <a:pPr marL="0" indent="0" algn="ctr">
              <a:lnSpc>
                <a:spcPct val="110000"/>
              </a:lnSpc>
              <a:buNone/>
            </a:pPr>
            <a:r>
              <a:rPr lang="en-US" sz="1100" i="1" dirty="0">
                <a:solidFill>
                  <a:srgbClr val="5B6672"/>
                </a:solidFill>
                <a:latin typeface="Calibri" pitchFamily="34" charset="0"/>
                <a:ea typeface="Calibri" pitchFamily="34" charset="-122"/>
                <a:cs typeface="Calibri" pitchFamily="34" charset="-120"/>
              </a:rPr>
              <a:t>Sinclair matrices, not colors</a:t>
            </a:r>
            <a:endParaRPr lang="en-US" sz="1100" dirty="0"/>
          </a:p>
        </p:txBody>
      </p:sp>
      <p:sp>
        <p:nvSpPr>
          <p:cNvPr id="19" name="Shape 14"/>
          <p:cNvSpPr/>
          <p:nvPr/>
        </p:nvSpPr>
        <p:spPr>
          <a:xfrm>
            <a:off x="8833104" y="2606040"/>
            <a:ext cx="2560320" cy="2377440"/>
          </a:xfrm>
          <a:prstGeom prst="roundRect">
            <a:avLst>
              <a:gd name="adj" fmla="val 3077"/>
            </a:avLst>
          </a:prstGeom>
          <a:solidFill>
            <a:srgbClr val="F1F4F8"/>
          </a:solidFill>
          <a:ln/>
          <a:effectLst>
            <a:outerShdw blurRad="101600" dist="38100" dir="5400000" algn="bl" rotWithShape="0">
              <a:srgbClr val="9AA5B1">
                <a:alpha val="22000"/>
              </a:srgbClr>
            </a:outerShdw>
          </a:effectLst>
        </p:spPr>
      </p:sp>
      <p:sp>
        <p:nvSpPr>
          <p:cNvPr id="20" name="Shape 15"/>
          <p:cNvSpPr/>
          <p:nvPr/>
        </p:nvSpPr>
        <p:spPr>
          <a:xfrm>
            <a:off x="9747504" y="2880360"/>
            <a:ext cx="731520" cy="731520"/>
          </a:xfrm>
          <a:prstGeom prst="ellipse">
            <a:avLst/>
          </a:prstGeom>
          <a:solidFill>
            <a:srgbClr val="FF9E2C"/>
          </a:solidFill>
          <a:ln/>
        </p:spPr>
      </p:sp>
      <p:pic>
        <p:nvPicPr>
          <p:cNvPr id="21" name="Image 3" descr="/sessions/sweet-friendly-mayer/mnt/outputs/presentation/icons/FaCloudRain_dark.png"/>
          <p:cNvPicPr>
            <a:picLocks noChangeAspect="1"/>
          </p:cNvPicPr>
          <p:nvPr/>
        </p:nvPicPr>
        <p:blipFill>
          <a:blip r:embed="rId6"/>
          <a:stretch>
            <a:fillRect/>
          </a:stretch>
        </p:blipFill>
        <p:spPr>
          <a:xfrm>
            <a:off x="9945014" y="3077870"/>
            <a:ext cx="336499" cy="336499"/>
          </a:xfrm>
          <a:prstGeom prst="rect">
            <a:avLst/>
          </a:prstGeom>
        </p:spPr>
      </p:pic>
      <p:sp>
        <p:nvSpPr>
          <p:cNvPr id="22" name="Text 16"/>
          <p:cNvSpPr/>
          <p:nvPr/>
        </p:nvSpPr>
        <p:spPr>
          <a:xfrm>
            <a:off x="8833104" y="3749040"/>
            <a:ext cx="2560320" cy="365760"/>
          </a:xfrm>
          <a:prstGeom prst="rect">
            <a:avLst/>
          </a:prstGeom>
          <a:noFill/>
          <a:ln/>
        </p:spPr>
        <p:txBody>
          <a:bodyPr wrap="square" lIns="0" tIns="0" rIns="0" bIns="0" rtlCol="0" anchor="ctr"/>
          <a:lstStyle/>
          <a:p>
            <a:pPr marL="0" indent="0" algn="ctr">
              <a:buNone/>
            </a:pPr>
            <a:r>
              <a:rPr lang="en-US" sz="1400" b="1" dirty="0">
                <a:solidFill>
                  <a:srgbClr val="141A22"/>
                </a:solidFill>
                <a:latin typeface="Calibri" pitchFamily="34" charset="0"/>
                <a:ea typeface="Calibri" pitchFamily="34" charset="-122"/>
                <a:cs typeface="Calibri" pitchFamily="34" charset="-120"/>
              </a:rPr>
              <a:t>Atmosphere</a:t>
            </a:r>
            <a:endParaRPr lang="en-US" sz="1400" dirty="0"/>
          </a:p>
        </p:txBody>
      </p:sp>
      <p:sp>
        <p:nvSpPr>
          <p:cNvPr id="23" name="Text 17"/>
          <p:cNvSpPr/>
          <p:nvPr/>
        </p:nvSpPr>
        <p:spPr>
          <a:xfrm>
            <a:off x="8970264" y="4114800"/>
            <a:ext cx="2286000" cy="777240"/>
          </a:xfrm>
          <a:prstGeom prst="rect">
            <a:avLst/>
          </a:prstGeom>
          <a:noFill/>
          <a:ln/>
        </p:spPr>
        <p:txBody>
          <a:bodyPr wrap="square" lIns="0" tIns="0" rIns="0" bIns="0" rtlCol="0" anchor="ctr"/>
          <a:lstStyle/>
          <a:p>
            <a:pPr marL="0" indent="0" algn="ctr">
              <a:lnSpc>
                <a:spcPct val="110000"/>
              </a:lnSpc>
              <a:buNone/>
            </a:pPr>
            <a:r>
              <a:rPr lang="en-US" sz="1100" i="1" dirty="0">
                <a:solidFill>
                  <a:srgbClr val="5B6672"/>
                </a:solidFill>
                <a:latin typeface="Calibri" pitchFamily="34" charset="0"/>
                <a:ea typeface="Calibri" pitchFamily="34" charset="-122"/>
                <a:cs typeface="Calibri" pitchFamily="34" charset="-120"/>
              </a:rPr>
              <a:t>Moving volumetric clutter, not a post-processing filter</a:t>
            </a:r>
            <a:endParaRPr lang="en-US" sz="1100" dirty="0"/>
          </a:p>
        </p:txBody>
      </p:sp>
    </p:spTree>
    <p:extLst>
      <p:ext uri="{BB962C8B-B14F-4D97-AF65-F5344CB8AC3E}">
        <p14:creationId xmlns:p14="http://schemas.microsoft.com/office/powerpoint/2010/main" val="423134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681E14-5C07-F98B-314E-94E4012AD1FB}"/>
              </a:ext>
            </a:extLst>
          </p:cNvPr>
          <p:cNvSpPr txBox="1"/>
          <p:nvPr/>
        </p:nvSpPr>
        <p:spPr>
          <a:xfrm>
            <a:off x="4306277" y="3235569"/>
            <a:ext cx="1454501" cy="369332"/>
          </a:xfrm>
          <a:prstGeom prst="rect">
            <a:avLst/>
          </a:prstGeom>
          <a:noFill/>
        </p:spPr>
        <p:txBody>
          <a:bodyPr wrap="none" rtlCol="0">
            <a:spAutoFit/>
          </a:bodyPr>
          <a:lstStyle/>
          <a:p>
            <a:r>
              <a:rPr lang="en-US" dirty="0"/>
              <a:t>Backup Slides</a:t>
            </a:r>
          </a:p>
        </p:txBody>
      </p:sp>
    </p:spTree>
    <p:extLst>
      <p:ext uri="{BB962C8B-B14F-4D97-AF65-F5344CB8AC3E}">
        <p14:creationId xmlns:p14="http://schemas.microsoft.com/office/powerpoint/2010/main" val="39532208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CASE STUDY</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Extending SARCASTIC</a:t>
            </a:r>
            <a:endParaRPr lang="en-US" sz="2800" dirty="0"/>
          </a:p>
        </p:txBody>
      </p:sp>
      <p:sp>
        <p:nvSpPr>
          <p:cNvPr id="4" name="Text 2"/>
          <p:cNvSpPr/>
          <p:nvPr/>
        </p:nvSpPr>
        <p:spPr>
          <a:xfrm>
            <a:off x="548640" y="1691640"/>
            <a:ext cx="10515600" cy="2194560"/>
          </a:xfrm>
          <a:prstGeom prst="rect">
            <a:avLst/>
          </a:prstGeom>
          <a:noFill/>
          <a:ln/>
        </p:spPr>
        <p:txBody>
          <a:bodyPr wrap="square" lIns="0" tIns="0" rIns="0" bIns="0" rtlCol="0" anchor="t"/>
          <a:lstStyle/>
          <a:p>
            <a:pPr marL="203200" indent="-203200">
              <a:lnSpc>
                <a:spcPct val="112000"/>
              </a:lnSpc>
              <a:spcAft>
                <a:spcPts val="1600"/>
              </a:spcAft>
              <a:buSzPct val="100000"/>
              <a:buChar char="•"/>
            </a:pPr>
            <a:r>
              <a:rPr lang="en-US" sz="1550" dirty="0">
                <a:solidFill>
                  <a:srgbClr val="141A22"/>
                </a:solidFill>
                <a:latin typeface="Calibri" pitchFamily="34" charset="0"/>
                <a:ea typeface="Calibri" pitchFamily="34" charset="-122"/>
                <a:cs typeface="Calibri" pitchFamily="34" charset="-120"/>
              </a:rPr>
              <a:t>Dstl’s SARCASTIC is the real-world reference implementation of the SBR approach from Step 2 — a working GPU/CPU shooting-and-bouncing-rays SAR simulator, validated against real CAD-model targets</a:t>
            </a:r>
            <a:endParaRPr lang="en-US" sz="1550" dirty="0"/>
          </a:p>
          <a:p>
            <a:pPr marL="203200" indent="-203200">
              <a:lnSpc>
                <a:spcPct val="112000"/>
              </a:lnSpc>
              <a:spcAft>
                <a:spcPts val="1600"/>
              </a:spcAft>
              <a:buSzPct val="100000"/>
              <a:buChar char="•"/>
            </a:pPr>
            <a:r>
              <a:rPr lang="en-US" sz="1550" dirty="0">
                <a:solidFill>
                  <a:srgbClr val="141A22"/>
                </a:solidFill>
                <a:latin typeface="Calibri" pitchFamily="34" charset="0"/>
                <a:ea typeface="Calibri" pitchFamily="34" charset="-122"/>
                <a:cs typeface="Calibri" pitchFamily="34" charset="-120"/>
              </a:rPr>
              <a:t>What follows: concretely what it computes today, and what it’d take to add this deck’s polarimetry and ASC speedup to it</a:t>
            </a:r>
            <a:endParaRPr lang="en-US" sz="1550" dirty="0"/>
          </a:p>
        </p:txBody>
      </p:sp>
      <p:sp>
        <p:nvSpPr>
          <p:cNvPr id="5" name="Shape 3"/>
          <p:cNvSpPr/>
          <p:nvPr/>
        </p:nvSpPr>
        <p:spPr>
          <a:xfrm>
            <a:off x="548640" y="4069080"/>
            <a:ext cx="10698480" cy="1554480"/>
          </a:xfrm>
          <a:prstGeom prst="roundRect">
            <a:avLst>
              <a:gd name="adj" fmla="val 4706"/>
            </a:avLst>
          </a:prstGeom>
          <a:solidFill>
            <a:srgbClr val="E6EAF0"/>
          </a:solidFill>
          <a:ln/>
          <a:effectLst>
            <a:outerShdw blurRad="101600" dist="38100" dir="5400000" algn="bl" rotWithShape="0">
              <a:srgbClr val="9AA5B1">
                <a:alpha val="22000"/>
              </a:srgbClr>
            </a:outerShdw>
          </a:effectLst>
        </p:spPr>
      </p:sp>
      <p:sp>
        <p:nvSpPr>
          <p:cNvPr id="6" name="Text 4"/>
          <p:cNvSpPr/>
          <p:nvPr/>
        </p:nvSpPr>
        <p:spPr>
          <a:xfrm>
            <a:off x="822960" y="4251960"/>
            <a:ext cx="10149840" cy="1188720"/>
          </a:xfrm>
          <a:prstGeom prst="rect">
            <a:avLst/>
          </a:prstGeom>
          <a:noFill/>
          <a:ln/>
        </p:spPr>
        <p:txBody>
          <a:bodyPr wrap="square" lIns="0" tIns="0" rIns="0" bIns="0" rtlCol="0" anchor="t"/>
          <a:lstStyle/>
          <a:p>
            <a:pPr marL="0" indent="0">
              <a:lnSpc>
                <a:spcPct val="120000"/>
              </a:lnSpc>
              <a:buNone/>
            </a:pPr>
            <a:r>
              <a:rPr lang="en-US" sz="1300" b="1" dirty="0">
                <a:solidFill>
                  <a:srgbClr val="B85C00"/>
                </a:solidFill>
                <a:latin typeface="Calibri" pitchFamily="34" charset="0"/>
                <a:ea typeface="Calibri" pitchFamily="34" charset="-122"/>
                <a:cs typeface="Calibri" pitchFamily="34" charset="-120"/>
              </a:rPr>
              <a:t>Reference:  </a:t>
            </a:r>
            <a:r>
              <a:rPr lang="en-US" sz="1300" dirty="0">
                <a:solidFill>
                  <a:srgbClr val="141A22"/>
                </a:solidFill>
                <a:latin typeface="Calibri" pitchFamily="34" charset="0"/>
                <a:ea typeface="Calibri" pitchFamily="34" charset="-122"/>
                <a:cs typeface="Calibri" pitchFamily="34" charset="-120"/>
              </a:rPr>
              <a:t>Blacknell et al., "SARCASTIC v2.0 — High-Performance SAR Simulation for Next-Generation ATR Systems," Remote Sensing, 2022.</a:t>
            </a:r>
            <a:endParaRPr lang="en-US" sz="1300" dirty="0"/>
          </a:p>
          <a:p>
            <a:pPr marL="0" indent="0">
              <a:lnSpc>
                <a:spcPct val="120000"/>
              </a:lnSpc>
              <a:buNone/>
            </a:pPr>
            <a:r>
              <a:rPr lang="en-US" sz="1300" b="1" dirty="0">
                <a:solidFill>
                  <a:srgbClr val="B85C00"/>
                </a:solidFill>
                <a:latin typeface="Calibri" pitchFamily="34" charset="0"/>
                <a:ea typeface="Calibri" pitchFamily="34" charset="-122"/>
                <a:cs typeface="Calibri" pitchFamily="34" charset="-120"/>
              </a:rPr>
              <a:t>Code:  </a:t>
            </a:r>
            <a:endParaRPr lang="en-US" sz="1300" dirty="0"/>
          </a:p>
          <a:p>
            <a:pPr marL="0" indent="0">
              <a:lnSpc>
                <a:spcPct val="120000"/>
              </a:lnSpc>
              <a:buNone/>
            </a:pPr>
            <a:r>
              <a:rPr lang="en-US" sz="1300" dirty="0">
                <a:solidFill>
                  <a:srgbClr val="141A22"/>
                </a:solidFill>
                <a:latin typeface="Calibri" pitchFamily="34" charset="0"/>
                <a:ea typeface="Calibri" pitchFamily="34" charset="-122"/>
                <a:cs typeface="Calibri" pitchFamily="34" charset="-120"/>
              </a:rPr>
              <a:t>github.com/dstl/sarcastic — archived/read-only as of Jan 2025, so any extension is a fork, not an upstream contribution.</a:t>
            </a:r>
            <a:endParaRPr lang="en-US" sz="1300" dirty="0"/>
          </a:p>
        </p:txBody>
      </p:sp>
    </p:spTree>
    <p:extLst>
      <p:ext uri="{BB962C8B-B14F-4D97-AF65-F5344CB8AC3E}">
        <p14:creationId xmlns:p14="http://schemas.microsoft.com/office/powerpoint/2010/main" val="9145625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CASE STUDY, CONTINUED</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700" b="1" dirty="0">
                <a:solidFill>
                  <a:srgbClr val="141A22"/>
                </a:solidFill>
                <a:latin typeface="Cambria" pitchFamily="34" charset="0"/>
                <a:ea typeface="Cambria" pitchFamily="34" charset="-122"/>
                <a:cs typeface="Cambria" pitchFamily="34" charset="-120"/>
              </a:rPr>
              <a:t>What SARCASTIC computes today</a:t>
            </a:r>
            <a:endParaRPr lang="en-US" sz="2700" dirty="0"/>
          </a:p>
        </p:txBody>
      </p:sp>
      <p:sp>
        <p:nvSpPr>
          <p:cNvPr id="4" name="Text 2"/>
          <p:cNvSpPr/>
          <p:nvPr/>
        </p:nvSpPr>
        <p:spPr>
          <a:xfrm>
            <a:off x="548640" y="1691640"/>
            <a:ext cx="10607040" cy="2468880"/>
          </a:xfrm>
          <a:prstGeom prst="rect">
            <a:avLst/>
          </a:prstGeom>
          <a:noFill/>
          <a:ln/>
        </p:spPr>
        <p:txBody>
          <a:bodyPr wrap="square" lIns="0" tIns="0" rIns="0" bIns="0" rtlCol="0" anchor="t"/>
          <a:lstStyle/>
          <a:p>
            <a:pPr marL="203200" indent="-203200">
              <a:lnSpc>
                <a:spcPct val="112000"/>
              </a:lnSpc>
              <a:spcAft>
                <a:spcPts val="1400"/>
              </a:spcAft>
              <a:buSzPct val="100000"/>
              <a:buChar char="•"/>
            </a:pPr>
            <a:r>
              <a:rPr lang="en-US" sz="1450" dirty="0">
                <a:solidFill>
                  <a:srgbClr val="141A22"/>
                </a:solidFill>
                <a:latin typeface="Calibri" pitchFamily="34" charset="0"/>
                <a:ea typeface="Calibri" pitchFamily="34" charset="-122"/>
                <a:cs typeface="Calibri" pitchFamily="34" charset="-120"/>
              </a:rPr>
              <a:t>Scattering model is Knott’s physical optics for a flat PEC plate only — no permittivity, no Fresnel R_s/R_p anywhere in the derivation</a:t>
            </a:r>
            <a:endParaRPr lang="en-US" sz="1450" dirty="0"/>
          </a:p>
          <a:p>
            <a:pPr marL="203200" indent="-203200">
              <a:lnSpc>
                <a:spcPct val="112000"/>
              </a:lnSpc>
              <a:spcAft>
                <a:spcPts val="1400"/>
              </a:spcAft>
              <a:buSzPct val="100000"/>
              <a:buChar char="•"/>
            </a:pPr>
            <a:r>
              <a:rPr lang="en-US" sz="1450" dirty="0">
                <a:solidFill>
                  <a:srgbClr val="141A22"/>
                </a:solidFill>
                <a:latin typeface="Calibri" pitchFamily="34" charset="0"/>
                <a:ea typeface="Calibri" pitchFamily="34" charset="-122"/>
                <a:cs typeface="Calibri" pitchFamily="34" charset="-120"/>
              </a:rPr>
              <a:t>Polarization = one real 3-vector ĥ per ray, updated by geometric mirror reflection at each bounce — cross-pol only comes from bounce geometry (their own validation case is a dihedral), never from material response</a:t>
            </a:r>
            <a:endParaRPr lang="en-US" sz="1450" dirty="0"/>
          </a:p>
          <a:p>
            <a:pPr marL="203200" indent="-203200">
              <a:lnSpc>
                <a:spcPct val="112000"/>
              </a:lnSpc>
              <a:spcAft>
                <a:spcPts val="1400"/>
              </a:spcAft>
              <a:buSzPct val="100000"/>
              <a:buChar char="•"/>
            </a:pPr>
            <a:r>
              <a:rPr lang="en-US" sz="1450" dirty="0">
                <a:solidFill>
                  <a:srgbClr val="141A22"/>
                </a:solidFill>
                <a:latin typeface="Calibri" pitchFamily="34" charset="0"/>
                <a:ea typeface="Calibri" pitchFamily="34" charset="-122"/>
                <a:cs typeface="Calibri" pitchFamily="34" charset="-120"/>
              </a:rPr>
              <a:t>Maps to real source: RCS.c (scalar contribution) · reflect.cpp (per-bounce ĥ update) · cpuPOField.cpp (accumulation) · CPHD I/O via cphdShell/cphdInfo</a:t>
            </a:r>
            <a:endParaRPr lang="en-US" sz="1450" dirty="0"/>
          </a:p>
        </p:txBody>
      </p:sp>
      <p:sp>
        <p:nvSpPr>
          <p:cNvPr id="5" name="Shape 3"/>
          <p:cNvSpPr/>
          <p:nvPr/>
        </p:nvSpPr>
        <p:spPr>
          <a:xfrm>
            <a:off x="548640" y="4434840"/>
            <a:ext cx="10698480" cy="1188720"/>
          </a:xfrm>
          <a:prstGeom prst="roundRect">
            <a:avLst>
              <a:gd name="adj" fmla="val 6154"/>
            </a:avLst>
          </a:prstGeom>
          <a:solidFill>
            <a:srgbClr val="E6EAF0"/>
          </a:solidFill>
          <a:ln/>
          <a:effectLst>
            <a:outerShdw blurRad="101600" dist="38100" dir="5400000" algn="bl" rotWithShape="0">
              <a:srgbClr val="9AA5B1">
                <a:alpha val="22000"/>
              </a:srgbClr>
            </a:outerShdw>
          </a:effectLst>
        </p:spPr>
      </p:sp>
      <p:sp>
        <p:nvSpPr>
          <p:cNvPr id="6" name="Text 4"/>
          <p:cNvSpPr/>
          <p:nvPr/>
        </p:nvSpPr>
        <p:spPr>
          <a:xfrm>
            <a:off x="822960" y="4434840"/>
            <a:ext cx="10149840" cy="1188720"/>
          </a:xfrm>
          <a:prstGeom prst="rect">
            <a:avLst/>
          </a:prstGeom>
          <a:noFill/>
          <a:ln/>
        </p:spPr>
        <p:txBody>
          <a:bodyPr wrap="square" lIns="0" tIns="0" rIns="0" bIns="0" rtlCol="0" anchor="ctr"/>
          <a:lstStyle/>
          <a:p>
            <a:pPr marL="0" indent="0">
              <a:lnSpc>
                <a:spcPct val="115000"/>
              </a:lnSpc>
              <a:buNone/>
            </a:pPr>
            <a:r>
              <a:rPr lang="en-US" sz="1400" b="1" dirty="0">
                <a:solidFill>
                  <a:srgbClr val="B85C00"/>
                </a:solidFill>
                <a:latin typeface="Calibri" pitchFamily="34" charset="0"/>
                <a:ea typeface="Calibri" pitchFamily="34" charset="-122"/>
                <a:cs typeface="Calibri" pitchFamily="34" charset="-120"/>
              </a:rPr>
              <a:t>Better starting point:  </a:t>
            </a:r>
            <a:r>
              <a:rPr lang="en-US" sz="1400" dirty="0">
                <a:solidFill>
                  <a:srgbClr val="141A22"/>
                </a:solidFill>
                <a:latin typeface="Calibri" pitchFamily="34" charset="0"/>
                <a:ea typeface="Calibri" pitchFamily="34" charset="-122"/>
                <a:cs typeface="Calibri" pitchFamily="34" charset="-120"/>
              </a:rPr>
              <a:t>the "SARTrace" module already exposes per-bounce ray history — extend from there rather than patching the scalar path.</a:t>
            </a:r>
            <a:endParaRPr lang="en-US" sz="1400" dirty="0"/>
          </a:p>
        </p:txBody>
      </p:sp>
    </p:spTree>
    <p:extLst>
      <p:ext uri="{BB962C8B-B14F-4D97-AF65-F5344CB8AC3E}">
        <p14:creationId xmlns:p14="http://schemas.microsoft.com/office/powerpoint/2010/main" val="3371548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INTEGRATION</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300" b="1" dirty="0">
                <a:solidFill>
                  <a:srgbClr val="141A22"/>
                </a:solidFill>
                <a:latin typeface="Cambria" pitchFamily="34" charset="0"/>
                <a:ea typeface="Cambria" pitchFamily="34" charset="-122"/>
                <a:cs typeface="Cambria" pitchFamily="34" charset="-120"/>
              </a:rPr>
              <a:t>Adding Sinclair-matrix polarimetry to SARCASTIC</a:t>
            </a:r>
            <a:endParaRPr lang="en-US" sz="2300" dirty="0"/>
          </a:p>
        </p:txBody>
      </p:sp>
      <p:sp>
        <p:nvSpPr>
          <p:cNvPr id="4" name="Shape 2"/>
          <p:cNvSpPr/>
          <p:nvPr/>
        </p:nvSpPr>
        <p:spPr>
          <a:xfrm>
            <a:off x="548640" y="1783080"/>
            <a:ext cx="5120640" cy="4251960"/>
          </a:xfrm>
          <a:prstGeom prst="roundRect">
            <a:avLst>
              <a:gd name="adj" fmla="val 1720"/>
            </a:avLst>
          </a:prstGeom>
          <a:solidFill>
            <a:srgbClr val="F1F4F8"/>
          </a:solidFill>
          <a:ln/>
          <a:effectLst>
            <a:outerShdw blurRad="101600" dist="38100" dir="5400000" algn="bl" rotWithShape="0">
              <a:srgbClr val="9AA5B1">
                <a:alpha val="22000"/>
              </a:srgbClr>
            </a:outerShdw>
          </a:effectLst>
        </p:spPr>
      </p:sp>
      <p:sp>
        <p:nvSpPr>
          <p:cNvPr id="5" name="Text 3"/>
          <p:cNvSpPr/>
          <p:nvPr/>
        </p:nvSpPr>
        <p:spPr>
          <a:xfrm>
            <a:off x="822960" y="1965960"/>
            <a:ext cx="4572000" cy="365760"/>
          </a:xfrm>
          <a:prstGeom prst="rect">
            <a:avLst/>
          </a:prstGeom>
          <a:noFill/>
          <a:ln/>
        </p:spPr>
        <p:txBody>
          <a:bodyPr wrap="square" lIns="0" tIns="0" rIns="0" bIns="0" rtlCol="0" anchor="ctr"/>
          <a:lstStyle/>
          <a:p>
            <a:pPr marL="0" indent="0">
              <a:buNone/>
            </a:pPr>
            <a:r>
              <a:rPr lang="en-US" sz="1300" b="1" kern="0" spc="100" dirty="0">
                <a:solidFill>
                  <a:srgbClr val="0B7285"/>
                </a:solidFill>
                <a:latin typeface="Calibri" pitchFamily="34" charset="0"/>
                <a:ea typeface="Calibri" pitchFamily="34" charset="-122"/>
                <a:cs typeface="Calibri" pitchFamily="34" charset="-120"/>
              </a:rPr>
              <a:t>OPTION A — TWO-PASS</a:t>
            </a:r>
            <a:endParaRPr lang="en-US" sz="1300" dirty="0"/>
          </a:p>
        </p:txBody>
      </p:sp>
      <p:sp>
        <p:nvSpPr>
          <p:cNvPr id="6" name="Text 4"/>
          <p:cNvSpPr/>
          <p:nvPr/>
        </p:nvSpPr>
        <p:spPr>
          <a:xfrm>
            <a:off x="822960" y="2423160"/>
            <a:ext cx="4572000" cy="3429000"/>
          </a:xfrm>
          <a:prstGeom prst="rect">
            <a:avLst/>
          </a:prstGeom>
          <a:noFill/>
          <a:ln/>
        </p:spPr>
        <p:txBody>
          <a:bodyPr wrap="square" lIns="0" tIns="0" rIns="0" bIns="0" rtlCol="0" anchor="t"/>
          <a:lstStyle/>
          <a:p>
            <a:pPr marL="203200" indent="-203200">
              <a:lnSpc>
                <a:spcPct val="112000"/>
              </a:lnSpc>
              <a:spcAft>
                <a:spcPts val="1200"/>
              </a:spcAft>
              <a:buSzPct val="100000"/>
              <a:buChar char="•"/>
            </a:pPr>
            <a:r>
              <a:rPr lang="en-US" sz="1300" dirty="0">
                <a:solidFill>
                  <a:srgbClr val="141A22"/>
                </a:solidFill>
                <a:latin typeface="Calibri" pitchFamily="34" charset="0"/>
                <a:ea typeface="Calibri" pitchFamily="34" charset="-122"/>
                <a:cs typeface="Calibri" pitchFamily="34" charset="-120"/>
              </a:rPr>
              <a:t>Launch h-pol and v-pol runs separately; project the final ĥ onto both receive axes → 4 channels</a:t>
            </a:r>
            <a:endParaRPr lang="en-US" sz="1300" dirty="0"/>
          </a:p>
          <a:p>
            <a:pPr marL="203200" indent="-203200">
              <a:lnSpc>
                <a:spcPct val="112000"/>
              </a:lnSpc>
              <a:spcAft>
                <a:spcPts val="1200"/>
              </a:spcAft>
              <a:buSzPct val="100000"/>
              <a:buChar char="•"/>
            </a:pPr>
            <a:r>
              <a:rPr lang="en-US" sz="1300" dirty="0">
                <a:solidFill>
                  <a:srgbClr val="141A22"/>
                </a:solidFill>
                <a:latin typeface="Calibri" pitchFamily="34" charset="0"/>
                <a:ea typeface="Calibri" pitchFamily="34" charset="-122"/>
                <a:cs typeface="Calibri" pitchFamily="34" charset="-120"/>
              </a:rPr>
              <a:t>Reuses CPHD’s existing multi-channel schema — no file-format change needed</a:t>
            </a:r>
            <a:endParaRPr lang="en-US" sz="1300" dirty="0"/>
          </a:p>
          <a:p>
            <a:pPr marL="203200" indent="-203200">
              <a:lnSpc>
                <a:spcPct val="112000"/>
              </a:lnSpc>
              <a:spcAft>
                <a:spcPts val="1200"/>
              </a:spcAft>
              <a:buSzPct val="100000"/>
              <a:buChar char="•"/>
            </a:pPr>
            <a:r>
              <a:rPr lang="en-US" sz="1300" dirty="0">
                <a:solidFill>
                  <a:srgbClr val="141A22"/>
                </a:solidFill>
                <a:latin typeface="Calibri" pitchFamily="34" charset="0"/>
                <a:ea typeface="Calibri" pitchFamily="34" charset="-122"/>
                <a:cs typeface="Calibri" pitchFamily="34" charset="-120"/>
              </a:rPr>
              <a:t>Still PEC underneath: geometric cross-pol only (dihedrals) — no material-dependent differential reflectivity</a:t>
            </a:r>
            <a:endParaRPr lang="en-US" sz="1300" dirty="0"/>
          </a:p>
        </p:txBody>
      </p:sp>
      <p:sp>
        <p:nvSpPr>
          <p:cNvPr id="7" name="Shape 5"/>
          <p:cNvSpPr/>
          <p:nvPr/>
        </p:nvSpPr>
        <p:spPr>
          <a:xfrm>
            <a:off x="6126480" y="1783080"/>
            <a:ext cx="5120640" cy="4251960"/>
          </a:xfrm>
          <a:prstGeom prst="roundRect">
            <a:avLst>
              <a:gd name="adj" fmla="val 1720"/>
            </a:avLst>
          </a:prstGeom>
          <a:solidFill>
            <a:srgbClr val="F1F4F8"/>
          </a:solidFill>
          <a:ln/>
          <a:effectLst>
            <a:outerShdw blurRad="101600" dist="38100" dir="5400000" algn="bl" rotWithShape="0">
              <a:srgbClr val="9AA5B1">
                <a:alpha val="22000"/>
              </a:srgbClr>
            </a:outerShdw>
          </a:effectLst>
        </p:spPr>
      </p:sp>
      <p:sp>
        <p:nvSpPr>
          <p:cNvPr id="8" name="Text 6"/>
          <p:cNvSpPr/>
          <p:nvPr/>
        </p:nvSpPr>
        <p:spPr>
          <a:xfrm>
            <a:off x="6400800" y="1965960"/>
            <a:ext cx="4572000" cy="365760"/>
          </a:xfrm>
          <a:prstGeom prst="rect">
            <a:avLst/>
          </a:prstGeom>
          <a:noFill/>
          <a:ln/>
        </p:spPr>
        <p:txBody>
          <a:bodyPr wrap="square" lIns="0" tIns="0" rIns="0" bIns="0" rtlCol="0" anchor="ctr"/>
          <a:lstStyle/>
          <a:p>
            <a:pPr marL="0" indent="0">
              <a:buNone/>
            </a:pPr>
            <a:r>
              <a:rPr lang="en-US" sz="1300" b="1" kern="0" spc="100" dirty="0">
                <a:solidFill>
                  <a:srgbClr val="B85C00"/>
                </a:solidFill>
                <a:latin typeface="Calibri" pitchFamily="34" charset="0"/>
                <a:ea typeface="Calibri" pitchFamily="34" charset="-122"/>
                <a:cs typeface="Calibri" pitchFamily="34" charset="-120"/>
              </a:rPr>
              <a:t>OPTION B — MATRIX PROPAGATION</a:t>
            </a:r>
            <a:endParaRPr lang="en-US" sz="1300" dirty="0"/>
          </a:p>
        </p:txBody>
      </p:sp>
      <p:sp>
        <p:nvSpPr>
          <p:cNvPr id="9" name="Text 7"/>
          <p:cNvSpPr/>
          <p:nvPr/>
        </p:nvSpPr>
        <p:spPr>
          <a:xfrm>
            <a:off x="6400800" y="2423160"/>
            <a:ext cx="4572000" cy="3429000"/>
          </a:xfrm>
          <a:prstGeom prst="rect">
            <a:avLst/>
          </a:prstGeom>
          <a:noFill/>
          <a:ln/>
        </p:spPr>
        <p:txBody>
          <a:bodyPr wrap="square" lIns="0" tIns="0" rIns="0" bIns="0" rtlCol="0" anchor="t"/>
          <a:lstStyle/>
          <a:p>
            <a:pPr marL="203200" indent="-203200">
              <a:lnSpc>
                <a:spcPct val="112000"/>
              </a:lnSpc>
              <a:spcAft>
                <a:spcPts val="1200"/>
              </a:spcAft>
              <a:buSzPct val="100000"/>
              <a:buChar char="•"/>
            </a:pPr>
            <a:r>
              <a:rPr lang="en-US" sz="1300" dirty="0">
                <a:solidFill>
                  <a:srgbClr val="141A22"/>
                </a:solidFill>
                <a:latin typeface="Calibri" pitchFamily="34" charset="0"/>
                <a:ea typeface="Calibri" pitchFamily="34" charset="-122"/>
                <a:cs typeface="Calibri" pitchFamily="34" charset="-120"/>
              </a:rPr>
              <a:t>Tag facets with permittivity; decompose into local Fresnel s/p basis inside RCS.c</a:t>
            </a:r>
            <a:endParaRPr lang="en-US" sz="1300" dirty="0"/>
          </a:p>
          <a:p>
            <a:pPr marL="203200" indent="-203200">
              <a:lnSpc>
                <a:spcPct val="112000"/>
              </a:lnSpc>
              <a:spcAft>
                <a:spcPts val="1200"/>
              </a:spcAft>
              <a:buSzPct val="100000"/>
              <a:buChar char="•"/>
            </a:pPr>
            <a:r>
              <a:rPr lang="en-US" sz="1300" dirty="0">
                <a:solidFill>
                  <a:srgbClr val="141A22"/>
                </a:solidFill>
                <a:latin typeface="Calibri" pitchFamily="34" charset="0"/>
                <a:ea typeface="Calibri" pitchFamily="34" charset="-122"/>
                <a:cs typeface="Calibri" pitchFamily="34" charset="-120"/>
              </a:rPr>
              <a:t>Chain 2×2 matrices through reflect.cpp instead of a 3-vector; widen cpuPOField.cpp to 4 complex accumulators</a:t>
            </a:r>
            <a:endParaRPr lang="en-US" sz="1300" dirty="0"/>
          </a:p>
          <a:p>
            <a:pPr marL="203200" indent="-203200">
              <a:lnSpc>
                <a:spcPct val="112000"/>
              </a:lnSpc>
              <a:spcAft>
                <a:spcPts val="1200"/>
              </a:spcAft>
              <a:buSzPct val="100000"/>
              <a:buChar char="•"/>
            </a:pPr>
            <a:r>
              <a:rPr lang="en-US" sz="1300" dirty="0">
                <a:solidFill>
                  <a:srgbClr val="141A22"/>
                </a:solidFill>
                <a:latin typeface="Calibri" pitchFamily="34" charset="0"/>
                <a:ea typeface="Calibri" pitchFamily="34" charset="-122"/>
                <a:cs typeface="Calibri" pitchFamily="34" charset="-120"/>
              </a:rPr>
              <a:t>Start from SARTrace, not the scalar path — per-bounce history is already exposed there</a:t>
            </a:r>
            <a:endParaRPr lang="en-US" sz="1300" dirty="0"/>
          </a:p>
        </p:txBody>
      </p:sp>
    </p:spTree>
    <p:extLst>
      <p:ext uri="{BB962C8B-B14F-4D97-AF65-F5344CB8AC3E}">
        <p14:creationId xmlns:p14="http://schemas.microsoft.com/office/powerpoint/2010/main" val="474102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INTEGRATION, CONTINUED</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500" b="1" dirty="0">
                <a:solidFill>
                  <a:srgbClr val="141A22"/>
                </a:solidFill>
                <a:latin typeface="Cambria" pitchFamily="34" charset="0"/>
                <a:ea typeface="Cambria" pitchFamily="34" charset="-122"/>
                <a:cs typeface="Cambria" pitchFamily="34" charset="-120"/>
              </a:rPr>
              <a:t>Adding ASC compression to SARCASTIC</a:t>
            </a:r>
            <a:endParaRPr lang="en-US" sz="2500" dirty="0"/>
          </a:p>
        </p:txBody>
      </p:sp>
      <p:sp>
        <p:nvSpPr>
          <p:cNvPr id="4" name="Shape 2"/>
          <p:cNvSpPr/>
          <p:nvPr/>
        </p:nvSpPr>
        <p:spPr>
          <a:xfrm>
            <a:off x="548640" y="1901952"/>
            <a:ext cx="502920" cy="502920"/>
          </a:xfrm>
          <a:prstGeom prst="ellipse">
            <a:avLst/>
          </a:prstGeom>
          <a:solidFill>
            <a:srgbClr val="FF9E2C"/>
          </a:solidFill>
          <a:ln/>
        </p:spPr>
      </p:sp>
      <p:sp>
        <p:nvSpPr>
          <p:cNvPr id="5" name="Text 3"/>
          <p:cNvSpPr/>
          <p:nvPr/>
        </p:nvSpPr>
        <p:spPr>
          <a:xfrm>
            <a:off x="548640" y="1901952"/>
            <a:ext cx="502920" cy="502920"/>
          </a:xfrm>
          <a:prstGeom prst="rect">
            <a:avLst/>
          </a:prstGeom>
          <a:noFill/>
          <a:ln/>
        </p:spPr>
        <p:txBody>
          <a:bodyPr wrap="square" lIns="0" tIns="0" rIns="0" bIns="0" rtlCol="0" anchor="ctr"/>
          <a:lstStyle/>
          <a:p>
            <a:pPr marL="0" indent="0" algn="ctr">
              <a:buNone/>
            </a:pPr>
            <a:r>
              <a:rPr lang="en-US" sz="1700" b="1" dirty="0">
                <a:solidFill>
                  <a:srgbClr val="12161C"/>
                </a:solidFill>
                <a:latin typeface="Cambria" pitchFamily="34" charset="0"/>
                <a:ea typeface="Cambria" pitchFamily="34" charset="-122"/>
                <a:cs typeface="Cambria" pitchFamily="34" charset="-120"/>
              </a:rPr>
              <a:t>1</a:t>
            </a:r>
            <a:endParaRPr lang="en-US" sz="1700" dirty="0"/>
          </a:p>
        </p:txBody>
      </p:sp>
      <p:sp>
        <p:nvSpPr>
          <p:cNvPr id="6" name="Text 4"/>
          <p:cNvSpPr/>
          <p:nvPr/>
        </p:nvSpPr>
        <p:spPr>
          <a:xfrm>
            <a:off x="1280160" y="1828800"/>
            <a:ext cx="10332720" cy="1234440"/>
          </a:xfrm>
          <a:prstGeom prst="rect">
            <a:avLst/>
          </a:prstGeom>
          <a:noFill/>
          <a:ln/>
        </p:spPr>
        <p:txBody>
          <a:bodyPr wrap="square" lIns="0" tIns="0" rIns="0" bIns="0" rtlCol="0" anchor="t"/>
          <a:lstStyle/>
          <a:p>
            <a:pPr marL="0" indent="0">
              <a:lnSpc>
                <a:spcPct val="112000"/>
              </a:lnSpc>
              <a:buNone/>
            </a:pPr>
            <a:r>
              <a:rPr lang="en-US" sz="1450" b="1" dirty="0">
                <a:solidFill>
                  <a:srgbClr val="141A22"/>
                </a:solidFill>
                <a:latin typeface="Calibri" pitchFamily="34" charset="0"/>
                <a:ea typeface="Calibri" pitchFamily="34" charset="-122"/>
                <a:cs typeface="Calibri" pitchFamily="34" charset="-120"/>
              </a:rPr>
              <a:t>1. Extract (reuse as-is)
</a:t>
            </a:r>
            <a:r>
              <a:rPr lang="en-US" sz="1250" dirty="0">
                <a:solidFill>
                  <a:srgbClr val="5B6672"/>
                </a:solidFill>
                <a:latin typeface="Calibri" pitchFamily="34" charset="0"/>
                <a:ea typeface="Calibri" pitchFamily="34" charset="-122"/>
                <a:cs typeface="Calibri" pitchFamily="34" charset="-120"/>
              </a:rPr>
              <a:t>Isolate the structure’s CAD sub-mesh, sweep aspect angle with the unmodified SARCASTIC/SARTrace binary — produces the wideband, multi-aspect training data.</a:t>
            </a:r>
            <a:endParaRPr lang="en-US" sz="1450" dirty="0"/>
          </a:p>
        </p:txBody>
      </p:sp>
      <p:sp>
        <p:nvSpPr>
          <p:cNvPr id="7" name="Shape 5"/>
          <p:cNvSpPr/>
          <p:nvPr/>
        </p:nvSpPr>
        <p:spPr>
          <a:xfrm>
            <a:off x="548640" y="3136392"/>
            <a:ext cx="502920" cy="502920"/>
          </a:xfrm>
          <a:prstGeom prst="ellipse">
            <a:avLst/>
          </a:prstGeom>
          <a:solidFill>
            <a:srgbClr val="4FD8EB"/>
          </a:solidFill>
          <a:ln/>
        </p:spPr>
      </p:sp>
      <p:sp>
        <p:nvSpPr>
          <p:cNvPr id="8" name="Text 6"/>
          <p:cNvSpPr/>
          <p:nvPr/>
        </p:nvSpPr>
        <p:spPr>
          <a:xfrm>
            <a:off x="548640" y="3136392"/>
            <a:ext cx="502920" cy="502920"/>
          </a:xfrm>
          <a:prstGeom prst="rect">
            <a:avLst/>
          </a:prstGeom>
          <a:noFill/>
          <a:ln/>
        </p:spPr>
        <p:txBody>
          <a:bodyPr wrap="square" lIns="0" tIns="0" rIns="0" bIns="0" rtlCol="0" anchor="ctr"/>
          <a:lstStyle/>
          <a:p>
            <a:pPr marL="0" indent="0" algn="ctr">
              <a:buNone/>
            </a:pPr>
            <a:r>
              <a:rPr lang="en-US" sz="1700" b="1" dirty="0">
                <a:solidFill>
                  <a:srgbClr val="12161C"/>
                </a:solidFill>
                <a:latin typeface="Cambria" pitchFamily="34" charset="0"/>
                <a:ea typeface="Cambria" pitchFamily="34" charset="-122"/>
                <a:cs typeface="Cambria" pitchFamily="34" charset="-120"/>
              </a:rPr>
              <a:t>2</a:t>
            </a:r>
            <a:endParaRPr lang="en-US" sz="1700" dirty="0"/>
          </a:p>
        </p:txBody>
      </p:sp>
      <p:sp>
        <p:nvSpPr>
          <p:cNvPr id="9" name="Text 7"/>
          <p:cNvSpPr/>
          <p:nvPr/>
        </p:nvSpPr>
        <p:spPr>
          <a:xfrm>
            <a:off x="1280160" y="3063240"/>
            <a:ext cx="10332720" cy="1234440"/>
          </a:xfrm>
          <a:prstGeom prst="rect">
            <a:avLst/>
          </a:prstGeom>
          <a:noFill/>
          <a:ln/>
        </p:spPr>
        <p:txBody>
          <a:bodyPr wrap="square" lIns="0" tIns="0" rIns="0" bIns="0" rtlCol="0" anchor="t"/>
          <a:lstStyle/>
          <a:p>
            <a:pPr marL="0" indent="0">
              <a:lnSpc>
                <a:spcPct val="112000"/>
              </a:lnSpc>
              <a:buNone/>
            </a:pPr>
            <a:r>
              <a:rPr lang="en-US" sz="1450" b="1" dirty="0">
                <a:solidFill>
                  <a:srgbClr val="141A22"/>
                </a:solidFill>
                <a:latin typeface="Calibri" pitchFamily="34" charset="0"/>
                <a:ea typeface="Calibri" pitchFamily="34" charset="-122"/>
                <a:cs typeface="Calibri" pitchFamily="34" charset="-120"/>
              </a:rPr>
              <a:t>2. Fit (new, external)
</a:t>
            </a:r>
            <a:r>
              <a:rPr lang="en-US" sz="1250" dirty="0">
                <a:solidFill>
                  <a:srgbClr val="5B6672"/>
                </a:solidFill>
                <a:latin typeface="Calibri" pitchFamily="34" charset="0"/>
                <a:ea typeface="Calibri" pitchFamily="34" charset="-122"/>
                <a:cs typeface="Calibri" pitchFamily="34" charset="-120"/>
              </a:rPr>
              <a:t>A Python CLEAN / matrix-pencil tool reads the resulting CPHD via cphdInfo and outputs a compact ASC parameter table — no C++ changes needed for this stage.</a:t>
            </a:r>
            <a:endParaRPr lang="en-US" sz="1450" dirty="0"/>
          </a:p>
        </p:txBody>
      </p:sp>
      <p:sp>
        <p:nvSpPr>
          <p:cNvPr id="10" name="Shape 8"/>
          <p:cNvSpPr/>
          <p:nvPr/>
        </p:nvSpPr>
        <p:spPr>
          <a:xfrm>
            <a:off x="548640" y="4370832"/>
            <a:ext cx="502920" cy="502920"/>
          </a:xfrm>
          <a:prstGeom prst="ellipse">
            <a:avLst/>
          </a:prstGeom>
          <a:solidFill>
            <a:srgbClr val="FF9E2C"/>
          </a:solidFill>
          <a:ln/>
        </p:spPr>
      </p:sp>
      <p:sp>
        <p:nvSpPr>
          <p:cNvPr id="11" name="Text 9"/>
          <p:cNvSpPr/>
          <p:nvPr/>
        </p:nvSpPr>
        <p:spPr>
          <a:xfrm>
            <a:off x="548640" y="4370832"/>
            <a:ext cx="502920" cy="502920"/>
          </a:xfrm>
          <a:prstGeom prst="rect">
            <a:avLst/>
          </a:prstGeom>
          <a:noFill/>
          <a:ln/>
        </p:spPr>
        <p:txBody>
          <a:bodyPr wrap="square" lIns="0" tIns="0" rIns="0" bIns="0" rtlCol="0" anchor="ctr"/>
          <a:lstStyle/>
          <a:p>
            <a:pPr marL="0" indent="0" algn="ctr">
              <a:buNone/>
            </a:pPr>
            <a:r>
              <a:rPr lang="en-US" sz="1700" b="1" dirty="0">
                <a:solidFill>
                  <a:srgbClr val="12161C"/>
                </a:solidFill>
                <a:latin typeface="Cambria" pitchFamily="34" charset="0"/>
                <a:ea typeface="Cambria" pitchFamily="34" charset="-122"/>
                <a:cs typeface="Cambria" pitchFamily="34" charset="-120"/>
              </a:rPr>
              <a:t>3</a:t>
            </a:r>
            <a:endParaRPr lang="en-US" sz="1700" dirty="0"/>
          </a:p>
        </p:txBody>
      </p:sp>
      <p:sp>
        <p:nvSpPr>
          <p:cNvPr id="12" name="Text 10"/>
          <p:cNvSpPr/>
          <p:nvPr/>
        </p:nvSpPr>
        <p:spPr>
          <a:xfrm>
            <a:off x="1280160" y="4297680"/>
            <a:ext cx="10332720" cy="1234440"/>
          </a:xfrm>
          <a:prstGeom prst="rect">
            <a:avLst/>
          </a:prstGeom>
          <a:noFill/>
          <a:ln/>
        </p:spPr>
        <p:txBody>
          <a:bodyPr wrap="square" lIns="0" tIns="0" rIns="0" bIns="0" rtlCol="0" anchor="t"/>
          <a:lstStyle/>
          <a:p>
            <a:pPr marL="0" indent="0">
              <a:lnSpc>
                <a:spcPct val="112000"/>
              </a:lnSpc>
              <a:buNone/>
            </a:pPr>
            <a:r>
              <a:rPr lang="en-US" sz="1450" b="1" dirty="0">
                <a:solidFill>
                  <a:srgbClr val="141A22"/>
                </a:solidFill>
                <a:latin typeface="Calibri" pitchFamily="34" charset="0"/>
                <a:ea typeface="Calibri" pitchFamily="34" charset="-122"/>
                <a:cs typeface="Calibri" pitchFamily="34" charset="-120"/>
              </a:rPr>
              <a:t>3. Evaluate (new, in-core)
</a:t>
            </a:r>
            <a:r>
              <a:rPr lang="en-US" sz="1250" dirty="0">
                <a:solidFill>
                  <a:srgbClr val="5B6672"/>
                </a:solidFill>
                <a:latin typeface="Calibri" pitchFamily="34" charset="0"/>
                <a:ea typeface="Calibri" pitchFamily="34" charset="-122"/>
                <a:cs typeface="Calibri" pitchFamily="34" charset="-120"/>
              </a:rPr>
              <a:t>ascField.cpp, parallel to cpuPOField.cpp: facet stays in the BVH for occlusion but opts out of RCS.c; one shadow ray per pulse gates the contribution; threadCore.cpp combines it additively with a per-pulse validity-sector fallback to full ray tracing.</a:t>
            </a:r>
            <a:endParaRPr lang="en-US" sz="1450" dirty="0"/>
          </a:p>
        </p:txBody>
      </p:sp>
      <p:sp>
        <p:nvSpPr>
          <p:cNvPr id="13" name="Text 11"/>
          <p:cNvSpPr/>
          <p:nvPr/>
        </p:nvSpPr>
        <p:spPr>
          <a:xfrm>
            <a:off x="548640" y="5577840"/>
            <a:ext cx="10698480" cy="548640"/>
          </a:xfrm>
          <a:prstGeom prst="rect">
            <a:avLst/>
          </a:prstGeom>
          <a:noFill/>
          <a:ln/>
        </p:spPr>
        <p:txBody>
          <a:bodyPr wrap="square" lIns="0" tIns="0" rIns="0" bIns="0" rtlCol="0" anchor="ctr"/>
          <a:lstStyle/>
          <a:p>
            <a:pPr marL="0" indent="0">
              <a:lnSpc>
                <a:spcPct val="110000"/>
              </a:lnSpc>
              <a:buNone/>
            </a:pPr>
            <a:r>
              <a:rPr lang="en-US" sz="1250" i="1" dirty="0">
                <a:solidFill>
                  <a:srgbClr val="B85C00"/>
                </a:solidFill>
                <a:latin typeface="Calibri" pitchFamily="34" charset="0"/>
                <a:ea typeface="Calibri" pitchFamily="34" charset="-122"/>
                <a:cs typeface="Calibri" pitchFamily="34" charset="-120"/>
              </a:rPr>
              <a:t>Same mechanism, dual purpose: the parallel-evaluator-plus-additive-injection pattern here is exactly what target injection needs too — one piece of infrastructure serves both.</a:t>
            </a:r>
            <a:endParaRPr lang="en-US" sz="1250" dirty="0"/>
          </a:p>
        </p:txBody>
      </p:sp>
    </p:spTree>
    <p:extLst>
      <p:ext uri="{BB962C8B-B14F-4D97-AF65-F5344CB8AC3E}">
        <p14:creationId xmlns:p14="http://schemas.microsoft.com/office/powerpoint/2010/main" val="7374754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STEP 1</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Geometry &amp; material extraction from gaming engine tools</a:t>
            </a:r>
            <a:endParaRPr lang="en-US" sz="2800" dirty="0"/>
          </a:p>
        </p:txBody>
      </p:sp>
      <p:sp>
        <p:nvSpPr>
          <p:cNvPr id="4" name="Text 2"/>
          <p:cNvSpPr/>
          <p:nvPr/>
        </p:nvSpPr>
        <p:spPr>
          <a:xfrm>
            <a:off x="548640" y="1554480"/>
            <a:ext cx="10607040" cy="457200"/>
          </a:xfrm>
          <a:prstGeom prst="rect">
            <a:avLst/>
          </a:prstGeom>
          <a:noFill/>
          <a:ln/>
        </p:spPr>
        <p:txBody>
          <a:bodyPr wrap="square" lIns="0" tIns="0" rIns="0" bIns="0" rtlCol="0" anchor="ctr"/>
          <a:lstStyle/>
          <a:p>
            <a:pPr marL="0" indent="0">
              <a:buNone/>
            </a:pPr>
            <a:r>
              <a:rPr lang="en-US" sz="1450" dirty="0">
                <a:solidFill>
                  <a:srgbClr val="141A22"/>
                </a:solidFill>
                <a:latin typeface="Calibri" pitchFamily="34" charset="0"/>
                <a:ea typeface="Calibri" pitchFamily="34" charset="-122"/>
                <a:cs typeface="Calibri" pitchFamily="34" charset="-120"/>
              </a:rPr>
              <a:t>Pull the mesh out of the engine: facet centroids, normals, areas, material tags.</a:t>
            </a:r>
            <a:endParaRPr lang="en-US" sz="1450" dirty="0"/>
          </a:p>
        </p:txBody>
      </p:sp>
      <p:sp>
        <p:nvSpPr>
          <p:cNvPr id="5" name="Shape 3"/>
          <p:cNvSpPr/>
          <p:nvPr/>
        </p:nvSpPr>
        <p:spPr>
          <a:xfrm>
            <a:off x="548640" y="2240280"/>
            <a:ext cx="3429000" cy="1554480"/>
          </a:xfrm>
          <a:prstGeom prst="roundRect">
            <a:avLst>
              <a:gd name="adj" fmla="val 4706"/>
            </a:avLst>
          </a:prstGeom>
          <a:solidFill>
            <a:srgbClr val="F1F4F8"/>
          </a:solidFill>
          <a:ln/>
          <a:effectLst>
            <a:outerShdw blurRad="101600" dist="38100" dir="5400000" algn="bl" rotWithShape="0">
              <a:srgbClr val="9AA5B1">
                <a:alpha val="22000"/>
              </a:srgbClr>
            </a:outerShdw>
          </a:effectLst>
        </p:spPr>
      </p:sp>
      <p:sp>
        <p:nvSpPr>
          <p:cNvPr id="6" name="Shape 4"/>
          <p:cNvSpPr/>
          <p:nvPr/>
        </p:nvSpPr>
        <p:spPr>
          <a:xfrm>
            <a:off x="1897380" y="2496312"/>
            <a:ext cx="731520" cy="731520"/>
          </a:xfrm>
          <a:prstGeom prst="ellipse">
            <a:avLst/>
          </a:prstGeom>
          <a:solidFill>
            <a:srgbClr val="4FD8EB"/>
          </a:solidFill>
          <a:ln/>
        </p:spPr>
      </p:sp>
      <p:pic>
        <p:nvPicPr>
          <p:cNvPr id="7" name="Image 0" descr="/sessions/sweet-friendly-mayer/mnt/outputs/presentation/icons/FaCube_dark.png"/>
          <p:cNvPicPr>
            <a:picLocks noChangeAspect="1"/>
          </p:cNvPicPr>
          <p:nvPr/>
        </p:nvPicPr>
        <p:blipFill>
          <a:blip r:embed="rId3"/>
          <a:stretch>
            <a:fillRect/>
          </a:stretch>
        </p:blipFill>
        <p:spPr>
          <a:xfrm>
            <a:off x="2094890" y="2693822"/>
            <a:ext cx="336499" cy="336499"/>
          </a:xfrm>
          <a:prstGeom prst="rect">
            <a:avLst/>
          </a:prstGeom>
        </p:spPr>
      </p:pic>
      <p:sp>
        <p:nvSpPr>
          <p:cNvPr id="8" name="Text 5"/>
          <p:cNvSpPr/>
          <p:nvPr/>
        </p:nvSpPr>
        <p:spPr>
          <a:xfrm>
            <a:off x="548640" y="3291840"/>
            <a:ext cx="3429000" cy="320040"/>
          </a:xfrm>
          <a:prstGeom prst="rect">
            <a:avLst/>
          </a:prstGeom>
          <a:noFill/>
          <a:ln/>
        </p:spPr>
        <p:txBody>
          <a:bodyPr wrap="square" lIns="0" tIns="0" rIns="0" bIns="0" rtlCol="0" anchor="ctr"/>
          <a:lstStyle/>
          <a:p>
            <a:pPr marL="0" indent="0" algn="ctr">
              <a:buNone/>
            </a:pPr>
            <a:r>
              <a:rPr lang="en-US" sz="1600" b="1" dirty="0">
                <a:solidFill>
                  <a:srgbClr val="141A22"/>
                </a:solidFill>
                <a:latin typeface="Cambria" pitchFamily="34" charset="0"/>
                <a:ea typeface="Cambria" pitchFamily="34" charset="-122"/>
                <a:cs typeface="Cambria" pitchFamily="34" charset="-120"/>
              </a:rPr>
              <a:t>Blender</a:t>
            </a:r>
            <a:endParaRPr lang="en-US" sz="1600" dirty="0"/>
          </a:p>
        </p:txBody>
      </p:sp>
      <p:sp>
        <p:nvSpPr>
          <p:cNvPr id="9" name="Text 6"/>
          <p:cNvSpPr/>
          <p:nvPr/>
        </p:nvSpPr>
        <p:spPr>
          <a:xfrm>
            <a:off x="548640" y="3566160"/>
            <a:ext cx="3429000" cy="274320"/>
          </a:xfrm>
          <a:prstGeom prst="rect">
            <a:avLst/>
          </a:prstGeom>
          <a:noFill/>
          <a:ln/>
        </p:spPr>
        <p:txBody>
          <a:bodyPr wrap="square" lIns="0" tIns="0" rIns="0" bIns="0" rtlCol="0" anchor="ctr"/>
          <a:lstStyle/>
          <a:p>
            <a:pPr marL="0" indent="0" algn="ctr">
              <a:buNone/>
            </a:pPr>
            <a:r>
              <a:rPr lang="en-US" sz="1150" dirty="0">
                <a:solidFill>
                  <a:srgbClr val="0B7285"/>
                </a:solidFill>
                <a:latin typeface="Courier New" pitchFamily="34" charset="0"/>
                <a:ea typeface="Courier New" pitchFamily="34" charset="-122"/>
                <a:cs typeface="Courier New" pitchFamily="34" charset="-120"/>
              </a:rPr>
              <a:t>`bpy` Python API</a:t>
            </a:r>
            <a:endParaRPr lang="en-US" sz="1150" dirty="0"/>
          </a:p>
        </p:txBody>
      </p:sp>
      <p:sp>
        <p:nvSpPr>
          <p:cNvPr id="10" name="Shape 7"/>
          <p:cNvSpPr/>
          <p:nvPr/>
        </p:nvSpPr>
        <p:spPr>
          <a:xfrm>
            <a:off x="4233672" y="2240280"/>
            <a:ext cx="3429000" cy="1554480"/>
          </a:xfrm>
          <a:prstGeom prst="roundRect">
            <a:avLst>
              <a:gd name="adj" fmla="val 4706"/>
            </a:avLst>
          </a:prstGeom>
          <a:solidFill>
            <a:srgbClr val="F1F4F8"/>
          </a:solidFill>
          <a:ln/>
          <a:effectLst>
            <a:outerShdw blurRad="101600" dist="38100" dir="5400000" algn="bl" rotWithShape="0">
              <a:srgbClr val="9AA5B1">
                <a:alpha val="22000"/>
              </a:srgbClr>
            </a:outerShdw>
          </a:effectLst>
        </p:spPr>
      </p:sp>
      <p:sp>
        <p:nvSpPr>
          <p:cNvPr id="11" name="Shape 8"/>
          <p:cNvSpPr/>
          <p:nvPr/>
        </p:nvSpPr>
        <p:spPr>
          <a:xfrm>
            <a:off x="5582412" y="2496312"/>
            <a:ext cx="731520" cy="731520"/>
          </a:xfrm>
          <a:prstGeom prst="ellipse">
            <a:avLst/>
          </a:prstGeom>
          <a:solidFill>
            <a:srgbClr val="4FD8EB"/>
          </a:solidFill>
          <a:ln/>
        </p:spPr>
      </p:sp>
      <p:pic>
        <p:nvPicPr>
          <p:cNvPr id="12" name="Image 1" descr="/sessions/sweet-friendly-mayer/mnt/outputs/presentation/icons/FaBuilding_dark.png"/>
          <p:cNvPicPr>
            <a:picLocks noChangeAspect="1"/>
          </p:cNvPicPr>
          <p:nvPr/>
        </p:nvPicPr>
        <p:blipFill>
          <a:blip r:embed="rId4"/>
          <a:stretch>
            <a:fillRect/>
          </a:stretch>
        </p:blipFill>
        <p:spPr>
          <a:xfrm>
            <a:off x="5779922" y="2693822"/>
            <a:ext cx="336499" cy="336499"/>
          </a:xfrm>
          <a:prstGeom prst="rect">
            <a:avLst/>
          </a:prstGeom>
        </p:spPr>
      </p:pic>
      <p:sp>
        <p:nvSpPr>
          <p:cNvPr id="13" name="Text 9"/>
          <p:cNvSpPr/>
          <p:nvPr/>
        </p:nvSpPr>
        <p:spPr>
          <a:xfrm>
            <a:off x="4233672" y="3291840"/>
            <a:ext cx="3429000" cy="320040"/>
          </a:xfrm>
          <a:prstGeom prst="rect">
            <a:avLst/>
          </a:prstGeom>
          <a:noFill/>
          <a:ln/>
        </p:spPr>
        <p:txBody>
          <a:bodyPr wrap="square" lIns="0" tIns="0" rIns="0" bIns="0" rtlCol="0" anchor="ctr"/>
          <a:lstStyle/>
          <a:p>
            <a:pPr marL="0" indent="0" algn="ctr">
              <a:buNone/>
            </a:pPr>
            <a:r>
              <a:rPr lang="en-US" sz="1600" b="1" dirty="0">
                <a:solidFill>
                  <a:srgbClr val="141A22"/>
                </a:solidFill>
                <a:latin typeface="Cambria" pitchFamily="34" charset="0"/>
                <a:ea typeface="Cambria" pitchFamily="34" charset="-122"/>
                <a:cs typeface="Cambria" pitchFamily="34" charset="-120"/>
              </a:rPr>
              <a:t>Unity</a:t>
            </a:r>
            <a:endParaRPr lang="en-US" sz="1600" dirty="0"/>
          </a:p>
        </p:txBody>
      </p:sp>
      <p:sp>
        <p:nvSpPr>
          <p:cNvPr id="14" name="Text 10"/>
          <p:cNvSpPr/>
          <p:nvPr/>
        </p:nvSpPr>
        <p:spPr>
          <a:xfrm>
            <a:off x="4233672" y="3566160"/>
            <a:ext cx="3429000" cy="274320"/>
          </a:xfrm>
          <a:prstGeom prst="rect">
            <a:avLst/>
          </a:prstGeom>
          <a:noFill/>
          <a:ln/>
        </p:spPr>
        <p:txBody>
          <a:bodyPr wrap="square" lIns="0" tIns="0" rIns="0" bIns="0" rtlCol="0" anchor="ctr"/>
          <a:lstStyle/>
          <a:p>
            <a:pPr marL="0" indent="0" algn="ctr">
              <a:buNone/>
            </a:pPr>
            <a:r>
              <a:rPr lang="en-US" sz="1150" dirty="0">
                <a:solidFill>
                  <a:srgbClr val="0B7285"/>
                </a:solidFill>
                <a:latin typeface="Courier New" pitchFamily="34" charset="0"/>
                <a:ea typeface="Courier New" pitchFamily="34" charset="-122"/>
                <a:cs typeface="Courier New" pitchFamily="34" charset="-120"/>
              </a:rPr>
              <a:t>`Mesh` class via C#</a:t>
            </a:r>
            <a:endParaRPr lang="en-US" sz="1150" dirty="0"/>
          </a:p>
        </p:txBody>
      </p:sp>
      <p:sp>
        <p:nvSpPr>
          <p:cNvPr id="15" name="Shape 11"/>
          <p:cNvSpPr/>
          <p:nvPr/>
        </p:nvSpPr>
        <p:spPr>
          <a:xfrm>
            <a:off x="7918704" y="2240280"/>
            <a:ext cx="3429000" cy="1554480"/>
          </a:xfrm>
          <a:prstGeom prst="roundRect">
            <a:avLst>
              <a:gd name="adj" fmla="val 4706"/>
            </a:avLst>
          </a:prstGeom>
          <a:solidFill>
            <a:srgbClr val="F1F4F8"/>
          </a:solidFill>
          <a:ln/>
          <a:effectLst>
            <a:outerShdw blurRad="101600" dist="38100" dir="5400000" algn="bl" rotWithShape="0">
              <a:srgbClr val="9AA5B1">
                <a:alpha val="22000"/>
              </a:srgbClr>
            </a:outerShdw>
          </a:effectLst>
        </p:spPr>
      </p:sp>
      <p:sp>
        <p:nvSpPr>
          <p:cNvPr id="16" name="Shape 12"/>
          <p:cNvSpPr/>
          <p:nvPr/>
        </p:nvSpPr>
        <p:spPr>
          <a:xfrm>
            <a:off x="9267444" y="2496312"/>
            <a:ext cx="731520" cy="731520"/>
          </a:xfrm>
          <a:prstGeom prst="ellipse">
            <a:avLst/>
          </a:prstGeom>
          <a:solidFill>
            <a:srgbClr val="4FD8EB"/>
          </a:solidFill>
          <a:ln/>
        </p:spPr>
      </p:sp>
      <p:pic>
        <p:nvPicPr>
          <p:cNvPr id="17" name="Image 2" descr="/sessions/sweet-friendly-mayer/mnt/outputs/presentation/icons/FaLayerGroup_dark.png"/>
          <p:cNvPicPr>
            <a:picLocks noChangeAspect="1"/>
          </p:cNvPicPr>
          <p:nvPr/>
        </p:nvPicPr>
        <p:blipFill>
          <a:blip r:embed="rId5"/>
          <a:stretch>
            <a:fillRect/>
          </a:stretch>
        </p:blipFill>
        <p:spPr>
          <a:xfrm>
            <a:off x="9464954" y="2693822"/>
            <a:ext cx="336499" cy="336499"/>
          </a:xfrm>
          <a:prstGeom prst="rect">
            <a:avLst/>
          </a:prstGeom>
        </p:spPr>
      </p:pic>
      <p:sp>
        <p:nvSpPr>
          <p:cNvPr id="18" name="Text 13"/>
          <p:cNvSpPr/>
          <p:nvPr/>
        </p:nvSpPr>
        <p:spPr>
          <a:xfrm>
            <a:off x="7918704" y="3291840"/>
            <a:ext cx="3429000" cy="320040"/>
          </a:xfrm>
          <a:prstGeom prst="rect">
            <a:avLst/>
          </a:prstGeom>
          <a:noFill/>
          <a:ln/>
        </p:spPr>
        <p:txBody>
          <a:bodyPr wrap="square" lIns="0" tIns="0" rIns="0" bIns="0" rtlCol="0" anchor="ctr"/>
          <a:lstStyle/>
          <a:p>
            <a:pPr marL="0" indent="0" algn="ctr">
              <a:buNone/>
            </a:pPr>
            <a:r>
              <a:rPr lang="en-US" sz="1600" b="1" dirty="0">
                <a:solidFill>
                  <a:srgbClr val="141A22"/>
                </a:solidFill>
                <a:latin typeface="Cambria" pitchFamily="34" charset="0"/>
                <a:ea typeface="Cambria" pitchFamily="34" charset="-122"/>
                <a:cs typeface="Cambria" pitchFamily="34" charset="-120"/>
              </a:rPr>
              <a:t>Unreal</a:t>
            </a:r>
            <a:endParaRPr lang="en-US" sz="1600" dirty="0"/>
          </a:p>
        </p:txBody>
      </p:sp>
      <p:sp>
        <p:nvSpPr>
          <p:cNvPr id="19" name="Text 14"/>
          <p:cNvSpPr/>
          <p:nvPr/>
        </p:nvSpPr>
        <p:spPr>
          <a:xfrm>
            <a:off x="7918704" y="3566160"/>
            <a:ext cx="3429000" cy="274320"/>
          </a:xfrm>
          <a:prstGeom prst="rect">
            <a:avLst/>
          </a:prstGeom>
          <a:noFill/>
          <a:ln/>
        </p:spPr>
        <p:txBody>
          <a:bodyPr wrap="square" lIns="0" tIns="0" rIns="0" bIns="0" rtlCol="0" anchor="ctr"/>
          <a:lstStyle/>
          <a:p>
            <a:pPr marL="0" indent="0" algn="ctr">
              <a:buNone/>
            </a:pPr>
            <a:r>
              <a:rPr lang="en-US" sz="1150" dirty="0">
                <a:solidFill>
                  <a:srgbClr val="0B7285"/>
                </a:solidFill>
                <a:latin typeface="Courier New" pitchFamily="34" charset="0"/>
                <a:ea typeface="Courier New" pitchFamily="34" charset="-122"/>
                <a:cs typeface="Courier New" pitchFamily="34" charset="-120"/>
              </a:rPr>
              <a:t>C++ / Blueprint mesh access</a:t>
            </a:r>
            <a:endParaRPr lang="en-US" sz="1150" dirty="0"/>
          </a:p>
        </p:txBody>
      </p:sp>
      <p:sp>
        <p:nvSpPr>
          <p:cNvPr id="20" name="Text 15"/>
          <p:cNvSpPr/>
          <p:nvPr/>
        </p:nvSpPr>
        <p:spPr>
          <a:xfrm>
            <a:off x="548640" y="4160520"/>
            <a:ext cx="10607040" cy="1828800"/>
          </a:xfrm>
          <a:prstGeom prst="rect">
            <a:avLst/>
          </a:prstGeom>
          <a:noFill/>
          <a:ln/>
        </p:spPr>
        <p:txBody>
          <a:bodyPr wrap="square" lIns="0" tIns="0" rIns="0" bIns="0" rtlCol="0" anchor="t"/>
          <a:lstStyle/>
          <a:p>
            <a:pPr marL="203200" indent="-203200">
              <a:lnSpc>
                <a:spcPct val="112000"/>
              </a:lnSpc>
              <a:spcAft>
                <a:spcPts val="1200"/>
              </a:spcAft>
              <a:buSzPct val="100000"/>
              <a:buChar char="•"/>
            </a:pPr>
            <a:r>
              <a:rPr lang="en-US" sz="1400" dirty="0">
                <a:solidFill>
                  <a:srgbClr val="141A22"/>
                </a:solidFill>
                <a:latin typeface="Calibri" pitchFamily="34" charset="0"/>
                <a:ea typeface="Calibri" pitchFamily="34" charset="-122"/>
                <a:cs typeface="Calibri" pitchFamily="34" charset="-120"/>
              </a:rPr>
              <a:t>Reassign real EM material properties per surface class -- complex permittivity, wavelength-scale roughness -- not the textures the engine ships with</a:t>
            </a:r>
            <a:endParaRPr lang="en-US" sz="1400" dirty="0"/>
          </a:p>
          <a:p>
            <a:pPr marL="203200" indent="-203200">
              <a:lnSpc>
                <a:spcPct val="112000"/>
              </a:lnSpc>
              <a:spcAft>
                <a:spcPts val="1200"/>
              </a:spcAft>
              <a:buSzPct val="100000"/>
              <a:buChar char="•"/>
            </a:pPr>
            <a:r>
              <a:rPr lang="en-US" sz="1400" dirty="0">
                <a:solidFill>
                  <a:srgbClr val="141A22"/>
                </a:solidFill>
                <a:latin typeface="Calibri" pitchFamily="34" charset="0"/>
                <a:ea typeface="Calibri" pitchFamily="34" charset="-122"/>
                <a:cs typeface="Calibri" pitchFamily="34" charset="-120"/>
              </a:rPr>
              <a:t>Roughness is wavelength-relative (Rayleigh criterion): a surface "smooth" at L-band can be "rough" at X-band</a:t>
            </a:r>
            <a:endParaRPr lang="en-US" sz="1400" dirty="0"/>
          </a:p>
        </p:txBody>
      </p:sp>
      <p:sp>
        <p:nvSpPr>
          <p:cNvPr id="21" name="Text 16"/>
          <p:cNvSpPr/>
          <p:nvPr/>
        </p:nvSpPr>
        <p:spPr>
          <a:xfrm>
            <a:off x="11430000" y="6473952"/>
            <a:ext cx="548640" cy="274320"/>
          </a:xfrm>
          <a:prstGeom prst="rect">
            <a:avLst/>
          </a:prstGeom>
          <a:noFill/>
          <a:ln/>
        </p:spPr>
        <p:txBody>
          <a:bodyPr wrap="square" lIns="0" tIns="0" rIns="0" bIns="0"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STEP 2</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Why hardware ray tracing is the right substrate</a:t>
            </a:r>
            <a:endParaRPr lang="en-US" sz="2800" dirty="0"/>
          </a:p>
        </p:txBody>
      </p:sp>
      <p:sp>
        <p:nvSpPr>
          <p:cNvPr id="4" name="Shape 2"/>
          <p:cNvSpPr/>
          <p:nvPr/>
        </p:nvSpPr>
        <p:spPr>
          <a:xfrm>
            <a:off x="10332720" y="594360"/>
            <a:ext cx="1005840" cy="1005840"/>
          </a:xfrm>
          <a:prstGeom prst="ellipse">
            <a:avLst/>
          </a:prstGeom>
          <a:solidFill>
            <a:srgbClr val="FF9E2C"/>
          </a:solidFill>
          <a:ln/>
        </p:spPr>
      </p:sp>
      <p:pic>
        <p:nvPicPr>
          <p:cNvPr id="5" name="Image 0" descr="/sessions/sweet-friendly-mayer/mnt/outputs/presentation/icons/FaBolt_dark.png"/>
          <p:cNvPicPr>
            <a:picLocks noChangeAspect="1"/>
          </p:cNvPicPr>
          <p:nvPr/>
        </p:nvPicPr>
        <p:blipFill>
          <a:blip r:embed="rId3"/>
          <a:stretch>
            <a:fillRect/>
          </a:stretch>
        </p:blipFill>
        <p:spPr>
          <a:xfrm>
            <a:off x="10604297" y="865937"/>
            <a:ext cx="462686" cy="462686"/>
          </a:xfrm>
          <a:prstGeom prst="rect">
            <a:avLst/>
          </a:prstGeom>
        </p:spPr>
      </p:pic>
      <p:sp>
        <p:nvSpPr>
          <p:cNvPr id="6" name="Text 3"/>
          <p:cNvSpPr/>
          <p:nvPr/>
        </p:nvSpPr>
        <p:spPr>
          <a:xfrm>
            <a:off x="548640" y="1783080"/>
            <a:ext cx="10058400" cy="3017520"/>
          </a:xfrm>
          <a:prstGeom prst="rect">
            <a:avLst/>
          </a:prstGeom>
          <a:noFill/>
          <a:ln/>
        </p:spPr>
        <p:txBody>
          <a:bodyPr wrap="square" lIns="0" tIns="0" rIns="0" bIns="0" rtlCol="0" anchor="t"/>
          <a:lstStyle/>
          <a:p>
            <a:pPr marL="203200" indent="-203200">
              <a:lnSpc>
                <a:spcPct val="112000"/>
              </a:lnSpc>
              <a:spcAft>
                <a:spcPts val="1400"/>
              </a:spcAft>
              <a:buSzPct val="100000"/>
              <a:buChar char="•"/>
            </a:pPr>
            <a:r>
              <a:rPr lang="en-US" sz="1500" dirty="0">
                <a:solidFill>
                  <a:srgbClr val="141A22"/>
                </a:solidFill>
                <a:latin typeface="Calibri" pitchFamily="34" charset="0"/>
                <a:ea typeface="Calibri" pitchFamily="34" charset="-122"/>
                <a:cs typeface="Calibri" pitchFamily="34" charset="-120"/>
              </a:rPr>
              <a:t>Hardware-accelerated ray-triangle intersection is identical math whether you’re computing pixel color or radar path length</a:t>
            </a:r>
            <a:endParaRPr lang="en-US" sz="1500" dirty="0"/>
          </a:p>
          <a:p>
            <a:pPr marL="203200" indent="-203200">
              <a:lnSpc>
                <a:spcPct val="112000"/>
              </a:lnSpc>
              <a:spcAft>
                <a:spcPts val="1400"/>
              </a:spcAft>
              <a:buSzPct val="100000"/>
              <a:buChar char="•"/>
            </a:pPr>
            <a:r>
              <a:rPr lang="en-US" sz="1500" dirty="0">
                <a:solidFill>
                  <a:srgbClr val="141A22"/>
                </a:solidFill>
                <a:latin typeface="Calibri" pitchFamily="34" charset="0"/>
                <a:ea typeface="Calibri" pitchFamily="34" charset="-122"/>
                <a:cs typeface="Calibri" pitchFamily="34" charset="-120"/>
              </a:rPr>
              <a:t>DXR/RTX hit shaders expose custom per-ray payloads -- swap "return RGB" for "return (path length, complex reflectivity)"</a:t>
            </a:r>
            <a:endParaRPr lang="en-US" sz="1500" dirty="0"/>
          </a:p>
          <a:p>
            <a:pPr marL="203200" indent="-203200">
              <a:lnSpc>
                <a:spcPct val="112000"/>
              </a:lnSpc>
              <a:spcAft>
                <a:spcPts val="1400"/>
              </a:spcAft>
              <a:buSzPct val="100000"/>
              <a:buChar char="•"/>
            </a:pPr>
            <a:r>
              <a:rPr lang="en-US" sz="1500" dirty="0">
                <a:solidFill>
                  <a:srgbClr val="141A22"/>
                </a:solidFill>
                <a:latin typeface="Calibri" pitchFamily="34" charset="0"/>
                <a:ea typeface="Calibri" pitchFamily="34" charset="-122"/>
                <a:cs typeface="Calibri" pitchFamily="34" charset="-120"/>
              </a:rPr>
              <a:t>Gives you a hardware-accelerated shooting-and-bouncing-rays (SBR) EM simulator for free, riding on infrastructure you didn’t build</a:t>
            </a:r>
            <a:endParaRPr lang="en-US" sz="1500" dirty="0"/>
          </a:p>
          <a:p>
            <a:pPr marL="203200" indent="-203200">
              <a:lnSpc>
                <a:spcPct val="112000"/>
              </a:lnSpc>
              <a:spcAft>
                <a:spcPts val="1400"/>
              </a:spcAft>
              <a:buSzPct val="100000"/>
              <a:buChar char="•"/>
            </a:pPr>
            <a:r>
              <a:rPr lang="en-US" sz="1500" dirty="0">
                <a:solidFill>
                  <a:srgbClr val="141A22"/>
                </a:solidFill>
                <a:latin typeface="Calibri" pitchFamily="34" charset="0"/>
                <a:ea typeface="Calibri" pitchFamily="34" charset="-122"/>
                <a:cs typeface="Calibri" pitchFamily="34" charset="-120"/>
              </a:rPr>
              <a:t>Alternative: skip the engine’s rendering pipeline and go straight to CUDA/OptiX (what SARCASTIC does) -- trades authoring convenience for less API-fighting</a:t>
            </a:r>
            <a:endParaRPr lang="en-US" sz="1500" dirty="0"/>
          </a:p>
        </p:txBody>
      </p:sp>
      <p:sp>
        <p:nvSpPr>
          <p:cNvPr id="7" name="Shape 4"/>
          <p:cNvSpPr/>
          <p:nvPr/>
        </p:nvSpPr>
        <p:spPr>
          <a:xfrm>
            <a:off x="548640" y="5074920"/>
            <a:ext cx="10058400" cy="1005840"/>
          </a:xfrm>
          <a:prstGeom prst="roundRect">
            <a:avLst>
              <a:gd name="adj" fmla="val 7273"/>
            </a:avLst>
          </a:prstGeom>
          <a:solidFill>
            <a:srgbClr val="F1F4F8"/>
          </a:solidFill>
          <a:ln/>
          <a:effectLst>
            <a:outerShdw blurRad="101600" dist="38100" dir="5400000" algn="bl" rotWithShape="0">
              <a:srgbClr val="9AA5B1">
                <a:alpha val="22000"/>
              </a:srgbClr>
            </a:outerShdw>
          </a:effectLst>
        </p:spPr>
      </p:sp>
      <p:sp>
        <p:nvSpPr>
          <p:cNvPr id="8" name="Text 5"/>
          <p:cNvSpPr/>
          <p:nvPr/>
        </p:nvSpPr>
        <p:spPr>
          <a:xfrm>
            <a:off x="822960" y="5074920"/>
            <a:ext cx="9509760" cy="1005840"/>
          </a:xfrm>
          <a:prstGeom prst="rect">
            <a:avLst/>
          </a:prstGeom>
          <a:noFill/>
          <a:ln/>
        </p:spPr>
        <p:txBody>
          <a:bodyPr wrap="square" lIns="0" tIns="0" rIns="0" bIns="0" rtlCol="0" anchor="ctr"/>
          <a:lstStyle/>
          <a:p>
            <a:pPr marL="0" indent="0">
              <a:buNone/>
            </a:pPr>
            <a:r>
              <a:rPr lang="en-US" sz="1400" b="1" dirty="0">
                <a:solidFill>
                  <a:srgbClr val="0B7285"/>
                </a:solidFill>
                <a:latin typeface="Calibri" pitchFamily="34" charset="0"/>
                <a:ea typeface="Calibri" pitchFamily="34" charset="-122"/>
                <a:cs typeface="Calibri" pitchFamily="34" charset="-120"/>
              </a:rPr>
              <a:t>Prior art:  </a:t>
            </a:r>
            <a:r>
              <a:rPr lang="en-US" sz="1400" dirty="0">
                <a:solidFill>
                  <a:srgbClr val="141A22"/>
                </a:solidFill>
                <a:latin typeface="Calibri" pitchFamily="34" charset="0"/>
                <a:ea typeface="Calibri" pitchFamily="34" charset="-122"/>
                <a:cs typeface="Calibri" pitchFamily="34" charset="-120"/>
              </a:rPr>
              <a:t>RaySAR (Blender/POV-Ray based)  •  SARCASTIC (Bristol/Dstl, GPU SBR — extension case study on Slides 20–23)</a:t>
            </a:r>
            <a:endParaRPr lang="en-US" sz="1400" dirty="0"/>
          </a:p>
        </p:txBody>
      </p:sp>
      <p:sp>
        <p:nvSpPr>
          <p:cNvPr id="9" name="Text 6"/>
          <p:cNvSpPr/>
          <p:nvPr/>
        </p:nvSpPr>
        <p:spPr>
          <a:xfrm>
            <a:off x="11430000" y="6473952"/>
            <a:ext cx="548640" cy="274320"/>
          </a:xfrm>
          <a:prstGeom prst="rect">
            <a:avLst/>
          </a:prstGeom>
          <a:noFill/>
          <a:ln/>
        </p:spPr>
        <p:txBody>
          <a:bodyPr wrap="square" lIns="0" tIns="0" rIns="0" bIns="0"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STEP 3</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Multi-bounce ray tracing &amp; corner reflectors</a:t>
            </a:r>
            <a:endParaRPr lang="en-US" sz="2800" dirty="0"/>
          </a:p>
        </p:txBody>
      </p:sp>
      <p:sp>
        <p:nvSpPr>
          <p:cNvPr id="4" name="Shape 2"/>
          <p:cNvSpPr/>
          <p:nvPr/>
        </p:nvSpPr>
        <p:spPr>
          <a:xfrm>
            <a:off x="10332720" y="594360"/>
            <a:ext cx="1005840" cy="1005840"/>
          </a:xfrm>
          <a:prstGeom prst="ellipse">
            <a:avLst/>
          </a:prstGeom>
          <a:solidFill>
            <a:srgbClr val="FF9E2C"/>
          </a:solidFill>
          <a:ln/>
        </p:spPr>
      </p:sp>
      <p:pic>
        <p:nvPicPr>
          <p:cNvPr id="5" name="Image 0" descr="/sessions/sweet-friendly-mayer/mnt/outputs/presentation/icons/FaBuilding_dark.png"/>
          <p:cNvPicPr>
            <a:picLocks noChangeAspect="1"/>
          </p:cNvPicPr>
          <p:nvPr/>
        </p:nvPicPr>
        <p:blipFill>
          <a:blip r:embed="rId3"/>
          <a:stretch>
            <a:fillRect/>
          </a:stretch>
        </p:blipFill>
        <p:spPr>
          <a:xfrm>
            <a:off x="10604297" y="865937"/>
            <a:ext cx="462686" cy="462686"/>
          </a:xfrm>
          <a:prstGeom prst="rect">
            <a:avLst/>
          </a:prstGeom>
        </p:spPr>
      </p:pic>
      <p:sp>
        <p:nvSpPr>
          <p:cNvPr id="6" name="Text 3"/>
          <p:cNvSpPr/>
          <p:nvPr/>
        </p:nvSpPr>
        <p:spPr>
          <a:xfrm>
            <a:off x="548640" y="1783080"/>
            <a:ext cx="10424160" cy="4297680"/>
          </a:xfrm>
          <a:prstGeom prst="rect">
            <a:avLst/>
          </a:prstGeom>
          <a:noFill/>
          <a:ln/>
        </p:spPr>
        <p:txBody>
          <a:bodyPr wrap="square" lIns="0" tIns="0" rIns="0" bIns="0" rtlCol="0" anchor="t"/>
          <a:lstStyle/>
          <a:p>
            <a:pPr marL="203200" indent="-203200">
              <a:lnSpc>
                <a:spcPct val="112000"/>
              </a:lnSpc>
              <a:spcAft>
                <a:spcPts val="1600"/>
              </a:spcAft>
              <a:buSzPct val="100000"/>
              <a:buChar char="•"/>
            </a:pPr>
            <a:r>
              <a:rPr lang="en-US" sz="1500" dirty="0">
                <a:solidFill>
                  <a:srgbClr val="141A22"/>
                </a:solidFill>
                <a:latin typeface="Calibri" pitchFamily="34" charset="0"/>
                <a:ea typeface="Calibri" pitchFamily="34" charset="-122"/>
                <a:cs typeface="Calibri" pitchFamily="34" charset="-120"/>
              </a:rPr>
              <a:t>A right-angle dihedral (wall-ground) retroreflects across a wide range of incidence angles -- this is why building-ground corners dominate urban SAR brightness, not unusual material reflectivity</a:t>
            </a:r>
            <a:endParaRPr lang="en-US" sz="1500" dirty="0"/>
          </a:p>
          <a:p>
            <a:pPr marL="203200" indent="-203200">
              <a:lnSpc>
                <a:spcPct val="112000"/>
              </a:lnSpc>
              <a:spcAft>
                <a:spcPts val="1600"/>
              </a:spcAft>
              <a:buSzPct val="100000"/>
              <a:buChar char="•"/>
            </a:pPr>
            <a:r>
              <a:rPr lang="en-US" sz="1500" dirty="0">
                <a:solidFill>
                  <a:srgbClr val="141A22"/>
                </a:solidFill>
                <a:latin typeface="Calibri" pitchFamily="34" charset="0"/>
                <a:ea typeface="Calibri" pitchFamily="34" charset="-122"/>
                <a:cs typeface="Calibri" pitchFamily="34" charset="-120"/>
              </a:rPr>
              <a:t>Trace recursively: at each bounce, accumulate path length and reflectivity; cap at 2–3 bounce order (each multiplies by Fresnel reflectivity &lt; 1)</a:t>
            </a:r>
            <a:endParaRPr lang="en-US" sz="1500" dirty="0"/>
          </a:p>
          <a:p>
            <a:pPr marL="203200" indent="-203200">
              <a:lnSpc>
                <a:spcPct val="112000"/>
              </a:lnSpc>
              <a:spcAft>
                <a:spcPts val="1600"/>
              </a:spcAft>
              <a:buSzPct val="100000"/>
              <a:buChar char="•"/>
            </a:pPr>
            <a:r>
              <a:rPr lang="en-US" sz="1500" dirty="0">
                <a:solidFill>
                  <a:srgbClr val="141A22"/>
                </a:solidFill>
                <a:latin typeface="Calibri" pitchFamily="34" charset="0"/>
                <a:ea typeface="Calibri" pitchFamily="34" charset="-122"/>
                <a:cs typeface="Calibri" pitchFamily="34" charset="-120"/>
              </a:rPr>
              <a:t>Return-path check: after each bounce, fire a visibility ray back toward the sensor -- only paths that clear this are valid contributors</a:t>
            </a:r>
            <a:endParaRPr lang="en-US" sz="1500" dirty="0"/>
          </a:p>
          <a:p>
            <a:pPr marL="203200" indent="-203200">
              <a:lnSpc>
                <a:spcPct val="112000"/>
              </a:lnSpc>
              <a:spcAft>
                <a:spcPts val="1600"/>
              </a:spcAft>
              <a:buSzPct val="100000"/>
              <a:buChar char="•"/>
            </a:pPr>
            <a:r>
              <a:rPr lang="en-US" sz="1500" dirty="0">
                <a:solidFill>
                  <a:srgbClr val="141A22"/>
                </a:solidFill>
                <a:latin typeface="Calibri" pitchFamily="34" charset="0"/>
                <a:ea typeface="Calibri" pitchFamily="34" charset="-122"/>
                <a:cs typeface="Calibri" pitchFamily="34" charset="-120"/>
              </a:rPr>
              <a:t>Every valid path (1-, 2-, 3-bounce) becomes a scatterer contribution in the same per-pulse coherent sum -- no new forward model needed, just more terms</a:t>
            </a:r>
            <a:endParaRPr lang="en-US" sz="1500" dirty="0"/>
          </a:p>
        </p:txBody>
      </p:sp>
      <p:sp>
        <p:nvSpPr>
          <p:cNvPr id="7" name="Text 4"/>
          <p:cNvSpPr/>
          <p:nvPr/>
        </p:nvSpPr>
        <p:spPr>
          <a:xfrm>
            <a:off x="11430000" y="6473952"/>
            <a:ext cx="548640" cy="274320"/>
          </a:xfrm>
          <a:prstGeom prst="rect">
            <a:avLst/>
          </a:prstGeom>
          <a:noFill/>
          <a:ln/>
        </p:spPr>
        <p:txBody>
          <a:bodyPr wrap="square" lIns="0" tIns="0" rIns="0" bIns="0"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STEP 6</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Point-scatterer forward model → raw phase history</a:t>
            </a:r>
            <a:endParaRPr lang="en-US" sz="2800" dirty="0"/>
          </a:p>
        </p:txBody>
      </p:sp>
      <p:sp>
        <p:nvSpPr>
          <p:cNvPr id="4" name="Shape 2"/>
          <p:cNvSpPr/>
          <p:nvPr/>
        </p:nvSpPr>
        <p:spPr>
          <a:xfrm>
            <a:off x="10378440" y="621792"/>
            <a:ext cx="914400" cy="914400"/>
          </a:xfrm>
          <a:prstGeom prst="ellipse">
            <a:avLst/>
          </a:prstGeom>
          <a:solidFill>
            <a:srgbClr val="FF9E2C"/>
          </a:solidFill>
          <a:ln/>
        </p:spPr>
      </p:sp>
      <p:pic>
        <p:nvPicPr>
          <p:cNvPr id="5" name="Image 0" descr="/sessions/sweet-friendly-mayer/mnt/outputs/presentation/icons/FaWaveSquare_dark.png"/>
          <p:cNvPicPr>
            <a:picLocks noChangeAspect="1"/>
          </p:cNvPicPr>
          <p:nvPr/>
        </p:nvPicPr>
        <p:blipFill>
          <a:blip r:embed="rId3"/>
          <a:stretch>
            <a:fillRect/>
          </a:stretch>
        </p:blipFill>
        <p:spPr>
          <a:xfrm>
            <a:off x="10625328" y="868680"/>
            <a:ext cx="420624" cy="420624"/>
          </a:xfrm>
          <a:prstGeom prst="rect">
            <a:avLst/>
          </a:prstGeom>
        </p:spPr>
      </p:pic>
      <p:sp>
        <p:nvSpPr>
          <p:cNvPr id="6" name="Text 3"/>
          <p:cNvSpPr/>
          <p:nvPr/>
        </p:nvSpPr>
        <p:spPr>
          <a:xfrm>
            <a:off x="548640" y="1783080"/>
            <a:ext cx="10515600" cy="4206240"/>
          </a:xfrm>
          <a:prstGeom prst="rect">
            <a:avLst/>
          </a:prstGeom>
          <a:noFill/>
          <a:ln/>
        </p:spPr>
        <p:txBody>
          <a:bodyPr wrap="square" lIns="0" tIns="0" rIns="0" bIns="0" rtlCol="0" anchor="t"/>
          <a:lstStyle/>
          <a:p>
            <a:pPr marL="203200" indent="-203200">
              <a:lnSpc>
                <a:spcPct val="112000"/>
              </a:lnSpc>
              <a:spcAft>
                <a:spcPts val="1600"/>
              </a:spcAft>
              <a:buSzPct val="100000"/>
              <a:buChar char="•"/>
            </a:pPr>
            <a:r>
              <a:rPr lang="en-US" sz="1450" dirty="0">
                <a:solidFill>
                  <a:srgbClr val="141A22"/>
                </a:solidFill>
                <a:latin typeface="Calibri" pitchFamily="34" charset="0"/>
                <a:ea typeface="Calibri" pitchFamily="34" charset="-122"/>
                <a:cs typeface="Calibri" pitchFamily="34" charset="-120"/>
              </a:rPr>
              <a:t>Collapse ray-traced structures, ASC-derived structures, and empirical-clutter cells into one common point/patch-scatterer cloud (position + complex/Sinclair reflectivity)</a:t>
            </a:r>
            <a:endParaRPr lang="en-US" sz="1450" dirty="0"/>
          </a:p>
          <a:p>
            <a:pPr marL="203200" indent="-203200">
              <a:lnSpc>
                <a:spcPct val="112000"/>
              </a:lnSpc>
              <a:spcAft>
                <a:spcPts val="1600"/>
              </a:spcAft>
              <a:buSzPct val="100000"/>
              <a:buChar char="•"/>
            </a:pPr>
            <a:r>
              <a:rPr lang="en-US" sz="1450" dirty="0">
                <a:solidFill>
                  <a:srgbClr val="141A22"/>
                </a:solidFill>
                <a:latin typeface="Calibri" pitchFamily="34" charset="0"/>
                <a:ea typeface="Calibri" pitchFamily="34" charset="-122"/>
                <a:cs typeface="Calibri" pitchFamily="34" charset="-120"/>
              </a:rPr>
              <a:t>Define the synthetic aperture trajectory in scene world coordinates (position vs. slow-time) -- trivially scriptable via engine rigidbody/spline/waypoint systems, including realistic platform jitter for autofocus stress-testing</a:t>
            </a:r>
            <a:endParaRPr lang="en-US" sz="1450" dirty="0"/>
          </a:p>
          <a:p>
            <a:pPr marL="203200" indent="-203200">
              <a:lnSpc>
                <a:spcPct val="112000"/>
              </a:lnSpc>
              <a:spcAft>
                <a:spcPts val="1600"/>
              </a:spcAft>
              <a:buSzPct val="100000"/>
              <a:buChar char="•"/>
            </a:pPr>
            <a:r>
              <a:rPr lang="en-US" sz="1450" dirty="0">
                <a:solidFill>
                  <a:srgbClr val="141A22"/>
                </a:solidFill>
                <a:latin typeface="Calibri" pitchFamily="34" charset="0"/>
                <a:ea typeface="Calibri" pitchFamily="34" charset="-122"/>
                <a:cs typeface="Calibri" pitchFamily="34" charset="-120"/>
              </a:rPr>
              <a:t>Per pulse: for each scatterer, compute round-trip range, delay, and phase; sum contributions gated by antenna beam illumination</a:t>
            </a:r>
            <a:endParaRPr lang="en-US" sz="1450" dirty="0"/>
          </a:p>
          <a:p>
            <a:pPr marL="203200" indent="-203200">
              <a:lnSpc>
                <a:spcPct val="112000"/>
              </a:lnSpc>
              <a:spcAft>
                <a:spcPts val="1600"/>
              </a:spcAft>
              <a:buSzPct val="100000"/>
              <a:buChar char="•"/>
            </a:pPr>
            <a:r>
              <a:rPr lang="en-US" sz="1450" dirty="0">
                <a:solidFill>
                  <a:srgbClr val="141A22"/>
                </a:solidFill>
                <a:latin typeface="Calibri" pitchFamily="34" charset="0"/>
                <a:ea typeface="Calibri" pitchFamily="34" charset="-122"/>
                <a:cs typeface="Calibri" pitchFamily="34" charset="-120"/>
              </a:rPr>
              <a:t>Add real/simulated thermal noise and background clutter additively, after the deterministic signal</a:t>
            </a:r>
            <a:endParaRPr lang="en-US" sz="1450" dirty="0"/>
          </a:p>
        </p:txBody>
      </p:sp>
      <p:sp>
        <p:nvSpPr>
          <p:cNvPr id="7" name="Text 4"/>
          <p:cNvSpPr/>
          <p:nvPr/>
        </p:nvSpPr>
        <p:spPr>
          <a:xfrm>
            <a:off x="11430000" y="6473952"/>
            <a:ext cx="548640" cy="274320"/>
          </a:xfrm>
          <a:prstGeom prst="rect">
            <a:avLst/>
          </a:prstGeom>
          <a:noFill/>
          <a:ln/>
        </p:spPr>
        <p:txBody>
          <a:bodyPr wrap="square" lIns="0" tIns="0" rIns="0" bIns="0"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STEP 7</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Image formation closes the loop</a:t>
            </a:r>
            <a:endParaRPr lang="en-US" sz="2800" dirty="0"/>
          </a:p>
        </p:txBody>
      </p:sp>
      <p:sp>
        <p:nvSpPr>
          <p:cNvPr id="4" name="Shape 2"/>
          <p:cNvSpPr/>
          <p:nvPr/>
        </p:nvSpPr>
        <p:spPr>
          <a:xfrm>
            <a:off x="10378440" y="621792"/>
            <a:ext cx="914400" cy="914400"/>
          </a:xfrm>
          <a:prstGeom prst="ellipse">
            <a:avLst/>
          </a:prstGeom>
          <a:solidFill>
            <a:srgbClr val="4FD8EB"/>
          </a:solidFill>
          <a:ln/>
        </p:spPr>
      </p:sp>
      <p:pic>
        <p:nvPicPr>
          <p:cNvPr id="5" name="Image 0" descr="/sessions/sweet-friendly-mayer/mnt/outputs/presentation/icons/FaCheckCircle_dark.png"/>
          <p:cNvPicPr>
            <a:picLocks noChangeAspect="1"/>
          </p:cNvPicPr>
          <p:nvPr/>
        </p:nvPicPr>
        <p:blipFill>
          <a:blip r:embed="rId3"/>
          <a:stretch>
            <a:fillRect/>
          </a:stretch>
        </p:blipFill>
        <p:spPr>
          <a:xfrm>
            <a:off x="10625328" y="868680"/>
            <a:ext cx="420624" cy="420624"/>
          </a:xfrm>
          <a:prstGeom prst="rect">
            <a:avLst/>
          </a:prstGeom>
        </p:spPr>
      </p:pic>
      <p:sp>
        <p:nvSpPr>
          <p:cNvPr id="6" name="Text 3"/>
          <p:cNvSpPr/>
          <p:nvPr/>
        </p:nvSpPr>
        <p:spPr>
          <a:xfrm>
            <a:off x="548640" y="1783080"/>
            <a:ext cx="10515600" cy="3200400"/>
          </a:xfrm>
          <a:prstGeom prst="rect">
            <a:avLst/>
          </a:prstGeom>
          <a:noFill/>
          <a:ln/>
        </p:spPr>
        <p:txBody>
          <a:bodyPr wrap="square" lIns="0" tIns="0" rIns="0" bIns="0" rtlCol="0" anchor="t"/>
          <a:lstStyle/>
          <a:p>
            <a:pPr marL="203200" indent="-203200">
              <a:lnSpc>
                <a:spcPct val="112000"/>
              </a:lnSpc>
              <a:spcAft>
                <a:spcPts val="1800"/>
              </a:spcAft>
              <a:buSzPct val="100000"/>
              <a:buChar char="•"/>
            </a:pPr>
            <a:r>
              <a:rPr lang="en-US" sz="1550" dirty="0">
                <a:solidFill>
                  <a:srgbClr val="141A22"/>
                </a:solidFill>
                <a:latin typeface="Calibri" pitchFamily="34" charset="0"/>
                <a:ea typeface="Calibri" pitchFamily="34" charset="-122"/>
                <a:cs typeface="Calibri" pitchFamily="34" charset="-120"/>
              </a:rPr>
              <a:t>Run the simulated raw phase history through standard SAR image formation (RDA or ω-k) -- no special-casing needed</a:t>
            </a:r>
            <a:endParaRPr lang="en-US" sz="1550" dirty="0"/>
          </a:p>
          <a:p>
            <a:pPr marL="203200" indent="-203200">
              <a:lnSpc>
                <a:spcPct val="112000"/>
              </a:lnSpc>
              <a:spcAft>
                <a:spcPts val="1800"/>
              </a:spcAft>
              <a:buSzPct val="100000"/>
              <a:buChar char="•"/>
            </a:pPr>
            <a:r>
              <a:rPr lang="en-US" sz="1550" dirty="0">
                <a:solidFill>
                  <a:srgbClr val="141A22"/>
                </a:solidFill>
                <a:latin typeface="Calibri" pitchFamily="34" charset="0"/>
                <a:ea typeface="Calibri" pitchFamily="34" charset="-122"/>
                <a:cs typeface="Calibri" pitchFamily="34" charset="-120"/>
              </a:rPr>
              <a:t>Layover, shadow, double-bounce brightness, and speckle all emerge correctly here, because they were produced by genuine range/Doppler geometry upstream, not faked in image space</a:t>
            </a:r>
            <a:endParaRPr lang="en-US" sz="1550" dirty="0"/>
          </a:p>
          <a:p>
            <a:pPr marL="203200" indent="-203200">
              <a:lnSpc>
                <a:spcPct val="112000"/>
              </a:lnSpc>
              <a:spcAft>
                <a:spcPts val="1800"/>
              </a:spcAft>
              <a:buSzPct val="100000"/>
              <a:buChar char="•"/>
            </a:pPr>
            <a:r>
              <a:rPr lang="en-US" sz="1550" dirty="0">
                <a:solidFill>
                  <a:srgbClr val="141A22"/>
                </a:solidFill>
                <a:latin typeface="Calibri" pitchFamily="34" charset="0"/>
                <a:ea typeface="Calibri" pitchFamily="34" charset="-122"/>
                <a:cs typeface="Calibri" pitchFamily="34" charset="-120"/>
              </a:rPr>
              <a:t>This is also where the pipeline is falsifiable: compare simulated PSF/sidelobe structure and speckle statistics against known real-data behavior</a:t>
            </a:r>
            <a:endParaRPr lang="en-US" sz="1550" dirty="0"/>
          </a:p>
        </p:txBody>
      </p:sp>
      <p:sp>
        <p:nvSpPr>
          <p:cNvPr id="7" name="Text 4"/>
          <p:cNvSpPr/>
          <p:nvPr/>
        </p:nvSpPr>
        <p:spPr>
          <a:xfrm>
            <a:off x="11430000" y="6473952"/>
            <a:ext cx="548640" cy="274320"/>
          </a:xfrm>
          <a:prstGeom prst="rect">
            <a:avLst/>
          </a:prstGeom>
          <a:noFill/>
          <a:ln/>
        </p:spPr>
        <p:txBody>
          <a:bodyPr wrap="square" lIns="0" tIns="0" rIns="0" bIns="0"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SCOPING</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Fidelity tiers — pick your starting point</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480560"/>
        </p:xfrm>
        <a:graphic>
          <a:graphicData uri="http://schemas.openxmlformats.org/drawingml/2006/table">
            <a:tbl>
              <a:tblPr/>
              <a:tblGrid>
                <a:gridCol w="11887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746760">
                <a:tc>
                  <a:txBody>
                    <a:bodyPr/>
                    <a:lstStyle/>
                    <a:p>
                      <a:pPr marL="0" indent="0">
                        <a:buNone/>
                      </a:pPr>
                      <a:r>
                        <a:rPr lang="en-US" sz="1250" b="1" dirty="0">
                          <a:solidFill>
                            <a:srgbClr val="12161C"/>
                          </a:solidFill>
                          <a:latin typeface="Calibri" pitchFamily="34" charset="0"/>
                          <a:ea typeface="Calibri" pitchFamily="34" charset="-122"/>
                          <a:cs typeface="Calibri" pitchFamily="34" charset="-120"/>
                        </a:rPr>
                        <a:t>Tier</a:t>
                      </a:r>
                      <a:endParaRPr lang="en-US" sz="12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250" b="1" dirty="0">
                          <a:solidFill>
                            <a:srgbClr val="12161C"/>
                          </a:solidFill>
                          <a:latin typeface="Calibri" pitchFamily="34" charset="0"/>
                          <a:ea typeface="Calibri" pitchFamily="34" charset="-122"/>
                          <a:cs typeface="Calibri" pitchFamily="34" charset="-120"/>
                        </a:rPr>
                        <a:t>Approach</a:t>
                      </a:r>
                      <a:endParaRPr lang="en-US" sz="12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tc>
                  <a:txBody>
                    <a:bodyPr/>
                    <a:lstStyle/>
                    <a:p>
                      <a:pPr marL="0" indent="0">
                        <a:buNone/>
                      </a:pPr>
                      <a:r>
                        <a:rPr lang="en-US" sz="1250" b="1" dirty="0">
                          <a:solidFill>
                            <a:srgbClr val="12161C"/>
                          </a:solidFill>
                          <a:latin typeface="Calibri" pitchFamily="34" charset="0"/>
                          <a:ea typeface="Calibri" pitchFamily="34" charset="-122"/>
                          <a:cs typeface="Calibri" pitchFamily="34" charset="-120"/>
                        </a:rPr>
                        <a:t>Cost</a:t>
                      </a:r>
                      <a:endParaRPr lang="en-US" sz="12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F9E2C"/>
                    </a:solidFill>
                  </a:tcPr>
                </a:tc>
                <a:extLst>
                  <a:ext uri="{0D108BD9-81ED-4DB2-BD59-A6C34878D82A}">
                    <a16:rowId xmlns:a16="http://schemas.microsoft.com/office/drawing/2014/main" val="10000"/>
                  </a:ext>
                </a:extLst>
              </a:tr>
              <a:tr h="746760">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1 (MVP)</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Facet-based PO for specular structures + empirical σ⁰ for terrain + point-scatterer forward sim</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Days, reuses engine geometry directly</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746760">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Full SBR multi-bounce with Sinclair-matrix polarimetry</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Meaningfully more effort -- what RaySAR/SARCASTIC do</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746760">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Tier 2, with ASC-compressed scattering centers replacing per-pulse re-tracing for canonical structures</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Same fidelity, fraction of the runtime cost</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r h="746760">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Full MoM/PTD EM solve (FEKO/Xpatch-class tools)</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Production/calibration-grade, heavy compute -- likely overkill for prototyping</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4"/>
                  </a:ext>
                </a:extLst>
              </a:tr>
              <a:tr h="746760">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 weather</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Volumetric rain layer added on top of any tier above</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150" dirty="0">
                          <a:solidFill>
                            <a:srgbClr val="141A22"/>
                          </a:solidFill>
                          <a:latin typeface="Calibri" pitchFamily="34" charset="0"/>
                          <a:ea typeface="Calibri" pitchFamily="34" charset="-122"/>
                          <a:cs typeface="Calibri" pitchFamily="34" charset="-120"/>
                        </a:rPr>
                        <a:t>Orthogonal -- a clutter-layer addition, not a fidelity upgrade</a:t>
                      </a:r>
                      <a:endParaRPr lang="en-US" sz="115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5"/>
                  </a:ext>
                </a:extLst>
              </a:tr>
            </a:tbl>
          </a:graphicData>
        </a:graphic>
      </p:graphicFrame>
      <p:sp>
        <p:nvSpPr>
          <p:cNvPr id="5" name="Text 2"/>
          <p:cNvSpPr/>
          <p:nvPr/>
        </p:nvSpPr>
        <p:spPr>
          <a:xfrm>
            <a:off x="11430000" y="6473952"/>
            <a:ext cx="548640" cy="274320"/>
          </a:xfrm>
          <a:prstGeom prst="rect">
            <a:avLst/>
          </a:prstGeom>
          <a:noFill/>
          <a:ln/>
        </p:spPr>
        <p:txBody>
          <a:bodyPr wrap="square" lIns="0" tIns="0" rIns="0" bIns="0"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WORKED EXAMPLE, CONTINUED</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300" b="1" dirty="0">
                <a:solidFill>
                  <a:srgbClr val="141A22"/>
                </a:solidFill>
                <a:latin typeface="Cambria" pitchFamily="34" charset="0"/>
                <a:ea typeface="Cambria" pitchFamily="34" charset="-122"/>
                <a:cs typeface="Cambria" pitchFamily="34" charset="-120"/>
              </a:rPr>
              <a:t>Per-pulse phase history: dense SBR vs ASC</a:t>
            </a:r>
            <a:endParaRPr lang="en-US" sz="2300" dirty="0"/>
          </a:p>
        </p:txBody>
      </p:sp>
      <p:sp>
        <p:nvSpPr>
          <p:cNvPr id="4" name="Text 2"/>
          <p:cNvSpPr/>
          <p:nvPr/>
        </p:nvSpPr>
        <p:spPr>
          <a:xfrm>
            <a:off x="548640" y="1417320"/>
            <a:ext cx="10698480" cy="594360"/>
          </a:xfrm>
          <a:prstGeom prst="rect">
            <a:avLst/>
          </a:prstGeom>
          <a:noFill/>
          <a:ln/>
        </p:spPr>
        <p:txBody>
          <a:bodyPr wrap="square" lIns="0" tIns="0" rIns="0" bIns="0" rtlCol="0" anchor="ctr"/>
          <a:lstStyle/>
          <a:p>
            <a:pPr marL="0" indent="0">
              <a:lnSpc>
                <a:spcPct val="115000"/>
              </a:lnSpc>
              <a:buNone/>
            </a:pPr>
            <a:r>
              <a:rPr lang="en-US" sz="1250" i="1" dirty="0">
                <a:solidFill>
                  <a:srgbClr val="5B6672"/>
                </a:solidFill>
                <a:latin typeface="Calibri" pitchFamily="34" charset="0"/>
                <a:ea typeface="Calibri" pitchFamily="34" charset="-122"/>
                <a:cs typeface="Calibri" pitchFamily="34" charset="-120"/>
              </a:rPr>
              <a:t>Same city, same ~20,000 structures. Ray density: 6 rays/wavelength, 3-4 bounces (matches Ansys SBR+ documentation guidance). Diffuse terrain is excluded from the ray budget either way -- handled by the empirical clutter model, not ray-traced, regardless of which approach is used for structures.</a:t>
            </a:r>
            <a:endParaRPr lang="en-US" sz="1250" dirty="0"/>
          </a:p>
        </p:txBody>
      </p:sp>
      <p:graphicFrame>
        <p:nvGraphicFramePr>
          <p:cNvPr id="14" name="Table 0"/>
          <p:cNvGraphicFramePr>
            <a:graphicFrameLocks noGrp="1"/>
          </p:cNvGraphicFramePr>
          <p:nvPr/>
        </p:nvGraphicFramePr>
        <p:xfrm>
          <a:off x="548640" y="2194560"/>
          <a:ext cx="10698480" cy="2103120"/>
        </p:xfrm>
        <a:graphic>
          <a:graphicData uri="http://schemas.openxmlformats.org/drawingml/2006/table">
            <a:tbl>
              <a:tblPr/>
              <a:tblGrid>
                <a:gridCol w="61264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525780">
                <a:tc>
                  <a:txBody>
                    <a:bodyPr/>
                    <a:lstStyle/>
                    <a:p>
                      <a:pPr marL="0" indent="0">
                        <a:buNone/>
                      </a:pPr>
                      <a:r>
                        <a:rPr lang="en-US" sz="1200" b="1" dirty="0">
                          <a:solidFill>
                            <a:srgbClr val="12161C"/>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4FD8EB"/>
                    </a:solidFill>
                  </a:tcPr>
                </a:tc>
                <a:tc>
                  <a:txBody>
                    <a:bodyPr/>
                    <a:lstStyle/>
                    <a:p>
                      <a:pPr marL="0" indent="0">
                        <a:buNone/>
                      </a:pPr>
                      <a:r>
                        <a:rPr lang="en-US" sz="1200" b="1" dirty="0">
                          <a:solidFill>
                            <a:srgbClr val="12161C"/>
                          </a:solidFill>
                          <a:latin typeface="Calibri" pitchFamily="34" charset="0"/>
                          <a:ea typeface="Calibri" pitchFamily="34" charset="-122"/>
                          <a:cs typeface="Calibri" pitchFamily="34" charset="-120"/>
                        </a:rPr>
                        <a:t>Per-pulse cost</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4FD8EB"/>
                    </a:solidFill>
                  </a:tcPr>
                </a:tc>
                <a:tc>
                  <a:txBody>
                    <a:bodyPr/>
                    <a:lstStyle/>
                    <a:p>
                      <a:pPr marL="0" indent="0">
                        <a:buNone/>
                      </a:pPr>
                      <a:r>
                        <a:rPr lang="en-US" sz="1200" b="1" dirty="0">
                          <a:solidFill>
                            <a:srgbClr val="12161C"/>
                          </a:solidFill>
                          <a:latin typeface="Calibri" pitchFamily="34" charset="0"/>
                          <a:ea typeface="Calibri" pitchFamily="34" charset="-122"/>
                          <a:cs typeface="Calibri" pitchFamily="34" charset="-120"/>
                        </a:rPr>
                        <a:t>500-pulse collect</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4FD8EB"/>
                    </a:solidFill>
                  </a:tcPr>
                </a:tc>
                <a:extLst>
                  <a:ext uri="{0D108BD9-81ED-4DB2-BD59-A6C34878D82A}">
                    <a16:rowId xmlns:a16="http://schemas.microsoft.com/office/drawing/2014/main" val="10000"/>
                  </a:ext>
                </a:extLst>
              </a:tr>
              <a:tr h="525780">
                <a:tc>
                  <a:txBody>
                    <a:bodyPr/>
                    <a:lstStyle/>
                    <a:p>
                      <a:pPr marL="0" indent="0">
                        <a:buNone/>
                      </a:pPr>
                      <a:r>
                        <a:rPr lang="en-US" sz="1200" dirty="0">
                          <a:solidFill>
                            <a:srgbClr val="141A22"/>
                          </a:solidFill>
                          <a:latin typeface="Calibri" pitchFamily="34" charset="0"/>
                          <a:ea typeface="Calibri" pitchFamily="34" charset="-122"/>
                          <a:cs typeface="Calibri" pitchFamily="34" charset="-120"/>
                        </a:rPr>
                        <a:t>Naive dense SBR (whole footprint, wavelength-scale density, no tiering)</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200" dirty="0">
                          <a:solidFill>
                            <a:srgbClr val="141A22"/>
                          </a:solidFill>
                          <a:latin typeface="Calibri" pitchFamily="34" charset="0"/>
                          <a:ea typeface="Calibri" pitchFamily="34" charset="-122"/>
                          <a:cs typeface="Calibri" pitchFamily="34" charset="-120"/>
                        </a:rPr>
                        <a:t>~1-3 min</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200" dirty="0">
                          <a:solidFill>
                            <a:srgbClr val="141A22"/>
                          </a:solidFill>
                          <a:latin typeface="Calibri" pitchFamily="34" charset="0"/>
                          <a:ea typeface="Calibri" pitchFamily="34" charset="-122"/>
                          <a:cs typeface="Calibri" pitchFamily="34" charset="-120"/>
                        </a:rPr>
                        <a:t>~8-25 hours</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1"/>
                  </a:ext>
                </a:extLst>
              </a:tr>
              <a:tr h="525780">
                <a:tc>
                  <a:txBody>
                    <a:bodyPr/>
                    <a:lstStyle/>
                    <a:p>
                      <a:pPr marL="0" indent="0">
                        <a:buNone/>
                      </a:pPr>
                      <a:r>
                        <a:rPr lang="en-US" sz="1200" dirty="0">
                          <a:solidFill>
                            <a:srgbClr val="141A22"/>
                          </a:solidFill>
                          <a:latin typeface="Calibri" pitchFamily="34" charset="0"/>
                          <a:ea typeface="Calibri" pitchFamily="34" charset="-122"/>
                          <a:cs typeface="Calibri" pitchFamily="34" charset="-120"/>
                        </a:rPr>
                        <a:t>Fidelity-tiered dense SBR (structures only, terrain via empirical model)</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200" dirty="0">
                          <a:solidFill>
                            <a:srgbClr val="141A22"/>
                          </a:solidFill>
                          <a:latin typeface="Calibri" pitchFamily="34" charset="0"/>
                          <a:ea typeface="Calibri" pitchFamily="34" charset="-122"/>
                          <a:cs typeface="Calibri" pitchFamily="34" charset="-120"/>
                        </a:rPr>
                        <a:t>~1 sec</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200" dirty="0">
                          <a:solidFill>
                            <a:srgbClr val="141A22"/>
                          </a:solidFill>
                          <a:latin typeface="Calibri" pitchFamily="34" charset="0"/>
                          <a:ea typeface="Calibri" pitchFamily="34" charset="-122"/>
                          <a:cs typeface="Calibri" pitchFamily="34" charset="-120"/>
                        </a:rPr>
                        <a:t>~9-10 minutes</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2"/>
                  </a:ext>
                </a:extLst>
              </a:tr>
              <a:tr h="525780">
                <a:tc>
                  <a:txBody>
                    <a:bodyPr/>
                    <a:lstStyle/>
                    <a:p>
                      <a:pPr marL="0" indent="0">
                        <a:buNone/>
                      </a:pPr>
                      <a:r>
                        <a:rPr lang="en-US" sz="1200" dirty="0">
                          <a:solidFill>
                            <a:srgbClr val="141A22"/>
                          </a:solidFill>
                          <a:latin typeface="Calibri" pitchFamily="34" charset="0"/>
                          <a:ea typeface="Calibri" pitchFamily="34" charset="-122"/>
                          <a:cs typeface="Calibri" pitchFamily="34" charset="-120"/>
                        </a:rPr>
                        <a:t>ASC-cached (structures replaced by closed-form sum)</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200" dirty="0">
                          <a:solidFill>
                            <a:srgbClr val="141A22"/>
                          </a:solidFill>
                          <a:latin typeface="Calibri" pitchFamily="34" charset="0"/>
                          <a:ea typeface="Calibri" pitchFamily="34" charset="-122"/>
                          <a:cs typeface="Calibri" pitchFamily="34" charset="-120"/>
                        </a:rPr>
                        <a:t>milliseconds</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tc>
                  <a:txBody>
                    <a:bodyPr/>
                    <a:lstStyle/>
                    <a:p>
                      <a:pPr marL="0" indent="0">
                        <a:buNone/>
                      </a:pPr>
                      <a:r>
                        <a:rPr lang="en-US" sz="1200" dirty="0">
                          <a:solidFill>
                            <a:srgbClr val="141A22"/>
                          </a:solidFill>
                          <a:latin typeface="Calibri" pitchFamily="34" charset="0"/>
                          <a:ea typeface="Calibri" pitchFamily="34" charset="-122"/>
                          <a:cs typeface="Calibri" pitchFamily="34" charset="-120"/>
                        </a:rPr>
                        <a:t>seconds, overhead-dominated</a:t>
                      </a:r>
                      <a:endParaRPr lang="en-US" sz="1200" dirty="0">
                        <a:latin typeface="Calibri" charset="0"/>
                        <a:ea typeface="Calibri" charset="0"/>
                        <a:cs typeface="Calibri" charset="0"/>
                      </a:endParaRPr>
                    </a:p>
                  </a:txBody>
                  <a:tcPr anchor="ctr">
                    <a:lnL w="12700" cap="flat" cmpd="sng" algn="ctr">
                      <a:solidFill>
                        <a:srgbClr val="CBD3DB"/>
                      </a:solidFill>
                      <a:prstDash val="solid"/>
                      <a:round/>
                      <a:headEnd type="none" w="med" len="med"/>
                      <a:tailEnd type="none" w="med" len="med"/>
                    </a:lnL>
                    <a:lnR w="12700" cap="flat" cmpd="sng" algn="ctr">
                      <a:solidFill>
                        <a:srgbClr val="CBD3DB"/>
                      </a:solidFill>
                      <a:prstDash val="solid"/>
                      <a:round/>
                      <a:headEnd type="none" w="med" len="med"/>
                      <a:tailEnd type="none" w="med" len="med"/>
                    </a:lnR>
                    <a:lnT w="12700" cap="flat" cmpd="sng" algn="ctr">
                      <a:solidFill>
                        <a:srgbClr val="CBD3DB"/>
                      </a:solidFill>
                      <a:prstDash val="solid"/>
                      <a:round/>
                      <a:headEnd type="none" w="med" len="med"/>
                      <a:tailEnd type="none" w="med" len="med"/>
                    </a:lnT>
                    <a:lnB w="12700" cap="flat" cmpd="sng" algn="ctr">
                      <a:solidFill>
                        <a:srgbClr val="CBD3DB"/>
                      </a:solidFill>
                      <a:prstDash val="solid"/>
                      <a:round/>
                      <a:headEnd type="none" w="med" len="med"/>
                      <a:tailEnd type="none" w="med" len="med"/>
                    </a:lnB>
                    <a:solidFill>
                      <a:srgbClr val="F1F4F8"/>
                    </a:solidFill>
                  </a:tcPr>
                </a:tc>
                <a:extLst>
                  <a:ext uri="{0D108BD9-81ED-4DB2-BD59-A6C34878D82A}">
                    <a16:rowId xmlns:a16="http://schemas.microsoft.com/office/drawing/2014/main" val="10003"/>
                  </a:ext>
                </a:extLst>
              </a:tr>
            </a:tbl>
          </a:graphicData>
        </a:graphic>
      </p:graphicFrame>
      <p:sp>
        <p:nvSpPr>
          <p:cNvPr id="6" name="Shape 3"/>
          <p:cNvSpPr/>
          <p:nvPr/>
        </p:nvSpPr>
        <p:spPr>
          <a:xfrm>
            <a:off x="548640" y="4572000"/>
            <a:ext cx="10698480" cy="960120"/>
          </a:xfrm>
          <a:prstGeom prst="roundRect">
            <a:avLst>
              <a:gd name="adj" fmla="val 7619"/>
            </a:avLst>
          </a:prstGeom>
          <a:solidFill>
            <a:srgbClr val="E6EAF0"/>
          </a:solidFill>
          <a:ln/>
          <a:effectLst>
            <a:outerShdw blurRad="101600" dist="38100" dir="5400000" algn="bl" rotWithShape="0">
              <a:srgbClr val="9AA5B1">
                <a:alpha val="22000"/>
              </a:srgbClr>
            </a:outerShdw>
          </a:effectLst>
        </p:spPr>
      </p:sp>
      <p:sp>
        <p:nvSpPr>
          <p:cNvPr id="7" name="Text 4"/>
          <p:cNvSpPr/>
          <p:nvPr/>
        </p:nvSpPr>
        <p:spPr>
          <a:xfrm>
            <a:off x="822960" y="4572000"/>
            <a:ext cx="10149840" cy="960120"/>
          </a:xfrm>
          <a:prstGeom prst="rect">
            <a:avLst/>
          </a:prstGeom>
          <a:noFill/>
          <a:ln/>
        </p:spPr>
        <p:txBody>
          <a:bodyPr wrap="square" lIns="0" tIns="0" rIns="0" bIns="0" rtlCol="0" anchor="ctr"/>
          <a:lstStyle/>
          <a:p>
            <a:pPr marL="0" indent="0">
              <a:lnSpc>
                <a:spcPct val="115000"/>
              </a:lnSpc>
              <a:buNone/>
            </a:pPr>
            <a:r>
              <a:rPr lang="en-US" sz="1300" b="1" dirty="0">
                <a:solidFill>
                  <a:srgbClr val="0B7285"/>
                </a:solidFill>
                <a:latin typeface="Calibri" pitchFamily="34" charset="0"/>
                <a:ea typeface="Calibri" pitchFamily="34" charset="-122"/>
                <a:cs typeface="Calibri" pitchFamily="34" charset="-120"/>
              </a:rPr>
              <a:t>Two independent levers, and they stack:  </a:t>
            </a:r>
            <a:r>
              <a:rPr lang="en-US" sz="1300" dirty="0">
                <a:solidFill>
                  <a:srgbClr val="141A22"/>
                </a:solidFill>
                <a:latin typeface="Calibri" pitchFamily="34" charset="0"/>
                <a:ea typeface="Calibri" pitchFamily="34" charset="-122"/>
                <a:cs typeface="Calibri" pitchFamily="34" charset="-120"/>
              </a:rPr>
              <a:t>fidelity tiering alone (not ray-tracing bare terrain) buys roughly 100-200x over the naive approach, before ASC even enters. ASC on top of that buys another ~10^5x per pulse for the structures themselves.</a:t>
            </a:r>
            <a:endParaRPr lang="en-US" sz="1300" dirty="0"/>
          </a:p>
        </p:txBody>
      </p:sp>
      <p:sp>
        <p:nvSpPr>
          <p:cNvPr id="8" name="Shape 5"/>
          <p:cNvSpPr/>
          <p:nvPr/>
        </p:nvSpPr>
        <p:spPr>
          <a:xfrm>
            <a:off x="548640" y="5669280"/>
            <a:ext cx="10698480" cy="868680"/>
          </a:xfrm>
          <a:prstGeom prst="roundRect">
            <a:avLst>
              <a:gd name="adj" fmla="val 8421"/>
            </a:avLst>
          </a:prstGeom>
          <a:solidFill>
            <a:srgbClr val="F1F4F8"/>
          </a:solidFill>
          <a:ln/>
          <a:effectLst>
            <a:outerShdw blurRad="101600" dist="38100" dir="5400000" algn="bl" rotWithShape="0">
              <a:srgbClr val="9AA5B1">
                <a:alpha val="22000"/>
              </a:srgbClr>
            </a:outerShdw>
          </a:effectLst>
        </p:spPr>
      </p:sp>
      <p:sp>
        <p:nvSpPr>
          <p:cNvPr id="9" name="Text 6"/>
          <p:cNvSpPr/>
          <p:nvPr/>
        </p:nvSpPr>
        <p:spPr>
          <a:xfrm>
            <a:off x="822960" y="5669280"/>
            <a:ext cx="10149840" cy="868680"/>
          </a:xfrm>
          <a:prstGeom prst="rect">
            <a:avLst/>
          </a:prstGeom>
          <a:noFill/>
          <a:ln/>
        </p:spPr>
        <p:txBody>
          <a:bodyPr wrap="square" lIns="0" tIns="0" rIns="0" bIns="0" rtlCol="0" anchor="ctr"/>
          <a:lstStyle/>
          <a:p>
            <a:pPr marL="0" indent="0">
              <a:lnSpc>
                <a:spcPct val="110000"/>
              </a:lnSpc>
              <a:buNone/>
            </a:pPr>
            <a:r>
              <a:rPr lang="en-US" sz="1050" i="1" dirty="0">
                <a:solidFill>
                  <a:srgbClr val="5B6672"/>
                </a:solidFill>
                <a:latin typeface="Calibri" pitchFamily="34" charset="0"/>
                <a:ea typeface="Calibri" pitchFamily="34" charset="-122"/>
                <a:cs typeface="Calibri" pitchFamily="34" charset="-120"/>
              </a:rPr>
              <a:t>Fermi-estimate quality, not measured -- assumptions stated explicitly above. RT-core throughput and OptiX SAR acceleration are grounded in published benchmarks; the naive-vs-tiered ratio depends on how much of the footprint is actually built up. A city with 9,950 buildings has been ray-traced in ~100ms on 2004-era hardware (DLR/RaySAR lineage) at a coarser fidelity tier -- real evidence that the fidelity-tier choice, not just ASC caching, is a first-order lever.</a:t>
            </a:r>
            <a:endParaRPr lang="en-US" sz="1050" dirty="0"/>
          </a:p>
        </p:txBody>
      </p:sp>
      <p:sp>
        <p:nvSpPr>
          <p:cNvPr id="10" name="Text 7"/>
          <p:cNvSpPr/>
          <p:nvPr/>
        </p:nvSpPr>
        <p:spPr>
          <a:xfrm>
            <a:off x="11430000" y="6473952"/>
            <a:ext cx="548640" cy="274320"/>
          </a:xfrm>
          <a:prstGeom prst="rect">
            <a:avLst/>
          </a:prstGeom>
          <a:noFill/>
          <a:ln/>
        </p:spPr>
        <p:txBody>
          <a:bodyPr wrap="square" lIns="0" tIns="0" rIns="0" bIns="0"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92608"/>
          </a:xfrm>
          <a:prstGeom prst="rect">
            <a:avLst/>
          </a:prstGeom>
          <a:noFill/>
          <a:ln/>
        </p:spPr>
        <p:txBody>
          <a:bodyPr wrap="square" lIns="0" tIns="0" rIns="0" bIns="0" rtlCol="0" anchor="ctr"/>
          <a:lstStyle/>
          <a:p>
            <a:pPr marL="0" indent="0">
              <a:buNone/>
            </a:pPr>
            <a:r>
              <a:rPr lang="en-US" sz="1200" b="1" kern="0" spc="200" dirty="0">
                <a:solidFill>
                  <a:srgbClr val="B85C00"/>
                </a:solidFill>
                <a:latin typeface="Calibri" pitchFamily="34" charset="0"/>
                <a:ea typeface="Calibri" pitchFamily="34" charset="-122"/>
                <a:cs typeface="Calibri" pitchFamily="34" charset="-120"/>
              </a:rPr>
              <a:t>SPEEDUP, CONTINUED</a:t>
            </a:r>
            <a:endParaRPr lang="en-US" sz="1200" dirty="0"/>
          </a:p>
        </p:txBody>
      </p:sp>
      <p:sp>
        <p:nvSpPr>
          <p:cNvPr id="3" name="Text 1"/>
          <p:cNvSpPr/>
          <p:nvPr/>
        </p:nvSpPr>
        <p:spPr>
          <a:xfrm>
            <a:off x="548640" y="658368"/>
            <a:ext cx="10881360" cy="868680"/>
          </a:xfrm>
          <a:prstGeom prst="rect">
            <a:avLst/>
          </a:prstGeom>
          <a:noFill/>
          <a:ln/>
        </p:spPr>
        <p:txBody>
          <a:bodyPr wrap="square" lIns="0" tIns="0" rIns="0" bIns="0" rtlCol="0" anchor="t"/>
          <a:lstStyle/>
          <a:p>
            <a:pPr marL="0" indent="0">
              <a:buNone/>
            </a:pPr>
            <a:r>
              <a:rPr lang="en-US" sz="2800" b="1" dirty="0">
                <a:solidFill>
                  <a:srgbClr val="141A22"/>
                </a:solidFill>
                <a:latin typeface="Cambria" pitchFamily="34" charset="0"/>
                <a:ea typeface="Cambria" pitchFamily="34" charset="-122"/>
                <a:cs typeface="Cambria" pitchFamily="34" charset="-120"/>
              </a:rPr>
              <a:t>Where ASC wins, and where it doesn’t</a:t>
            </a:r>
            <a:endParaRPr lang="en-US" sz="2800" dirty="0"/>
          </a:p>
        </p:txBody>
      </p:sp>
      <p:sp>
        <p:nvSpPr>
          <p:cNvPr id="4" name="Shape 2"/>
          <p:cNvSpPr/>
          <p:nvPr/>
        </p:nvSpPr>
        <p:spPr>
          <a:xfrm>
            <a:off x="548640" y="1783080"/>
            <a:ext cx="5120640" cy="4251960"/>
          </a:xfrm>
          <a:prstGeom prst="roundRect">
            <a:avLst>
              <a:gd name="adj" fmla="val 1720"/>
            </a:avLst>
          </a:prstGeom>
          <a:solidFill>
            <a:srgbClr val="F1F4F8"/>
          </a:solidFill>
          <a:ln/>
          <a:effectLst>
            <a:outerShdw blurRad="101600" dist="38100" dir="5400000" algn="bl" rotWithShape="0">
              <a:srgbClr val="9AA5B1">
                <a:alpha val="22000"/>
              </a:srgbClr>
            </a:outerShdw>
          </a:effectLst>
        </p:spPr>
      </p:sp>
      <p:sp>
        <p:nvSpPr>
          <p:cNvPr id="5" name="Text 3"/>
          <p:cNvSpPr/>
          <p:nvPr/>
        </p:nvSpPr>
        <p:spPr>
          <a:xfrm>
            <a:off x="822960" y="1965960"/>
            <a:ext cx="4572000" cy="365760"/>
          </a:xfrm>
          <a:prstGeom prst="rect">
            <a:avLst/>
          </a:prstGeom>
          <a:noFill/>
          <a:ln/>
        </p:spPr>
        <p:txBody>
          <a:bodyPr wrap="square" lIns="0" tIns="0" rIns="0" bIns="0" rtlCol="0" anchor="ctr"/>
          <a:lstStyle/>
          <a:p>
            <a:pPr marL="0" indent="0">
              <a:buNone/>
            </a:pPr>
            <a:r>
              <a:rPr lang="en-US" sz="1400" b="1" kern="0" spc="200" dirty="0">
                <a:solidFill>
                  <a:srgbClr val="0B7285"/>
                </a:solidFill>
                <a:latin typeface="Calibri" pitchFamily="34" charset="0"/>
                <a:ea typeface="Calibri" pitchFamily="34" charset="-122"/>
                <a:cs typeface="Calibri" pitchFamily="34" charset="-120"/>
              </a:rPr>
              <a:t>WINS</a:t>
            </a:r>
            <a:endParaRPr lang="en-US" sz="1400" dirty="0"/>
          </a:p>
        </p:txBody>
      </p:sp>
      <p:sp>
        <p:nvSpPr>
          <p:cNvPr id="6" name="Text 4"/>
          <p:cNvSpPr/>
          <p:nvPr/>
        </p:nvSpPr>
        <p:spPr>
          <a:xfrm>
            <a:off x="822960" y="2423160"/>
            <a:ext cx="4572000" cy="3429000"/>
          </a:xfrm>
          <a:prstGeom prst="rect">
            <a:avLst/>
          </a:prstGeom>
          <a:noFill/>
          <a:ln/>
        </p:spPr>
        <p:txBody>
          <a:bodyPr wrap="square" lIns="0" tIns="0" rIns="0" bIns="0" rtlCol="0" anchor="t"/>
          <a:lstStyle/>
          <a:p>
            <a:pPr marL="203200" indent="-203200">
              <a:lnSpc>
                <a:spcPct val="112000"/>
              </a:lnSpc>
              <a:spcAft>
                <a:spcPts val="1400"/>
              </a:spcAft>
              <a:buSzPct val="100000"/>
              <a:buChar char="•"/>
            </a:pPr>
            <a:r>
              <a:rPr lang="en-US" sz="1350" dirty="0">
                <a:solidFill>
                  <a:srgbClr val="141A22"/>
                </a:solidFill>
                <a:latin typeface="Calibri" pitchFamily="34" charset="0"/>
                <a:ea typeface="Calibri" pitchFamily="34" charset="-122"/>
                <a:cs typeface="Calibri" pitchFamily="34" charset="-120"/>
              </a:rPr>
              <a:t>Canonical dihedral/corner structures -- RCS-vs-aspect is analytically known; skip ray tracing, inject fitted/known ASC parameters directly</a:t>
            </a:r>
            <a:endParaRPr lang="en-US" sz="1350" dirty="0"/>
          </a:p>
          <a:p>
            <a:pPr marL="203200" indent="-203200">
              <a:lnSpc>
                <a:spcPct val="112000"/>
              </a:lnSpc>
              <a:spcAft>
                <a:spcPts val="1400"/>
              </a:spcAft>
              <a:buSzPct val="100000"/>
              <a:buChar char="•"/>
            </a:pPr>
            <a:r>
              <a:rPr lang="en-US" sz="1350" dirty="0">
                <a:solidFill>
                  <a:srgbClr val="141A22"/>
                </a:solidFill>
                <a:latin typeface="Calibri" pitchFamily="34" charset="0"/>
                <a:ea typeface="Calibri" pitchFamily="34" charset="-122"/>
                <a:cs typeface="Calibri" pitchFamily="34" charset="-120"/>
              </a:rPr>
              <a:t>Bonus: this is the same representation used for known-target matched-filter detection (model-based ATR) -- the sim doubles as the detector’s reference template</a:t>
            </a:r>
            <a:endParaRPr lang="en-US" sz="1350" dirty="0"/>
          </a:p>
        </p:txBody>
      </p:sp>
      <p:sp>
        <p:nvSpPr>
          <p:cNvPr id="7" name="Shape 5"/>
          <p:cNvSpPr/>
          <p:nvPr/>
        </p:nvSpPr>
        <p:spPr>
          <a:xfrm>
            <a:off x="6126480" y="1783080"/>
            <a:ext cx="5120640" cy="4251960"/>
          </a:xfrm>
          <a:prstGeom prst="roundRect">
            <a:avLst>
              <a:gd name="adj" fmla="val 1720"/>
            </a:avLst>
          </a:prstGeom>
          <a:solidFill>
            <a:srgbClr val="F1F4F8"/>
          </a:solidFill>
          <a:ln/>
          <a:effectLst>
            <a:outerShdw blurRad="101600" dist="38100" dir="5400000" algn="bl" rotWithShape="0">
              <a:srgbClr val="9AA5B1">
                <a:alpha val="22000"/>
              </a:srgbClr>
            </a:outerShdw>
          </a:effectLst>
        </p:spPr>
      </p:sp>
      <p:sp>
        <p:nvSpPr>
          <p:cNvPr id="8" name="Text 6"/>
          <p:cNvSpPr/>
          <p:nvPr/>
        </p:nvSpPr>
        <p:spPr>
          <a:xfrm>
            <a:off x="6400800" y="1965960"/>
            <a:ext cx="4572000" cy="365760"/>
          </a:xfrm>
          <a:prstGeom prst="rect">
            <a:avLst/>
          </a:prstGeom>
          <a:noFill/>
          <a:ln/>
        </p:spPr>
        <p:txBody>
          <a:bodyPr wrap="square" lIns="0" tIns="0" rIns="0" bIns="0" rtlCol="0" anchor="ctr"/>
          <a:lstStyle/>
          <a:p>
            <a:pPr marL="0" indent="0">
              <a:buNone/>
            </a:pPr>
            <a:r>
              <a:rPr lang="en-US" sz="1400" b="1" kern="0" spc="200" dirty="0">
                <a:solidFill>
                  <a:srgbClr val="B85C00"/>
                </a:solidFill>
                <a:latin typeface="Calibri" pitchFamily="34" charset="0"/>
                <a:ea typeface="Calibri" pitchFamily="34" charset="-122"/>
                <a:cs typeface="Calibri" pitchFamily="34" charset="-120"/>
              </a:rPr>
              <a:t>CAVEATS</a:t>
            </a:r>
            <a:endParaRPr lang="en-US" sz="1400" dirty="0"/>
          </a:p>
        </p:txBody>
      </p:sp>
      <p:sp>
        <p:nvSpPr>
          <p:cNvPr id="9" name="Text 7"/>
          <p:cNvSpPr/>
          <p:nvPr/>
        </p:nvSpPr>
        <p:spPr>
          <a:xfrm>
            <a:off x="6400800" y="2423160"/>
            <a:ext cx="4572000" cy="3429000"/>
          </a:xfrm>
          <a:prstGeom prst="rect">
            <a:avLst/>
          </a:prstGeom>
          <a:noFill/>
          <a:ln/>
        </p:spPr>
        <p:txBody>
          <a:bodyPr wrap="square" lIns="0" tIns="0" rIns="0" bIns="0" rtlCol="0" anchor="t"/>
          <a:lstStyle/>
          <a:p>
            <a:pPr marL="203200" indent="-203200">
              <a:lnSpc>
                <a:spcPct val="112000"/>
              </a:lnSpc>
              <a:spcAft>
                <a:spcPts val="1000"/>
              </a:spcAft>
              <a:buSzPct val="100000"/>
              <a:buChar char="•"/>
            </a:pPr>
            <a:r>
              <a:rPr lang="en-US" sz="1350" dirty="0">
                <a:solidFill>
                  <a:srgbClr val="141A22"/>
                </a:solidFill>
                <a:latin typeface="Calibri" pitchFamily="34" charset="0"/>
                <a:ea typeface="Calibri" pitchFamily="34" charset="-122"/>
                <a:cs typeface="Calibri" pitchFamily="34" charset="-120"/>
              </a:rPr>
              <a:t>Locality: valid over the aspect/frequency sector it was fit for -- fine for one bounded aperture, not a full 360° sweep without re-fitting</a:t>
            </a:r>
            <a:endParaRPr lang="en-US" sz="1350" dirty="0"/>
          </a:p>
          <a:p>
            <a:pPr marL="203200" indent="-203200">
              <a:lnSpc>
                <a:spcPct val="112000"/>
              </a:lnSpc>
              <a:spcAft>
                <a:spcPts val="1000"/>
              </a:spcAft>
              <a:buSzPct val="100000"/>
              <a:buChar char="•"/>
            </a:pPr>
            <a:r>
              <a:rPr lang="en-US" sz="1350" dirty="0">
                <a:solidFill>
                  <a:srgbClr val="141A22"/>
                </a:solidFill>
                <a:latin typeface="Calibri" pitchFamily="34" charset="0"/>
                <a:ea typeface="Calibri" pitchFamily="34" charset="-122"/>
                <a:cs typeface="Calibri" pitchFamily="34" charset="-120"/>
              </a:rPr>
              <a:t>Fitting cost is real (model order, initialization) -- but one-time per structure, amortized over many pulses</a:t>
            </a:r>
            <a:endParaRPr lang="en-US" sz="1350" dirty="0"/>
          </a:p>
          <a:p>
            <a:pPr marL="203200" indent="-203200">
              <a:lnSpc>
                <a:spcPct val="112000"/>
              </a:lnSpc>
              <a:spcAft>
                <a:spcPts val="1000"/>
              </a:spcAft>
              <a:buSzPct val="100000"/>
              <a:buChar char="•"/>
            </a:pPr>
            <a:r>
              <a:rPr lang="en-US" sz="1350" dirty="0">
                <a:solidFill>
                  <a:srgbClr val="141A22"/>
                </a:solidFill>
                <a:latin typeface="Calibri" pitchFamily="34" charset="0"/>
                <a:ea typeface="Calibri" pitchFamily="34" charset="-122"/>
                <a:cs typeface="Calibri" pitchFamily="34" charset="-120"/>
              </a:rPr>
              <a:t>Doesn’t help diffuse clutter -- vegetation/rough terrain has no discrete centers to fit</a:t>
            </a:r>
            <a:endParaRPr lang="en-US" sz="1350" dirty="0"/>
          </a:p>
        </p:txBody>
      </p:sp>
      <p:sp>
        <p:nvSpPr>
          <p:cNvPr id="10" name="Text 8"/>
          <p:cNvSpPr/>
          <p:nvPr/>
        </p:nvSpPr>
        <p:spPr>
          <a:xfrm>
            <a:off x="11430000" y="6473952"/>
            <a:ext cx="548640" cy="274320"/>
          </a:xfrm>
          <a:prstGeom prst="rect">
            <a:avLst/>
          </a:prstGeom>
          <a:noFill/>
          <a:ln/>
        </p:spPr>
        <p:txBody>
          <a:bodyPr wrap="square" lIns="0" tIns="0" rIns="0" bIns="0" rtlCol="0" anchor="ctr"/>
          <a:lstStyle/>
          <a:p>
            <a:pPr marL="0" indent="0" algn="r">
              <a:buNone/>
            </a:pPr>
            <a:r>
              <a:rPr lang="en-US" sz="1000" dirty="0">
                <a:solidFill>
                  <a:srgbClr val="5B667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13388</TotalTime>
  <Words>9878</Words>
  <Application>Microsoft Office PowerPoint</Application>
  <PresentationFormat>Widescreen</PresentationFormat>
  <Paragraphs>517</Paragraphs>
  <Slides>38</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Cambria</vt:lpstr>
      <vt:lpstr>Cambria Math</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3D Scene to SAR Image</dc:title>
  <dc:subject>PptxGenJS Presentation</dc:subject>
  <dc:creator>sar_sim</dc:creator>
  <cp:lastModifiedBy>Dana  Phillips</cp:lastModifiedBy>
  <cp:revision>40</cp:revision>
  <dcterms:created xsi:type="dcterms:W3CDTF">2026-07-21T15:45:59Z</dcterms:created>
  <dcterms:modified xsi:type="dcterms:W3CDTF">2026-07-31T12:22:04Z</dcterms:modified>
</cp:coreProperties>
</file>