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80" r:id="rId5"/>
    <p:sldId id="285" r:id="rId6"/>
    <p:sldId id="263" r:id="rId7"/>
    <p:sldId id="289" r:id="rId8"/>
    <p:sldId id="291" r:id="rId9"/>
    <p:sldId id="286" r:id="rId10"/>
    <p:sldId id="264" r:id="rId11"/>
    <p:sldId id="267" r:id="rId12"/>
    <p:sldId id="284" r:id="rId13"/>
    <p:sldId id="266" r:id="rId14"/>
    <p:sldId id="268" r:id="rId15"/>
    <p:sldId id="269" r:id="rId16"/>
    <p:sldId id="282" r:id="rId17"/>
    <p:sldId id="283" r:id="rId18"/>
    <p:sldId id="270" r:id="rId19"/>
    <p:sldId id="259" r:id="rId20"/>
    <p:sldId id="290" r:id="rId21"/>
    <p:sldId id="293" r:id="rId22"/>
    <p:sldId id="294" r:id="rId23"/>
    <p:sldId id="296" r:id="rId24"/>
    <p:sldId id="297" r:id="rId25"/>
    <p:sldId id="279" r:id="rId26"/>
    <p:sldId id="288" r:id="rId27"/>
    <p:sldId id="275" r:id="rId28"/>
    <p:sldId id="276" r:id="rId29"/>
    <p:sldId id="277" r:id="rId30"/>
    <p:sldId id="278" r:id="rId31"/>
    <p:sldId id="260" r:id="rId32"/>
    <p:sldId id="261" r:id="rId33"/>
    <p:sldId id="262" r:id="rId34"/>
    <p:sldId id="271" r:id="rId35"/>
    <p:sldId id="272" r:id="rId36"/>
    <p:sldId id="273" r:id="rId37"/>
    <p:sldId id="287" r:id="rId38"/>
    <p:sldId id="26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09" autoAdjust="0"/>
  </p:normalViewPr>
  <p:slideViewPr>
    <p:cSldViewPr snapToGrid="0" snapToObjects="1">
      <p:cViewPr varScale="1">
        <p:scale>
          <a:sx n="120" d="100"/>
          <a:sy n="120" d="100"/>
        </p:scale>
        <p:origin x="12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distinct from the previous slide's "why simulate at all" framing -- this is "who specifically uses it and for what," so it should survive a "sure, but what would you actually use it for" follow-up question. The tasking cost figures are from Airbus/Astrium GEO's published TerraSAR-X International Price List (2011 issue, the most granular public one available) -- new-acquisition scene prices run €1,375 (StripMap, 3m) up to €6,750 (High-Resolution SpotLight, 1m), with 90-day archive data at roughly half that; more recent retail quotes for other resolution/urgency combinations run higher (up to €13,500 for rush high-res tasking), so €1,375-€6,750 is a defensible, sourced floor-to-typical range rather than a worst-case. The "pre-fly the collection plan" point is the sharpest version of the economic argument: it's not just that simulated collects are cheaper than real ones, it's that simulation lets you find the standoff/altitude/resolution combination that actually resolves the target of interest BEFORE spending real tasking budget on a collect that might turn out to have the wrong geometry -- exactly the standoff/altitude/depression-angle tuning this deck's own Tier 2 validation collect went through this session (accidentally grazing incidence at one point, corrected before the final run).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197/200 (98.5%) pass. The 3 failing buildings (worst: 0.923) are consistently the SHORTEST in the scene (6.5-19m, vs. up to 40m elsewhere) with the smallest crops (35-68px) -- least layover margin and least spatial context for the SSIM window, not a systemic geometry problem; the geometry itself (standoff/altitude/resolution) was iterated specifically to remove an earlier, much worse failure mode where edge-of-scene buildings viewed at large incidence-angle swings (7 deg edge-to-edge at an earlier, too-short standoff) or a too-shallow ~2.9 deg depression angle (an intermediate misstep, altitude not scaled with standoff) drove per-building SSIM as low as 0.92-0.92 for a third of the scene. Real measured cost, not modeled, both from the same 450-pulse run on the RTX 4050: dense SBR 3108ms/pulse, 1398s (23.3 min) total; ASC-cached 3.8ms/pulse, 1.7s total -- 818x faster per pulse, 822x faster end to end. This is bigger than the Generation Speed slide's 125x (slide 7) because that number was never measured -- it came from flat per-structure cost constants (R_ANSYS=75us/structure, R_ASC=0.5us/structure in radar_params.py) standing in for a dense ray tracer that was never actually built or profiled. Once a real ray-facet intersector was built for this validation (O(rays x facets) occlusion, 67,081 rays x 1000 facets per pulse) and measured against the same O(facets) ASC backface-cull evaluation, real geometric occlusion turned out substantially more expensive per structure than the 75us placeholder assumed. GPU memory chunking (added to keep ray-facet intersection within VRAM budget on the RTX 4050) is not the explanation for the gap -- at this scene's facet count chunking adds roughly 8 kernel launches per pulse, negligible against 3.1s/pulse. The right reading: 125x was a napkin estimate for an unbuilt comparison; 818x is what the real cost of ray-traced occlusion vs a closed-form cache actually looks like once both sides exist and get profiled.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16/200 buildings (8%) pass the Tier 2 SSIM&gt;=0.95 criterion but fail an equivalent coherence&gt;=0.95 threshold -- the worst case, building 8 (h=25.4m), scores SSIM=0.971 (a clean pass) but coherence=0.678, one of only two buildings below 0.70 in the whole scene (the other, building 33 at h=7.1m, was already flagged in the previous slide's notes as having an anomalously high phase RMS of 40.6 degrees -- coherence explains why: it is the single worst-agreeing building in the scene by this metric too). Notably this coherence-flagged population is NOT the same population as the SSIM-worst-5 from the previous slide: the SSIM failures were the shortest buildings (least layover margin, smallest crops); most of the coherence mismatches are mid-to-tall buildings (17-37m) with large, well-sampled crops, so this is a genuinely different, additional signal, not just the same short-building effect showing up twice. Phase bias sitting at -0.04 degrees (whole-image) and similarly near-zero per-building confirms there is no systematic reference-range or mocomp convention mismatch between the two branches -- whatever is driving the coherence gap is localized disagreement (candidate explanation, not yet confirmed: sub-pixel misalignment of the dominant scatterer position between the ray-traced dense-SBR return and the analytic ASC point-return for these specific facets), not a global bug. Correct interpretation to give in the room: this does not overturn the Tier 2 pass -- SSIM plus per-building scoring is still the primary, deck-stated criterion -- but it is real evidence that SSIM alone has a blind spot for a meaningful minority (8%)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54513-44E0-1974-5A82-1602EA3CE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5B058E-5B8B-0C58-E9F5-76AEFF84B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67415F-5D90-E24E-4E9B-627A6A0EECCA}"/>
              </a:ext>
            </a:extLst>
          </p:cNvPr>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197/200 (98.5%) pass. The 3 failing buildings (worst: 0.923) are consistently the SHORTEST in the scene (6.5-19m, vs. up to 40m elsewhere) with the smallest crops (35-68px) -- least layover margin and least spatial context for the SSIM window, not a systemic geometry problem; the geometry itself (standoff/altitude/resolution) was iterated specifically to remove an earlier, much worse failure mode where edge-of-scene buildings viewed at large incidence-angle swings (7 deg edge-to-edge at an earlier, too-short standoff) or a too-shallow ~2.9 deg depression angle (an intermediate misstep, altitude not scaled with standoff) drove per-building SSIM as low as 0.92-0.92 for a third of the scene. Real measured cost, not modeled, both from the same 450-pulse run on the RTX 4050: dense SBR 3108ms/pulse, 1398s (23.3 min) total; ASC-cached 3.8ms/pulse, 1.7s total -- 818x faster per pulse, 822x faster end to end. This is bigger than the Generation Speed slide's 125x (slide 7) because that number was never measured -- it came from flat per-structure cost constants (R_ANSYS=75us/structure, R_ASC=0.5us/structure in radar_params.py) standing in for a dense ray tracer that was never actually built or profiled. Once a real ray-facet intersector was built for this validation (O(rays x facets) occlusion, 67,081 rays x 1000 facets per pulse) and measured against the same O(facets) ASC backface-cull evaluation, real geometric occlusion turned out substantially more expensive per structure than the 75us placeholder assumed. GPU memory chunking (added to keep ray-facet intersection within VRAM budget on the RTX 4050) is not the explanation for the gap -- at this scene's facet count chunking adds roughly 8 kernel launches per pulse, negligible against 3.1s/pulse. The right reading: 125x was a napkin estimate for an unbuilt comparison; 818x is what the real cost of ray-traced occlusion vs a closed-form cache actually looks like once both sides exist and get profiled.</a:t>
            </a:r>
          </a:p>
        </p:txBody>
      </p:sp>
      <p:sp>
        <p:nvSpPr>
          <p:cNvPr id="4" name="Slide Number Placeholder 3">
            <a:extLst>
              <a:ext uri="{FF2B5EF4-FFF2-40B4-BE49-F238E27FC236}">
                <a16:creationId xmlns:a16="http://schemas.microsoft.com/office/drawing/2014/main" id="{17698E2C-DD03-A0C9-66EA-E1631B2FFB04}"/>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6688104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C3719-DF00-72A8-E431-07A060FD33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1F3F1-4100-7F09-793C-F1EEAAB5F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FFD04-F4EE-48FD-160E-B35DBED15F41}"/>
              </a:ext>
            </a:extLst>
          </p:cNvPr>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16/200 buildings (8%) pass the Tier 2 SSIM&gt;=0.95 criterion but fail an equivalent coherence&gt;=0.95 threshold -- the worst case, building 8 (h=25.4m), scores SSIM=0.971 (a clean pass) but coherence=0.678, one of only two buildings below 0.70 in the whole scene (the other, building 33 at h=7.1m, was already flagged in the previous slide's notes as having an anomalously high phase RMS of 40.6 degrees -- coherence explains why: it is the single worst-agreeing building in the scene by this metric too). Notably this coherence-flagged population is NOT the same population as the SSIM-worst-5 from the previous slide: the SSIM failures were the shortest buildings (least layover margin, smallest crops); most of the coherence mismatches are mid-to-tall buildings (17-37m) with large, well-sampled crops, so this is a genuinely different, additional signal, not just the same short-building effect showing up twice. Phase bias sitting at -0.04 degrees (whole-image) and similarly near-zero per-building confirms there is no systematic reference-range or mocomp convention mismatch between the two branches -- whatever is driving the coherence gap is localized disagreement (candidate explanation, not yet confirmed: sub-pixel misalignment of the dominant scatterer position between the ray-traced dense-SBR return and the analytic ASC point-return for these specific facets), not a global bug. Correct interpretation to give in the room: this does not overturn the Tier 2 pass -- SSIM plus per-building scoring is still the primary, deck-stated criterion -- but it is real evidence that SSIM alone has a blind spot for a meaningful minority (8%) of structures, and a coherence threshold is worth adding alongside SSIM in the Tier 2 pass criteria on the Validation table, not swapped in to replace it.</a:t>
            </a:r>
          </a:p>
        </p:txBody>
      </p:sp>
      <p:sp>
        <p:nvSpPr>
          <p:cNvPr id="4" name="Slide Number Placeholder 3">
            <a:extLst>
              <a:ext uri="{FF2B5EF4-FFF2-40B4-BE49-F238E27FC236}">
                <a16:creationId xmlns:a16="http://schemas.microsoft.com/office/drawing/2014/main" id="{E9F70507-381A-2F37-2A50-37994BBCB3B5}"/>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7702739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Concrete use cases: who runs this, and for what</a:t>
            </a:r>
            <a:endParaRPr lang="en-US" sz="2400" dirty="0"/>
          </a:p>
        </p:txBody>
      </p:sp>
      <p:sp>
        <p:nvSpPr>
          <p:cNvPr id="4" name="Text 2"/>
          <p:cNvSpPr/>
          <p:nvPr/>
        </p:nvSpPr>
        <p:spPr>
          <a:xfrm>
            <a:off x="548640" y="1234440"/>
            <a:ext cx="11091672" cy="457200"/>
          </a:xfrm>
          <a:prstGeom prst="rect">
            <a:avLst/>
          </a:prstGeom>
          <a:noFill/>
          <a:ln/>
        </p:spPr>
        <p:txBody>
          <a:bodyPr wrap="square" lIns="0" tIns="0" rIns="0" bIns="0" rtlCol="0" anchor="ctr"/>
          <a:lstStyle/>
          <a:p>
            <a:pPr marL="0" indent="0">
              <a:lnSpc>
                <a:spcPct val="112000"/>
              </a:lnSpc>
              <a:buNone/>
            </a:pPr>
            <a:r>
              <a:rPr lang="en-US" sz="1250" i="1" dirty="0">
                <a:solidFill>
                  <a:srgbClr val="5B6672"/>
                </a:solidFill>
                <a:latin typeface="Calibri" pitchFamily="34" charset="0"/>
                <a:ea typeface="Calibri" pitchFamily="34" charset="-122"/>
                <a:cs typeface="Calibri" pitchFamily="34" charset="-120"/>
              </a:rPr>
              <a:t>Beyond the general motivation (previous slide): three places a controllable, ground-truthed SAR forward model earns its keep in practice.</a:t>
            </a:r>
            <a:endParaRPr lang="en-US" sz="1250" dirty="0"/>
          </a:p>
        </p:txBody>
      </p:sp>
      <p:sp>
        <p:nvSpPr>
          <p:cNvPr id="5" name="Shape 3"/>
          <p:cNvSpPr/>
          <p:nvPr/>
        </p:nvSpPr>
        <p:spPr>
          <a:xfrm>
            <a:off x="548640"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822960" y="2103120"/>
            <a:ext cx="566928" cy="566928"/>
          </a:xfrm>
          <a:prstGeom prst="ellipse">
            <a:avLst/>
          </a:prstGeom>
          <a:solidFill>
            <a:srgbClr val="FF9E2C"/>
          </a:solidFill>
          <a:ln/>
        </p:spPr>
      </p:sp>
      <p:pic>
        <p:nvPicPr>
          <p:cNvPr id="7" name="Image 0" descr="/sessions/sweet-friendly-mayer/mnt/outputs/presentation/icons/FaCheckCircle_dark.png"/>
          <p:cNvPicPr>
            <a:picLocks noChangeAspect="1"/>
          </p:cNvPicPr>
          <p:nvPr/>
        </p:nvPicPr>
        <p:blipFill>
          <a:blip r:embed="rId3"/>
          <a:stretch>
            <a:fillRect/>
          </a:stretch>
        </p:blipFill>
        <p:spPr>
          <a:xfrm>
            <a:off x="976031" y="2256191"/>
            <a:ext cx="260787" cy="260787"/>
          </a:xfrm>
          <a:prstGeom prst="rect">
            <a:avLst/>
          </a:prstGeom>
        </p:spPr>
      </p:pic>
      <p:sp>
        <p:nvSpPr>
          <p:cNvPr id="8" name="Text 5"/>
          <p:cNvSpPr/>
          <p:nvPr/>
        </p:nvSpPr>
        <p:spPr>
          <a:xfrm>
            <a:off x="822960"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ATR &amp; Detection</a:t>
            </a:r>
            <a:endParaRPr lang="en-US" sz="1450" dirty="0"/>
          </a:p>
        </p:txBody>
      </p:sp>
      <p:sp>
        <p:nvSpPr>
          <p:cNvPr id="9" name="Text 6"/>
          <p:cNvSpPr/>
          <p:nvPr/>
        </p:nvSpPr>
        <p:spPr>
          <a:xfrm>
            <a:off x="822960"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Training data augmentation via target injection into real clutter -- covers rare target classes/poses real collections can't supply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Model-based / matched-filter detection templates – simulated model double as the detector's reference signature</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Synthetic scenario generation for analyst training and benchmark construction, with exact ground-truth labels no manual annotation can match</a:t>
            </a:r>
            <a:endParaRPr lang="en-US" sz="1050" dirty="0"/>
          </a:p>
        </p:txBody>
      </p:sp>
      <p:sp>
        <p:nvSpPr>
          <p:cNvPr id="10" name="Shape 7"/>
          <p:cNvSpPr/>
          <p:nvPr/>
        </p:nvSpPr>
        <p:spPr>
          <a:xfrm>
            <a:off x="4334256"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4608576" y="2103120"/>
            <a:ext cx="566928" cy="566928"/>
          </a:xfrm>
          <a:prstGeom prst="ellipse">
            <a:avLst/>
          </a:prstGeom>
          <a:solidFill>
            <a:srgbClr val="4FD8EB"/>
          </a:solidFill>
          <a:ln/>
        </p:spPr>
      </p:sp>
      <p:pic>
        <p:nvPicPr>
          <p:cNvPr id="12" name="Image 1" descr="/sessions/sweet-friendly-mayer/mnt/outputs/presentation/icons/FaTools_dark.png"/>
          <p:cNvPicPr>
            <a:picLocks noChangeAspect="1"/>
          </p:cNvPicPr>
          <p:nvPr/>
        </p:nvPicPr>
        <p:blipFill>
          <a:blip r:embed="rId4"/>
          <a:stretch>
            <a:fillRect/>
          </a:stretch>
        </p:blipFill>
        <p:spPr>
          <a:xfrm>
            <a:off x="4761647" y="2256191"/>
            <a:ext cx="260787" cy="260787"/>
          </a:xfrm>
          <a:prstGeom prst="rect">
            <a:avLst/>
          </a:prstGeom>
        </p:spPr>
      </p:pic>
      <p:sp>
        <p:nvSpPr>
          <p:cNvPr id="13" name="Text 9"/>
          <p:cNvSpPr/>
          <p:nvPr/>
        </p:nvSpPr>
        <p:spPr>
          <a:xfrm>
            <a:off x="4608576"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Algorithm Development &amp; Test</a:t>
            </a:r>
            <a:endParaRPr lang="en-US" sz="1450" dirty="0"/>
          </a:p>
        </p:txBody>
      </p:sp>
      <p:sp>
        <p:nvSpPr>
          <p:cNvPr id="14" name="Text 10"/>
          <p:cNvSpPr/>
          <p:nvPr/>
        </p:nvSpPr>
        <p:spPr>
          <a:xfrm>
            <a:off x="4608576"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Ground Moving Target Indicator (GMTI) -- exercise a mover detector against known-truth radial velocity and clutter notch before recording live multi-channel data</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Change-detection algorithm testing -- paired before/after scenes with exactly known ground-truth changes,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Image-formation / autofocus validation</a:t>
            </a:r>
            <a:endParaRPr lang="en-US" sz="1050" dirty="0"/>
          </a:p>
        </p:txBody>
      </p:sp>
      <p:sp>
        <p:nvSpPr>
          <p:cNvPr id="15" name="Shape 11"/>
          <p:cNvSpPr/>
          <p:nvPr/>
        </p:nvSpPr>
        <p:spPr>
          <a:xfrm>
            <a:off x="8119872"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8394192" y="2103120"/>
            <a:ext cx="566928" cy="566928"/>
          </a:xfrm>
          <a:prstGeom prst="ellipse">
            <a:avLst/>
          </a:prstGeom>
          <a:solidFill>
            <a:srgbClr val="FF9E2C"/>
          </a:solidFill>
          <a:ln/>
        </p:spPr>
      </p:sp>
      <p:pic>
        <p:nvPicPr>
          <p:cNvPr id="17" name="Image 2" descr="/sessions/sweet-friendly-mayer/mnt/outputs/presentation/icons/FaSatelliteDish_dark.png"/>
          <p:cNvPicPr>
            <a:picLocks noChangeAspect="1"/>
          </p:cNvPicPr>
          <p:nvPr/>
        </p:nvPicPr>
        <p:blipFill>
          <a:blip r:embed="rId5"/>
          <a:stretch>
            <a:fillRect/>
          </a:stretch>
        </p:blipFill>
        <p:spPr>
          <a:xfrm>
            <a:off x="8547263" y="2256191"/>
            <a:ext cx="260787" cy="260787"/>
          </a:xfrm>
          <a:prstGeom prst="rect">
            <a:avLst/>
          </a:prstGeom>
        </p:spPr>
      </p:pic>
      <p:sp>
        <p:nvSpPr>
          <p:cNvPr id="18" name="Text 13"/>
          <p:cNvSpPr/>
          <p:nvPr/>
        </p:nvSpPr>
        <p:spPr>
          <a:xfrm>
            <a:off x="8394192"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Mission Planning &amp; Sensor Trade Studies</a:t>
            </a:r>
            <a:endParaRPr lang="en-US" sz="1450" dirty="0"/>
          </a:p>
        </p:txBody>
      </p:sp>
      <p:sp>
        <p:nvSpPr>
          <p:cNvPr id="19" name="Text 14"/>
          <p:cNvSpPr/>
          <p:nvPr/>
        </p:nvSpPr>
        <p:spPr>
          <a:xfrm>
            <a:off x="8394192"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Pre-fly the collection plan to find what actually resolves the target before spending real tasking budget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Real commercial tasking runs roughly $1300-$7000 per scene (Airbus/Astrium GEO TerraSAR-X price list) vs. seconds per simulated pass on a Graphical Processing Unit (GPU)-- cheap enough to optimize collection value first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Sensor design trade studies -- bandwidth/resolution choice before committing to hardware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Ground Sample Distance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4m^2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5526024" cy="461665"/>
          </a:xfrm>
          <a:prstGeom prst="rect">
            <a:avLst/>
          </a:prstGeom>
          <a:noFill/>
        </p:spPr>
        <p:txBody>
          <a:bodyPr wrap="square">
            <a:spAutoFit/>
          </a:bodyPr>
          <a:lstStyle/>
          <a:p>
            <a:r>
              <a:rPr lang="en-US" sz="1200" i="1" dirty="0"/>
              <a:t>*Both approaches estimated on the same single desktop/laptop-class Graphics Processing Unit (GPU), not a cluster, 75µs for Ansys per structure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This is the marginal, steady-state cost of every collect afterward:</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a:t>
            </a:r>
            <a:r>
              <a:rPr lang="en-US" sz="1150" dirty="0">
                <a:solidFill>
                  <a:srgbClr val="141A22"/>
                </a:solidFill>
                <a:highlight>
                  <a:srgbClr val="FFFF00"/>
                </a:highlight>
                <a:latin typeface="Calibri" pitchFamily="34" charset="0"/>
                <a:ea typeface="Calibri" pitchFamily="34" charset="-122"/>
                <a:cs typeface="Calibri" pitchFamily="34" charset="-120"/>
              </a:rPr>
              <a:t>54s</a:t>
            </a:r>
            <a:r>
              <a:rPr lang="en-US" sz="1150" dirty="0">
                <a:solidFill>
                  <a:srgbClr val="141A22"/>
                </a:solidFill>
                <a:latin typeface="Calibri" pitchFamily="34" charset="0"/>
                <a:ea typeface="Calibri" pitchFamily="34" charset="-122"/>
                <a:cs typeface="Calibri" pitchFamily="34" charset="-120"/>
              </a:rPr>
              <a:t>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2549697560"/>
              </p:ext>
            </p:extLst>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PERFECT ELECTRIC CONDUCTOR (PEC) MODEL</a:t>
            </a:r>
          </a:p>
          <a:p>
            <a:pPr marL="0" indent="0">
              <a:buNone/>
            </a:pPr>
            <a:r>
              <a:rPr lang="en-US" sz="1150" b="1" kern="0" spc="100" dirty="0">
                <a:solidFill>
                  <a:srgbClr val="5B6672"/>
                </a:solidFill>
                <a:latin typeface="Calibri" pitchFamily="34" charset="0"/>
                <a:ea typeface="Calibri" pitchFamily="34" charset="-122"/>
                <a:cs typeface="Calibri" pitchFamily="34" charset="-120"/>
              </a:rPr>
              <a:t>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maximum-cross section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
        <p:nvSpPr>
          <p:cNvPr id="25" name="Text 0">
            <a:extLst>
              <a:ext uri="{FF2B5EF4-FFF2-40B4-BE49-F238E27FC236}">
                <a16:creationId xmlns:a16="http://schemas.microsoft.com/office/drawing/2014/main" id="{867A4377-1C8E-9BC4-82B1-BD18B1D06130}"/>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 CONTINUED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Ground Moving Target Interval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Simulated world updates at radar slow-time rate, NOT compute rate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coherent processing interval can be well under a second of slow-time, faster than the nav-mesh update rate.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993355251"/>
              </p:ext>
            </p:extLst>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radar cross section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Structural Similarity Matix ≥ 0.95 (typical) and root mean square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rendering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9056536"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Full city-block scene (200 buildings, 1000 facets, 1km x 1km), real collection geometry (60km standoff / 22.5km altitude, ~20.6° depression, 2m resolution, 450-pulse Nyquist-sampled aperture), scored per building against the Tier 1 table's own SSIM &gt;= 0.95 criterion -- on a single consumer laptop GPU (RTX 4050).</a:t>
            </a:r>
            <a:endParaRPr lang="en-US" sz="1150" dirty="0"/>
          </a:p>
        </p:txBody>
      </p:sp>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0.993</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197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0.991, median 0.996, min 0.923 --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0.003 / 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818x / pulse</a:t>
            </a:r>
          </a:p>
          <a:p>
            <a:r>
              <a:rPr lang="en-US" sz="1600" b="1" dirty="0">
                <a:latin typeface="Courier New" panose="02070309020205020404" pitchFamily="49" charset="0"/>
                <a:cs typeface="Courier New" panose="02070309020205020404" pitchFamily="49" charset="0"/>
              </a:rPr>
              <a:t>1.7s / 1398s total</a:t>
            </a:r>
            <a:endParaRPr lang="en-US" sz="1700" b="1" dirty="0">
              <a:latin typeface="Courier New" panose="02070309020205020404" pitchFamily="49" charset="0"/>
              <a:cs typeface="Courier New" panose="02070309020205020404" pitchFamily="49" charset="0"/>
            </a:endParaRPr>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ray/facet intersection is more expensive than estimated</a:t>
            </a:r>
            <a:endParaRPr lang="en-US" sz="900" dirty="0"/>
          </a:p>
        </p:txBody>
      </p:sp>
      <p:pic>
        <p:nvPicPr>
          <p:cNvPr id="20" name="Picture 19">
            <a:extLst>
              <a:ext uri="{FF2B5EF4-FFF2-40B4-BE49-F238E27FC236}">
                <a16:creationId xmlns:a16="http://schemas.microsoft.com/office/drawing/2014/main" id="{3469333A-0E49-7CD2-5A18-AA839F6797F2}"/>
              </a:ext>
            </a:extLst>
          </p:cNvPr>
          <p:cNvPicPr>
            <a:picLocks noChangeAspect="1"/>
          </p:cNvPicPr>
          <p:nvPr/>
        </p:nvPicPr>
        <p:blipFill>
          <a:blip r:embed="rId3"/>
          <a:stretch>
            <a:fillRect/>
          </a:stretch>
        </p:blipFill>
        <p:spPr>
          <a:xfrm>
            <a:off x="9419237" y="7950"/>
            <a:ext cx="2844324" cy="2187941"/>
          </a:xfrm>
          <a:prstGeom prst="rect">
            <a:avLst/>
          </a:prstGeom>
        </p:spPr>
      </p:pic>
      <p:pic>
        <p:nvPicPr>
          <p:cNvPr id="5" name="Image 0" descr="/sessions/sweet-friendly-mayer/mnt/outputs/presentation/tier2_sbr_vs_asc_comparison.png"/>
          <p:cNvPicPr>
            <a:picLocks noChangeAspect="1"/>
          </p:cNvPicPr>
          <p:nvPr/>
        </p:nvPicPr>
        <p:blipFill>
          <a:blip r:embed="rId4"/>
          <a:stretch>
            <a:fillRect/>
          </a:stretch>
        </p:blipFill>
        <p:spPr>
          <a:xfrm>
            <a:off x="516636" y="1874520"/>
            <a:ext cx="11155680" cy="3053133"/>
          </a:xfrm>
          <a:prstGeom prst="rect">
            <a:avLst/>
          </a:prstGeom>
        </p:spPr>
      </p:pic>
      <p:sp>
        <p:nvSpPr>
          <p:cNvPr id="21" name="Thought Bubble: Cloud 20">
            <a:extLst>
              <a:ext uri="{FF2B5EF4-FFF2-40B4-BE49-F238E27FC236}">
                <a16:creationId xmlns:a16="http://schemas.microsoft.com/office/drawing/2014/main" id="{097E1056-BCE9-13BA-D602-CBDBBB28874C}"/>
              </a:ext>
            </a:extLst>
          </p:cNvPr>
          <p:cNvSpPr/>
          <p:nvPr/>
        </p:nvSpPr>
        <p:spPr>
          <a:xfrm>
            <a:off x="2370914" y="2802904"/>
            <a:ext cx="2550944" cy="1252192"/>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After some thought, I realized these lacked layover!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is a structural comparison of log-magnitude imagery -- it can miss cases where amplitude and phase are jointly misaligned even if the broad dB pattern still looks similar. Complex coherence (InSAR-standard, |sum(a·b*)| / sqrt(sum|a|²·sum|b|²)) is sensitive to both at once. Same 200-building, 450-pulse run as the previous slide -- no new simulation, just a second metric on the same phase history.</a:t>
            </a:r>
            <a:endParaRPr lang="en-US" sz="1100" dirty="0"/>
          </a:p>
        </p:txBody>
      </p:sp>
      <p:pic>
        <p:nvPicPr>
          <p:cNvPr id="5" name="Image 0" descr="/sessions/sweet-friendly-mayer/mnt/outputs/presentation/tier2_phase_coherence.png"/>
          <p:cNvPicPr>
            <a:picLocks noChangeAspect="1"/>
          </p:cNvPicPr>
          <p:nvPr/>
        </p:nvPicPr>
        <p:blipFill>
          <a:blip r:embed="rId3"/>
          <a:stretch>
            <a:fillRect/>
          </a:stretch>
        </p:blipFill>
        <p:spPr>
          <a:xfrm>
            <a:off x="516636" y="1920240"/>
            <a:ext cx="11155680" cy="3053133"/>
          </a:xfrm>
          <a:prstGeom prst="rect">
            <a:avLst/>
          </a:prstGeom>
        </p:spPr>
      </p:pic>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0.989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same dilution issue as whole-image SSIM -- see per-building</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0.986, min 0.668</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1.000 --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-0.04° / 5.78°</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16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SSIM=0.971, coherence=0.678</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16 buildings (8%) that SSIM alone would call clean show materially worse joint amplitude/phase agreement. Worth a coherence threshold alongside SSIM in the Tier 2 criteria, not a replacement for it.</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3B7EB-2DCC-A462-42BC-ADD41CFBA20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132C1F1-80A7-1ADF-20A5-3B7CDED3B992}"/>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a:extLst>
              <a:ext uri="{FF2B5EF4-FFF2-40B4-BE49-F238E27FC236}">
                <a16:creationId xmlns:a16="http://schemas.microsoft.com/office/drawing/2014/main" id="{73B7BB90-DDC5-FAB8-4E9D-8521F58B5BDC}"/>
              </a:ext>
            </a:extLst>
          </p:cNvPr>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 with proper layover!</a:t>
            </a:r>
            <a:endParaRPr lang="en-US" sz="2100" dirty="0"/>
          </a:p>
        </p:txBody>
      </p:sp>
      <p:sp>
        <p:nvSpPr>
          <p:cNvPr id="4" name="Text 2">
            <a:extLst>
              <a:ext uri="{FF2B5EF4-FFF2-40B4-BE49-F238E27FC236}">
                <a16:creationId xmlns:a16="http://schemas.microsoft.com/office/drawing/2014/main" id="{F715558F-FB19-5BE6-CD7A-998776B69C7F}"/>
              </a:ext>
            </a:extLst>
          </p:cNvPr>
          <p:cNvSpPr/>
          <p:nvPr/>
        </p:nvSpPr>
        <p:spPr>
          <a:xfrm>
            <a:off x="548640" y="1234440"/>
            <a:ext cx="9056536"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Dug into SBR – Rays were intersecting at center of facet. </a:t>
            </a:r>
            <a:endParaRPr lang="en-US" sz="1150" dirty="0"/>
          </a:p>
        </p:txBody>
      </p:sp>
      <p:sp>
        <p:nvSpPr>
          <p:cNvPr id="6" name="Shape 3">
            <a:extLst>
              <a:ext uri="{FF2B5EF4-FFF2-40B4-BE49-F238E27FC236}">
                <a16:creationId xmlns:a16="http://schemas.microsoft.com/office/drawing/2014/main" id="{D407540E-EC2E-430E-D40C-6B41A8EE1F6C}"/>
              </a:ext>
            </a:extLst>
          </p:cNvPr>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a:extLst>
              <a:ext uri="{FF2B5EF4-FFF2-40B4-BE49-F238E27FC236}">
                <a16:creationId xmlns:a16="http://schemas.microsoft.com/office/drawing/2014/main" id="{CA5414BD-3DE3-0B1D-CA93-1C3FC11FB062}"/>
              </a:ext>
            </a:extLst>
          </p:cNvPr>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a:extLst>
              <a:ext uri="{FF2B5EF4-FFF2-40B4-BE49-F238E27FC236}">
                <a16:creationId xmlns:a16="http://schemas.microsoft.com/office/drawing/2014/main" id="{BEBC04F8-0B77-045F-2355-4D5B5D8550D8}"/>
              </a:ext>
            </a:extLst>
          </p:cNvPr>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0.982</a:t>
            </a:r>
            <a:endParaRPr lang="en-US" sz="1700" dirty="0"/>
          </a:p>
        </p:txBody>
      </p:sp>
      <p:sp>
        <p:nvSpPr>
          <p:cNvPr id="9" name="Text 6">
            <a:extLst>
              <a:ext uri="{FF2B5EF4-FFF2-40B4-BE49-F238E27FC236}">
                <a16:creationId xmlns:a16="http://schemas.microsoft.com/office/drawing/2014/main" id="{0CA97D9F-8FD4-6210-1CA2-362C22CDFACD}"/>
              </a:ext>
            </a:extLst>
          </p:cNvPr>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a:extLst>
              <a:ext uri="{FF2B5EF4-FFF2-40B4-BE49-F238E27FC236}">
                <a16:creationId xmlns:a16="http://schemas.microsoft.com/office/drawing/2014/main" id="{2A597CDA-8F08-2A31-3B8B-A7CDF46C04AC}"/>
              </a:ext>
            </a:extLst>
          </p:cNvPr>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a:extLst>
              <a:ext uri="{FF2B5EF4-FFF2-40B4-BE49-F238E27FC236}">
                <a16:creationId xmlns:a16="http://schemas.microsoft.com/office/drawing/2014/main" id="{AA597662-4C83-2693-4BC8-6BD979E99781}"/>
              </a:ext>
            </a:extLst>
          </p:cNvPr>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182 / 200 pass</a:t>
            </a:r>
            <a:endParaRPr lang="en-US" sz="1700" dirty="0"/>
          </a:p>
        </p:txBody>
      </p:sp>
      <p:sp>
        <p:nvSpPr>
          <p:cNvPr id="12" name="Text 9">
            <a:extLst>
              <a:ext uri="{FF2B5EF4-FFF2-40B4-BE49-F238E27FC236}">
                <a16:creationId xmlns:a16="http://schemas.microsoft.com/office/drawing/2014/main" id="{1936D2E2-38FC-1093-412A-E332D9042344}"/>
              </a:ext>
            </a:extLst>
          </p:cNvPr>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0.991, median 0.996, min 0.923 -- matches the table's "same sector" criterion</a:t>
            </a:r>
            <a:endParaRPr lang="en-US" sz="900" dirty="0"/>
          </a:p>
        </p:txBody>
      </p:sp>
      <p:sp>
        <p:nvSpPr>
          <p:cNvPr id="13" name="Text 10">
            <a:extLst>
              <a:ext uri="{FF2B5EF4-FFF2-40B4-BE49-F238E27FC236}">
                <a16:creationId xmlns:a16="http://schemas.microsoft.com/office/drawing/2014/main" id="{A82C96B2-523E-9536-35B2-1D4A273D2BC2}"/>
              </a:ext>
            </a:extLst>
          </p:cNvPr>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a:extLst>
              <a:ext uri="{FF2B5EF4-FFF2-40B4-BE49-F238E27FC236}">
                <a16:creationId xmlns:a16="http://schemas.microsoft.com/office/drawing/2014/main" id="{6703E233-C0D0-768B-EF5B-9099923AC58C}"/>
              </a:ext>
            </a:extLst>
          </p:cNvPr>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0.008 / 8.5°</a:t>
            </a:r>
            <a:endParaRPr lang="en-US" sz="1700" dirty="0"/>
          </a:p>
        </p:txBody>
      </p:sp>
      <p:sp>
        <p:nvSpPr>
          <p:cNvPr id="15" name="Text 12">
            <a:extLst>
              <a:ext uri="{FF2B5EF4-FFF2-40B4-BE49-F238E27FC236}">
                <a16:creationId xmlns:a16="http://schemas.microsoft.com/office/drawing/2014/main" id="{BA85B3A5-BAEC-A402-84FF-B95972175A98}"/>
              </a:ext>
            </a:extLst>
          </p:cNvPr>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a:t>
            </a:r>
            <a:endParaRPr lang="en-US" sz="900" dirty="0"/>
          </a:p>
        </p:txBody>
      </p:sp>
      <p:sp>
        <p:nvSpPr>
          <p:cNvPr id="16" name="Text 13">
            <a:extLst>
              <a:ext uri="{FF2B5EF4-FFF2-40B4-BE49-F238E27FC236}">
                <a16:creationId xmlns:a16="http://schemas.microsoft.com/office/drawing/2014/main" id="{9B66A1B2-F3DB-88BF-F00B-11CD6C7618C7}"/>
              </a:ext>
            </a:extLst>
          </p:cNvPr>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a:extLst>
              <a:ext uri="{FF2B5EF4-FFF2-40B4-BE49-F238E27FC236}">
                <a16:creationId xmlns:a16="http://schemas.microsoft.com/office/drawing/2014/main" id="{9439CC84-D168-6237-0053-57894A3066BF}"/>
              </a:ext>
            </a:extLst>
          </p:cNvPr>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464x / pulse</a:t>
            </a:r>
          </a:p>
          <a:p>
            <a:r>
              <a:rPr lang="en-US" sz="1600" b="1" dirty="0">
                <a:latin typeface="Courier New" panose="02070309020205020404" pitchFamily="49" charset="0"/>
                <a:cs typeface="Courier New" panose="02070309020205020404" pitchFamily="49" charset="0"/>
              </a:rPr>
              <a:t>60s / 23126s total</a:t>
            </a:r>
            <a:endParaRPr lang="en-US" sz="1700" b="1" dirty="0">
              <a:latin typeface="Courier New" panose="02070309020205020404" pitchFamily="49" charset="0"/>
              <a:cs typeface="Courier New" panose="02070309020205020404" pitchFamily="49" charset="0"/>
            </a:endParaRPr>
          </a:p>
        </p:txBody>
      </p:sp>
      <p:sp>
        <p:nvSpPr>
          <p:cNvPr id="18" name="Text 15">
            <a:extLst>
              <a:ext uri="{FF2B5EF4-FFF2-40B4-BE49-F238E27FC236}">
                <a16:creationId xmlns:a16="http://schemas.microsoft.com/office/drawing/2014/main" id="{1F16027F-F88B-0A34-7EDB-E4A002DAB6AB}"/>
              </a:ext>
            </a:extLst>
          </p:cNvPr>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ray/facet intersection is more expensive than estimated</a:t>
            </a:r>
            <a:endParaRPr lang="en-US" sz="900" dirty="0"/>
          </a:p>
        </p:txBody>
      </p:sp>
      <p:pic>
        <p:nvPicPr>
          <p:cNvPr id="20" name="Picture 19">
            <a:extLst>
              <a:ext uri="{FF2B5EF4-FFF2-40B4-BE49-F238E27FC236}">
                <a16:creationId xmlns:a16="http://schemas.microsoft.com/office/drawing/2014/main" id="{8C7EFB97-BBB4-B858-E319-B8FAC9324062}"/>
              </a:ext>
            </a:extLst>
          </p:cNvPr>
          <p:cNvPicPr>
            <a:picLocks noChangeAspect="1"/>
          </p:cNvPicPr>
          <p:nvPr/>
        </p:nvPicPr>
        <p:blipFill>
          <a:blip r:embed="rId3"/>
          <a:stretch>
            <a:fillRect/>
          </a:stretch>
        </p:blipFill>
        <p:spPr>
          <a:xfrm>
            <a:off x="9419237" y="7950"/>
            <a:ext cx="2844324" cy="2187941"/>
          </a:xfrm>
          <a:prstGeom prst="rect">
            <a:avLst/>
          </a:prstGeom>
        </p:spPr>
      </p:pic>
      <p:pic>
        <p:nvPicPr>
          <p:cNvPr id="24" name="Picture 23">
            <a:extLst>
              <a:ext uri="{FF2B5EF4-FFF2-40B4-BE49-F238E27FC236}">
                <a16:creationId xmlns:a16="http://schemas.microsoft.com/office/drawing/2014/main" id="{3E2400F5-CA83-C89B-1AA3-C3B8580F09C6}"/>
              </a:ext>
            </a:extLst>
          </p:cNvPr>
          <p:cNvPicPr>
            <a:picLocks noChangeAspect="1"/>
          </p:cNvPicPr>
          <p:nvPr/>
        </p:nvPicPr>
        <p:blipFill>
          <a:blip r:embed="rId4"/>
          <a:stretch>
            <a:fillRect/>
          </a:stretch>
        </p:blipFill>
        <p:spPr>
          <a:xfrm>
            <a:off x="362309" y="1760621"/>
            <a:ext cx="11576650" cy="3336758"/>
          </a:xfrm>
          <a:prstGeom prst="rect">
            <a:avLst/>
          </a:prstGeom>
        </p:spPr>
      </p:pic>
    </p:spTree>
    <p:extLst>
      <p:ext uri="{BB962C8B-B14F-4D97-AF65-F5344CB8AC3E}">
        <p14:creationId xmlns:p14="http://schemas.microsoft.com/office/powerpoint/2010/main" val="36507863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FA6D9-DDFF-E73F-719E-087169E5A07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CB9B116-4C8F-29F0-AA82-69964672D7E0}"/>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a:extLst>
              <a:ext uri="{FF2B5EF4-FFF2-40B4-BE49-F238E27FC236}">
                <a16:creationId xmlns:a16="http://schemas.microsoft.com/office/drawing/2014/main" id="{31233364-B185-C010-2C63-01AF0FFE9D36}"/>
              </a:ext>
            </a:extLst>
          </p:cNvPr>
          <p:cNvSpPr/>
          <p:nvPr/>
        </p:nvSpPr>
        <p:spPr>
          <a:xfrm>
            <a:off x="548640" y="658368"/>
            <a:ext cx="10881360" cy="448056"/>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6" name="Shape 3">
            <a:extLst>
              <a:ext uri="{FF2B5EF4-FFF2-40B4-BE49-F238E27FC236}">
                <a16:creationId xmlns:a16="http://schemas.microsoft.com/office/drawing/2014/main" id="{28F1E18F-3C51-D84E-0742-26956EFB8615}"/>
              </a:ext>
            </a:extLst>
          </p:cNvPr>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a:extLst>
              <a:ext uri="{FF2B5EF4-FFF2-40B4-BE49-F238E27FC236}">
                <a16:creationId xmlns:a16="http://schemas.microsoft.com/office/drawing/2014/main" id="{1E29B9DB-F336-100B-479F-35317823511B}"/>
              </a:ext>
            </a:extLst>
          </p:cNvPr>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a:extLst>
              <a:ext uri="{FF2B5EF4-FFF2-40B4-BE49-F238E27FC236}">
                <a16:creationId xmlns:a16="http://schemas.microsoft.com/office/drawing/2014/main" id="{2DE06A9B-6AD7-BD8F-2E31-25410FA68BA3}"/>
              </a:ext>
            </a:extLst>
          </p:cNvPr>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0.956</a:t>
            </a:r>
            <a:endParaRPr lang="en-US" sz="1700" dirty="0"/>
          </a:p>
        </p:txBody>
      </p:sp>
      <p:sp>
        <p:nvSpPr>
          <p:cNvPr id="9" name="Text 6">
            <a:extLst>
              <a:ext uri="{FF2B5EF4-FFF2-40B4-BE49-F238E27FC236}">
                <a16:creationId xmlns:a16="http://schemas.microsoft.com/office/drawing/2014/main" id="{35E3FD4F-0B37-AB54-97EF-74F106C174E7}"/>
              </a:ext>
            </a:extLst>
          </p:cNvPr>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same dilution issue as whole-image SSIM -- see per-building</a:t>
            </a:r>
            <a:endParaRPr lang="en-US" sz="900" dirty="0"/>
          </a:p>
        </p:txBody>
      </p:sp>
      <p:sp>
        <p:nvSpPr>
          <p:cNvPr id="10" name="Text 7">
            <a:extLst>
              <a:ext uri="{FF2B5EF4-FFF2-40B4-BE49-F238E27FC236}">
                <a16:creationId xmlns:a16="http://schemas.microsoft.com/office/drawing/2014/main" id="{2D7852D4-A06F-A4DB-C0D9-CB34D8D7B38E}"/>
              </a:ext>
            </a:extLst>
          </p:cNvPr>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a:extLst>
              <a:ext uri="{FF2B5EF4-FFF2-40B4-BE49-F238E27FC236}">
                <a16:creationId xmlns:a16="http://schemas.microsoft.com/office/drawing/2014/main" id="{56331090-1901-40AE-5891-DFDF2869F8C1}"/>
              </a:ext>
            </a:extLst>
          </p:cNvPr>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0.96, median .99, min 0.75</a:t>
            </a:r>
            <a:endParaRPr lang="en-US" sz="1700" dirty="0"/>
          </a:p>
        </p:txBody>
      </p:sp>
      <p:sp>
        <p:nvSpPr>
          <p:cNvPr id="12" name="Text 9">
            <a:extLst>
              <a:ext uri="{FF2B5EF4-FFF2-40B4-BE49-F238E27FC236}">
                <a16:creationId xmlns:a16="http://schemas.microsoft.com/office/drawing/2014/main" id="{8D6C534D-8088-1F7A-1FB9-AF6D5021B721}"/>
              </a:ext>
            </a:extLst>
          </p:cNvPr>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1.000 -- a few outliers pull the mean, not a broad drift</a:t>
            </a:r>
            <a:endParaRPr lang="en-US" sz="900" dirty="0"/>
          </a:p>
        </p:txBody>
      </p:sp>
      <p:sp>
        <p:nvSpPr>
          <p:cNvPr id="13" name="Text 10">
            <a:extLst>
              <a:ext uri="{FF2B5EF4-FFF2-40B4-BE49-F238E27FC236}">
                <a16:creationId xmlns:a16="http://schemas.microsoft.com/office/drawing/2014/main" id="{BB8147CF-6780-F8DB-2806-1060BFE54D43}"/>
              </a:ext>
            </a:extLst>
          </p:cNvPr>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a:extLst>
              <a:ext uri="{FF2B5EF4-FFF2-40B4-BE49-F238E27FC236}">
                <a16:creationId xmlns:a16="http://schemas.microsoft.com/office/drawing/2014/main" id="{DDD577A3-9438-E4F6-2C0A-F02578339CD4}"/>
              </a:ext>
            </a:extLst>
          </p:cNvPr>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-0.11° / 8.5°</a:t>
            </a:r>
            <a:endParaRPr lang="en-US" sz="1700" dirty="0"/>
          </a:p>
        </p:txBody>
      </p:sp>
      <p:sp>
        <p:nvSpPr>
          <p:cNvPr id="15" name="Text 12">
            <a:extLst>
              <a:ext uri="{FF2B5EF4-FFF2-40B4-BE49-F238E27FC236}">
                <a16:creationId xmlns:a16="http://schemas.microsoft.com/office/drawing/2014/main" id="{756384F1-B270-6501-5DC0-CAA185C65724}"/>
              </a:ext>
            </a:extLst>
          </p:cNvPr>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a:extLst>
              <a:ext uri="{FF2B5EF4-FFF2-40B4-BE49-F238E27FC236}">
                <a16:creationId xmlns:a16="http://schemas.microsoft.com/office/drawing/2014/main" id="{47E1D29A-7668-20E1-B6F1-213334CC482A}"/>
              </a:ext>
            </a:extLst>
          </p:cNvPr>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a:extLst>
              <a:ext uri="{FF2B5EF4-FFF2-40B4-BE49-F238E27FC236}">
                <a16:creationId xmlns:a16="http://schemas.microsoft.com/office/drawing/2014/main" id="{0EE042FF-BCAC-7F4E-A80E-139B4276448A}"/>
              </a:ext>
            </a:extLst>
          </p:cNvPr>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27 / 200 buildings</a:t>
            </a:r>
            <a:endParaRPr lang="en-US" sz="1700" dirty="0"/>
          </a:p>
        </p:txBody>
      </p:sp>
      <p:sp>
        <p:nvSpPr>
          <p:cNvPr id="18" name="Text 15">
            <a:extLst>
              <a:ext uri="{FF2B5EF4-FFF2-40B4-BE49-F238E27FC236}">
                <a16:creationId xmlns:a16="http://schemas.microsoft.com/office/drawing/2014/main" id="{3EA3550C-6EAF-4BA2-5F8D-2D2C567649D3}"/>
              </a:ext>
            </a:extLst>
          </p:cNvPr>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SSIM=0.963, coherence=0.75</a:t>
            </a:r>
            <a:endParaRPr lang="en-US" sz="900" dirty="0"/>
          </a:p>
        </p:txBody>
      </p:sp>
      <p:sp>
        <p:nvSpPr>
          <p:cNvPr id="19" name="Text 16">
            <a:extLst>
              <a:ext uri="{FF2B5EF4-FFF2-40B4-BE49-F238E27FC236}">
                <a16:creationId xmlns:a16="http://schemas.microsoft.com/office/drawing/2014/main" id="{DF6358D2-4321-3CE3-5A2D-4C1D34536F6C}"/>
              </a:ext>
            </a:extLst>
          </p:cNvPr>
          <p:cNvSpPr/>
          <p:nvPr/>
        </p:nvSpPr>
        <p:spPr>
          <a:xfrm>
            <a:off x="548640" y="6428232"/>
            <a:ext cx="10607040" cy="274320"/>
          </a:xfrm>
          <a:prstGeom prst="rect">
            <a:avLst/>
          </a:prstGeom>
          <a:noFill/>
          <a:ln/>
        </p:spPr>
        <p:txBody>
          <a:bodyPr wrap="square" lIns="0" tIns="0" rIns="0" bIns="0" rtlCol="0" anchor="ctr"/>
          <a:lstStyle/>
          <a:p>
            <a:pPr marL="0" indent="0">
              <a:buNone/>
            </a:pPr>
            <a:endParaRPr lang="en-US" sz="850" dirty="0"/>
          </a:p>
        </p:txBody>
      </p:sp>
      <p:pic>
        <p:nvPicPr>
          <p:cNvPr id="29" name="Picture 28">
            <a:extLst>
              <a:ext uri="{FF2B5EF4-FFF2-40B4-BE49-F238E27FC236}">
                <a16:creationId xmlns:a16="http://schemas.microsoft.com/office/drawing/2014/main" id="{BAE34C60-C2B7-C5E7-2221-7C2ED20A38D8}"/>
              </a:ext>
            </a:extLst>
          </p:cNvPr>
          <p:cNvPicPr>
            <a:picLocks noChangeAspect="1"/>
          </p:cNvPicPr>
          <p:nvPr/>
        </p:nvPicPr>
        <p:blipFill>
          <a:blip r:embed="rId3"/>
          <a:stretch>
            <a:fillRect/>
          </a:stretch>
        </p:blipFill>
        <p:spPr>
          <a:xfrm>
            <a:off x="120770" y="1308555"/>
            <a:ext cx="11869947" cy="3788824"/>
          </a:xfrm>
          <a:prstGeom prst="rect">
            <a:avLst/>
          </a:prstGeom>
        </p:spPr>
      </p:pic>
    </p:spTree>
    <p:extLst>
      <p:ext uri="{BB962C8B-B14F-4D97-AF65-F5344CB8AC3E}">
        <p14:creationId xmlns:p14="http://schemas.microsoft.com/office/powerpoint/2010/main" val="18665899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Tree>
    <p:extLst>
      <p:ext uri="{BB962C8B-B14F-4D97-AF65-F5344CB8AC3E}">
        <p14:creationId xmlns:p14="http://schemas.microsoft.com/office/powerpoint/2010/main" val="4231347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13379</TotalTime>
  <Words>9878</Words>
  <Application>Microsoft Office PowerPoint</Application>
  <PresentationFormat>Widescreen</PresentationFormat>
  <Paragraphs>517</Paragraphs>
  <Slides>38</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40</cp:revision>
  <dcterms:created xsi:type="dcterms:W3CDTF">2026-07-21T15:45:59Z</dcterms:created>
  <dcterms:modified xsi:type="dcterms:W3CDTF">2026-07-31T12:12:53Z</dcterms:modified>
</cp:coreProperties>
</file>