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70" r:id="rId2"/>
  </p:sldMasterIdLst>
  <p:notesMasterIdLst>
    <p:notesMasterId r:id="rId37"/>
  </p:notesMasterIdLst>
  <p:sldIdLst>
    <p:sldId id="256" r:id="rId3"/>
    <p:sldId id="388" r:id="rId4"/>
    <p:sldId id="369" r:id="rId5"/>
    <p:sldId id="345" r:id="rId6"/>
    <p:sldId id="397" r:id="rId7"/>
    <p:sldId id="394" r:id="rId8"/>
    <p:sldId id="395" r:id="rId9"/>
    <p:sldId id="393" r:id="rId10"/>
    <p:sldId id="347" r:id="rId11"/>
    <p:sldId id="380" r:id="rId12"/>
    <p:sldId id="371" r:id="rId13"/>
    <p:sldId id="396" r:id="rId14"/>
    <p:sldId id="372" r:id="rId15"/>
    <p:sldId id="373" r:id="rId16"/>
    <p:sldId id="374" r:id="rId17"/>
    <p:sldId id="376" r:id="rId18"/>
    <p:sldId id="379" r:id="rId19"/>
    <p:sldId id="378" r:id="rId20"/>
    <p:sldId id="377" r:id="rId21"/>
    <p:sldId id="366" r:id="rId22"/>
    <p:sldId id="381" r:id="rId23"/>
    <p:sldId id="382" r:id="rId24"/>
    <p:sldId id="352" r:id="rId25"/>
    <p:sldId id="387" r:id="rId26"/>
    <p:sldId id="346" r:id="rId27"/>
    <p:sldId id="354" r:id="rId28"/>
    <p:sldId id="356" r:id="rId29"/>
    <p:sldId id="383" r:id="rId30"/>
    <p:sldId id="384" r:id="rId31"/>
    <p:sldId id="385" r:id="rId32"/>
    <p:sldId id="367" r:id="rId33"/>
    <p:sldId id="386" r:id="rId34"/>
    <p:sldId id="398" r:id="rId35"/>
    <p:sldId id="399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anna McPherson" initials="JM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0066FF"/>
    <a:srgbClr val="0062AC"/>
    <a:srgbClr val="006600"/>
    <a:srgbClr val="FF505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7" autoAdjust="0"/>
    <p:restoredTop sz="97921" autoAdjust="0"/>
  </p:normalViewPr>
  <p:slideViewPr>
    <p:cSldViewPr>
      <p:cViewPr varScale="1">
        <p:scale>
          <a:sx n="67" d="100"/>
          <a:sy n="67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56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-56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56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-56" charset="-128"/>
                <a:cs typeface="+mn-cs"/>
              </a:defRPr>
            </a:lvl1pPr>
          </a:lstStyle>
          <a:p>
            <a:pPr>
              <a:defRPr/>
            </a:pPr>
            <a:fld id="{250E4FC0-C25C-4E21-9EE4-B6EA34BA4B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0681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CEB7E1-394E-410D-B64D-1C6ECF4D14ED}" type="slidenum">
              <a:rPr lang="en-US" smtClean="0">
                <a:ea typeface="ＭＳ Ｐゴシック"/>
                <a:cs typeface="ＭＳ Ｐゴシック"/>
              </a:rPr>
              <a:pPr/>
              <a:t>1</a:t>
            </a:fld>
            <a:endParaRPr lang="en-US" dirty="0">
              <a:ea typeface="ＭＳ Ｐゴシック"/>
              <a:cs typeface="ＭＳ Ｐゴシック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4662" y="2144713"/>
            <a:ext cx="8220763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4662" y="3886199"/>
            <a:ext cx="8220763" cy="257839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/Clos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37884E-E6BB-47BF-9E39-055BA69E4404}" type="slidenum">
              <a:rPr lang="en-US" smtClean="0"/>
              <a:pPr/>
              <a:t>‹#›</a:t>
            </a:fld>
            <a:r>
              <a:rPr lang="en-US"/>
              <a:t> of Fill-IN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884E-E6BB-47BF-9E39-055BA69E4404}" type="slidenum">
              <a:rPr lang="en-US" smtClean="0"/>
              <a:pPr/>
              <a:t>‹#›</a:t>
            </a:fld>
            <a:r>
              <a:rPr lang="en-US"/>
              <a:t> of Fill-IN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2412" y="1030915"/>
            <a:ext cx="4142232" cy="5257800"/>
          </a:xfrm>
        </p:spPr>
        <p:txBody>
          <a:bodyPr/>
          <a:lstStyle>
            <a:lvl1pP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</a:lstStyle>
          <a:p>
            <a:pPr marL="228600" lvl="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646612" y="1041400"/>
            <a:ext cx="4142232" cy="5257800"/>
          </a:xfrm>
        </p:spPr>
        <p:txBody>
          <a:bodyPr/>
          <a:lstStyle>
            <a:lvl1pP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</a:lstStyle>
          <a:p>
            <a:pPr marL="228600" lvl="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37884E-E6BB-47BF-9E39-055BA69E4404}" type="slidenum">
              <a:rPr lang="en-US" smtClean="0"/>
              <a:pPr/>
              <a:t>‹#›</a:t>
            </a:fld>
            <a:r>
              <a:rPr lang="en-US"/>
              <a:t> of Fill-IN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37884E-E6BB-47BF-9E39-055BA69E4404}" type="slidenum">
              <a:rPr lang="en-US" smtClean="0"/>
              <a:pPr/>
              <a:t>‹#›</a:t>
            </a:fld>
            <a:r>
              <a:rPr lang="en-US"/>
              <a:t> of Fill-IN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4662" y="2144713"/>
            <a:ext cx="8220763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4662" y="3886199"/>
            <a:ext cx="8220763" cy="257839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/Clos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2412" y="1030915"/>
            <a:ext cx="4142232" cy="5257800"/>
          </a:xfrm>
        </p:spPr>
        <p:txBody>
          <a:bodyPr/>
          <a:lstStyle>
            <a:lvl1pP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</a:lstStyle>
          <a:p>
            <a:pPr marL="228600" lvl="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646612" y="1041400"/>
            <a:ext cx="4142232" cy="5257800"/>
          </a:xfrm>
        </p:spPr>
        <p:txBody>
          <a:bodyPr/>
          <a:lstStyle>
            <a:lvl1pP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</a:lstStyle>
          <a:p>
            <a:pPr marL="228600" lvl="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</a:pPr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6" descr="PPT-GRID-HEAD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0"/>
            <a:ext cx="9140825" cy="1041400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774" y="1039483"/>
            <a:ext cx="8455025" cy="5257800"/>
          </a:xfrm>
          <a:prstGeom prst="rect">
            <a:avLst/>
          </a:prstGeom>
        </p:spPr>
        <p:txBody>
          <a:bodyPr vert="horz" lIns="0" tIns="45720" rIns="45720" bIns="45720" rtlCol="0">
            <a:normAutofit/>
          </a:bodyPr>
          <a:lstStyle/>
          <a:p>
            <a:pPr marL="228600" lvl="0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Second level</a:t>
            </a:r>
          </a:p>
          <a:p>
            <a:pPr marL="22860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Third level</a:t>
            </a:r>
          </a:p>
          <a:p>
            <a:pPr marL="228600" lvl="3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Fourth level</a:t>
            </a:r>
          </a:p>
          <a:p>
            <a:pPr marL="228600" lvl="4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09116" y="6599203"/>
            <a:ext cx="2133600" cy="201168"/>
          </a:xfrm>
          <a:prstGeom prst="rect">
            <a:avLst/>
          </a:prstGeom>
        </p:spPr>
        <p:txBody>
          <a:bodyPr vert="horz" lIns="18288" tIns="18288" rIns="18288" bIns="18288" rtlCol="0" anchor="t" anchorCtr="0"/>
          <a:lstStyle>
            <a:lvl1pPr algn="l">
              <a:defRPr sz="1100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4274" y="6607829"/>
            <a:ext cx="2895600" cy="201168"/>
          </a:xfrm>
          <a:prstGeom prst="rect">
            <a:avLst/>
          </a:prstGeom>
        </p:spPr>
        <p:txBody>
          <a:bodyPr vert="horz" lIns="18288" tIns="18288" rIns="18288" bIns="18288" rtlCol="0" anchor="t" anchorCtr="0"/>
          <a:lstStyle>
            <a:lvl1pPr algn="ctr">
              <a:defRPr sz="1100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775" y="6599202"/>
            <a:ext cx="2133600" cy="201168"/>
          </a:xfrm>
          <a:prstGeom prst="rect">
            <a:avLst/>
          </a:prstGeom>
        </p:spPr>
        <p:txBody>
          <a:bodyPr vert="horz" lIns="18288" tIns="18288" rIns="18288" bIns="18288" rtlCol="0" anchor="t" anchorCtr="0"/>
          <a:lstStyle>
            <a:lvl1pPr algn="l">
              <a:defRPr sz="1100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fld id="{D437884E-E6BB-47BF-9E39-055BA69E4404}" type="slidenum">
              <a:rPr lang="en-US" smtClean="0"/>
              <a:pPr/>
              <a:t>‹#›</a:t>
            </a:fld>
            <a:r>
              <a:rPr lang="en-US"/>
              <a:t> of Fill-IN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4298" y="58988"/>
            <a:ext cx="8462502" cy="769158"/>
          </a:xfrm>
          <a:prstGeom prst="rect">
            <a:avLst/>
          </a:prstGeom>
        </p:spPr>
        <p:txBody>
          <a:bodyPr vert="horz" lIns="0" tIns="45720" rIns="4572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56" descr="PPT-GRID-HEAD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0"/>
            <a:ext cx="9140825" cy="10414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51" r:id="rId7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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300"/>
        </a:spcBef>
        <a:buClr>
          <a:schemeClr val="accent1"/>
        </a:buClr>
        <a:buFont typeface="Wingdings" pitchFamily="2" charset="2"/>
        <a:buChar char="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200"/>
        </a:spcBef>
        <a:buClr>
          <a:schemeClr val="accent1"/>
        </a:buClr>
        <a:buFont typeface="Wingdings" pitchFamily="2" charset="2"/>
        <a:buChar char="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100"/>
        </a:spcBef>
        <a:buClr>
          <a:schemeClr val="accent1"/>
        </a:buClr>
        <a:buFont typeface="Wingdings" pitchFamily="2" charset="2"/>
        <a:buChar char="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0"/>
        </a:spcBef>
        <a:buClr>
          <a:schemeClr val="accent1"/>
        </a:buClr>
        <a:buFont typeface="Wingdings" pitchFamily="2" charset="2"/>
        <a:buChar char="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6" descr="PPT-GRID-HEAD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0825" cy="1041400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774" y="1039483"/>
            <a:ext cx="8455025" cy="5257800"/>
          </a:xfrm>
          <a:prstGeom prst="rect">
            <a:avLst/>
          </a:prstGeom>
        </p:spPr>
        <p:txBody>
          <a:bodyPr vert="horz" lIns="0" tIns="45720" rIns="45720" bIns="45720" rtlCol="0">
            <a:normAutofit/>
          </a:bodyPr>
          <a:lstStyle/>
          <a:p>
            <a:pPr marL="228600" lvl="0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Second level</a:t>
            </a:r>
          </a:p>
          <a:p>
            <a:pPr marL="22860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Third level</a:t>
            </a:r>
          </a:p>
          <a:p>
            <a:pPr marL="228600" lvl="3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Fourth level</a:t>
            </a:r>
          </a:p>
          <a:p>
            <a:pPr marL="228600" lvl="4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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09116" y="6599203"/>
            <a:ext cx="2133600" cy="201168"/>
          </a:xfrm>
          <a:prstGeom prst="rect">
            <a:avLst/>
          </a:prstGeom>
        </p:spPr>
        <p:txBody>
          <a:bodyPr vert="horz" lIns="18288" tIns="18288" rIns="18288" bIns="18288" rtlCol="0" anchor="t" anchorCtr="0"/>
          <a:lstStyle>
            <a:lvl1pPr algn="l">
              <a:defRPr sz="1100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4274" y="6607829"/>
            <a:ext cx="2895600" cy="201168"/>
          </a:xfrm>
          <a:prstGeom prst="rect">
            <a:avLst/>
          </a:prstGeom>
        </p:spPr>
        <p:txBody>
          <a:bodyPr vert="horz" lIns="18288" tIns="18288" rIns="18288" bIns="18288" rtlCol="0" anchor="t" anchorCtr="0"/>
          <a:lstStyle>
            <a:lvl1pPr algn="ctr">
              <a:defRPr sz="1100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775" y="6599202"/>
            <a:ext cx="2133600" cy="201168"/>
          </a:xfrm>
          <a:prstGeom prst="rect">
            <a:avLst/>
          </a:prstGeom>
        </p:spPr>
        <p:txBody>
          <a:bodyPr vert="horz" lIns="18288" tIns="18288" rIns="18288" bIns="18288" rtlCol="0" anchor="t" anchorCtr="0"/>
          <a:lstStyle>
            <a:lvl1pPr algn="l">
              <a:defRPr sz="1100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fld id="{D437884E-E6BB-47BF-9E39-055BA69E4404}" type="slidenum">
              <a:rPr lang="en-US" smtClean="0"/>
              <a:pPr/>
              <a:t>‹#›</a:t>
            </a:fld>
            <a:r>
              <a:rPr lang="en-US"/>
              <a:t> of Fill-IN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4298" y="58988"/>
            <a:ext cx="8462502" cy="769158"/>
          </a:xfrm>
          <a:prstGeom prst="rect">
            <a:avLst/>
          </a:prstGeom>
        </p:spPr>
        <p:txBody>
          <a:bodyPr vert="horz" lIns="0" tIns="45720" rIns="4572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56" descr="PPT-GRID-HEAD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0825" cy="10414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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300"/>
        </a:spcBef>
        <a:buClr>
          <a:schemeClr val="accent1"/>
        </a:buClr>
        <a:buFont typeface="Wingdings" pitchFamily="2" charset="2"/>
        <a:buChar char="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200"/>
        </a:spcBef>
        <a:buClr>
          <a:schemeClr val="accent1"/>
        </a:buClr>
        <a:buFont typeface="Wingdings" pitchFamily="2" charset="2"/>
        <a:buChar char="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100"/>
        </a:spcBef>
        <a:buClr>
          <a:schemeClr val="accent1"/>
        </a:buClr>
        <a:buFont typeface="Wingdings" pitchFamily="2" charset="2"/>
        <a:buChar char="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0"/>
        </a:spcBef>
        <a:buClr>
          <a:schemeClr val="accent1"/>
        </a:buClr>
        <a:buFont typeface="Wingdings" pitchFamily="2" charset="2"/>
        <a:buChar char="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26.wmf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9.bin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2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Range Identification via Passive Infrared (RIPIR)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z="2100" dirty="0">
                <a:latin typeface="+mj-lt"/>
              </a:rPr>
              <a:t>Dana Phillips</a:t>
            </a:r>
          </a:p>
          <a:p>
            <a:pPr eaLnBrk="1" hangingPunct="1"/>
            <a:endParaRPr lang="en-US" sz="21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 Origin</a:t>
            </a:r>
          </a:p>
          <a:p>
            <a:r>
              <a:rPr lang="en-US" dirty="0"/>
              <a:t>Overview/Limitations of current state of the art (2015!)</a:t>
            </a:r>
          </a:p>
          <a:p>
            <a:r>
              <a:rPr lang="en-US" dirty="0"/>
              <a:t>Proposed Solution</a:t>
            </a:r>
          </a:p>
          <a:p>
            <a:r>
              <a:rPr lang="en-US" dirty="0"/>
              <a:t>RIPIR Innovations &amp; Results</a:t>
            </a:r>
          </a:p>
          <a:p>
            <a:pPr lvl="1"/>
            <a:r>
              <a:rPr lang="en-US" dirty="0"/>
              <a:t>Epipolar Rectification</a:t>
            </a:r>
          </a:p>
          <a:p>
            <a:pPr lvl="1"/>
            <a:r>
              <a:rPr lang="en-US" dirty="0" err="1"/>
              <a:t>Levenburg-Marquadt</a:t>
            </a:r>
            <a:r>
              <a:rPr lang="en-US" dirty="0"/>
              <a:t> Telemetry Correction</a:t>
            </a:r>
          </a:p>
          <a:p>
            <a:r>
              <a:rPr lang="en-US" dirty="0"/>
              <a:t>Conclusions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Overview</a:t>
            </a:r>
          </a:p>
        </p:txBody>
      </p:sp>
    </p:spTree>
    <p:extLst>
      <p:ext uri="{BB962C8B-B14F-4D97-AF65-F5344CB8AC3E}">
        <p14:creationId xmlns:p14="http://schemas.microsoft.com/office/powerpoint/2010/main" val="211367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the topic description:</a:t>
            </a:r>
          </a:p>
          <a:p>
            <a:pPr marL="0" indent="0">
              <a:buNone/>
            </a:pPr>
            <a:r>
              <a:rPr lang="en-US" sz="1600" dirty="0"/>
              <a:t>“Terrain sensing and mapping based on stereo imagery, whether from single or multiple cameras, generally relies on having good signal-to-noise characteristics.  Military operations necessitate that terrain sensing systems operate primarily at night under low-light conditions where image intensifiers (I2) or infrared (IR) sensors are generally limited to low resolution, low signal-to-noise, or both.  </a:t>
            </a:r>
            <a:r>
              <a:rPr lang="en-US" sz="1600" dirty="0">
                <a:solidFill>
                  <a:srgbClr val="FF0000"/>
                </a:solidFill>
              </a:rPr>
              <a:t>This has resulted in the majority of terrain sensing systems now being active (emitting), such as millimeter-wave radar, scanning Laser Detection and Ranging (LADAR), or flash LADAR, all of which pose a signature risk in threat environments</a:t>
            </a:r>
            <a:r>
              <a:rPr lang="en-US" sz="1600" dirty="0"/>
              <a:t>.  This effort would explore the limits of passive terrain sensing and mapping under low-light conditions using sensors such as I2, fused Electro-optical-infrared (EO-IR) or some alternative, preferably low cost solution.  This effort will also stress the limits of machine vision ranging algorithms in low signal-to-noise environments.  Terrain and obstacles likely to be encountered by a helicopter Unmanned Aerial Vehicle (UAV) in both rural and urban settings should be emphasized; e.g., hills, trees, water, buildings, towers, wires, </a:t>
            </a:r>
            <a:r>
              <a:rPr lang="en-US" sz="1600" dirty="0" err="1"/>
              <a:t>etc</a:t>
            </a:r>
            <a:r>
              <a:rPr lang="en-US" sz="1600" dirty="0"/>
              <a:t>”.</a:t>
            </a:r>
          </a:p>
          <a:p>
            <a:pPr marL="0" indent="0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dirty="0"/>
              <a:t>But what does all this mean?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of Naval Research (ONR) SBIR Topic -- 2015 </a:t>
            </a:r>
          </a:p>
        </p:txBody>
      </p:sp>
    </p:spTree>
    <p:extLst>
      <p:ext uri="{BB962C8B-B14F-4D97-AF65-F5344CB8AC3E}">
        <p14:creationId xmlns:p14="http://schemas.microsoft.com/office/powerpoint/2010/main" val="226826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1773" y="1039483"/>
            <a:ext cx="5387269" cy="5257800"/>
          </a:xfrm>
        </p:spPr>
        <p:txBody>
          <a:bodyPr>
            <a:noAutofit/>
          </a:bodyPr>
          <a:lstStyle/>
          <a:p>
            <a:r>
              <a:rPr lang="en-US" sz="1800" dirty="0"/>
              <a:t>UAV operations transitioning to lower altitudes and smaller platforms</a:t>
            </a:r>
          </a:p>
          <a:p>
            <a:pPr lvl="1"/>
            <a:r>
              <a:rPr lang="en-US" dirty="0"/>
              <a:t>Obstacle detection increasingly important</a:t>
            </a:r>
          </a:p>
          <a:p>
            <a:pPr lvl="1"/>
            <a:r>
              <a:rPr lang="en-US" dirty="0"/>
              <a:t>Reliable range measurements required</a:t>
            </a:r>
          </a:p>
          <a:p>
            <a:pPr lvl="1"/>
            <a:endParaRPr lang="en-US" dirty="0"/>
          </a:p>
          <a:p>
            <a:r>
              <a:rPr lang="en-US" sz="1800" dirty="0"/>
              <a:t>Active ranging (LIDAR/RADAR) challenge SWAP-C limits, emission risk</a:t>
            </a:r>
          </a:p>
          <a:p>
            <a:endParaRPr lang="en-US" sz="1800" dirty="0"/>
          </a:p>
          <a:p>
            <a:r>
              <a:rPr lang="en-US" sz="1800" dirty="0"/>
              <a:t>ONR wanted a passive approach to terrain sensing for autonomous operations in the dark at ranges exceeding 1000m</a:t>
            </a:r>
          </a:p>
          <a:p>
            <a:endParaRPr lang="en-US" sz="1800" dirty="0"/>
          </a:p>
          <a:p>
            <a:r>
              <a:rPr lang="en-US" sz="1800" dirty="0"/>
              <a:t>ONR performance goal: range measurements accurate to 10% of truth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828" y="4114797"/>
            <a:ext cx="3383280" cy="1880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640814" y="5995303"/>
            <a:ext cx="3343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AFDD Autonomous Blackhawk Demo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93"/>
          <a:stretch/>
        </p:blipFill>
        <p:spPr>
          <a:xfrm>
            <a:off x="5620828" y="1312577"/>
            <a:ext cx="3383280" cy="2170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640814" y="3491591"/>
            <a:ext cx="3343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R-MAX VTOL UAV</a:t>
            </a:r>
          </a:p>
        </p:txBody>
      </p:sp>
    </p:spTree>
    <p:extLst>
      <p:ext uri="{BB962C8B-B14F-4D97-AF65-F5344CB8AC3E}">
        <p14:creationId xmlns:p14="http://schemas.microsoft.com/office/powerpoint/2010/main" val="141611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195951"/>
              </p:ext>
            </p:extLst>
          </p:nvPr>
        </p:nvGraphicFramePr>
        <p:xfrm>
          <a:off x="304800" y="1981200"/>
          <a:ext cx="8455026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7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ONR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Passive Ranging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Stereo</a:t>
                      </a:r>
                      <a:r>
                        <a:rPr lang="en-US" baseline="0" dirty="0"/>
                        <a:t> Vision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Low Light/No Light/DVE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  <a:r>
                        <a:rPr lang="en-US" baseline="0" dirty="0"/>
                        <a:t>-wave thermal (LWIR) sensing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Small/Micro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UAV platform SWAPC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Smartphone-level</a:t>
                      </a:r>
                      <a:r>
                        <a:rPr lang="en-US" baseline="0" dirty="0"/>
                        <a:t> (or better) computing platform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1000+ meter range with 10%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Long-baseline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Single-camera stereo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Mapping ONR Requirements to Existing Solution Technologies</a:t>
            </a:r>
          </a:p>
        </p:txBody>
      </p:sp>
    </p:spTree>
    <p:extLst>
      <p:ext uri="{BB962C8B-B14F-4D97-AF65-F5344CB8AC3E}">
        <p14:creationId xmlns:p14="http://schemas.microsoft.com/office/powerpoint/2010/main" val="296189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1775" y="1219200"/>
            <a:ext cx="3883026" cy="4316083"/>
          </a:xfrm>
        </p:spPr>
        <p:txBody>
          <a:bodyPr>
            <a:normAutofit/>
          </a:bodyPr>
          <a:lstStyle/>
          <a:p>
            <a:r>
              <a:rPr lang="en-US" dirty="0"/>
              <a:t>Daylight, fixed-baseline, stereo vision is at consumer-level technology</a:t>
            </a:r>
          </a:p>
          <a:p>
            <a:endParaRPr lang="en-US" dirty="0"/>
          </a:p>
          <a:p>
            <a:r>
              <a:rPr lang="en-US" dirty="0"/>
              <a:t>Video rate thermal stereo has been demonstrated with fixed baseline in automotive applications</a:t>
            </a:r>
          </a:p>
          <a:p>
            <a:endParaRPr lang="en-US" dirty="0"/>
          </a:p>
          <a:p>
            <a:r>
              <a:rPr lang="en-US" dirty="0"/>
              <a:t>Wide-baseline single camera stereo used in robotic navigation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 of Solution Technologies State of the Art	</a:t>
            </a: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4803774" y="838200"/>
            <a:ext cx="3883026" cy="4419600"/>
          </a:xfrm>
          <a:prstGeom prst="rect">
            <a:avLst/>
          </a:prstGeom>
        </p:spPr>
        <p:txBody>
          <a:bodyPr vert="horz" lIns="0" tIns="45720" rIns="4572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" pitchFamily="2" charset="2"/>
              <a:buChar char="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200"/>
              </a:spcBef>
              <a:buClr>
                <a:schemeClr val="accent1"/>
              </a:buClr>
              <a:buFont typeface="Wingdings" pitchFamily="2" charset="2"/>
              <a:buChar char="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100"/>
              </a:spcBef>
              <a:buClr>
                <a:schemeClr val="accent1"/>
              </a:buClr>
              <a:buFont typeface="Wingdings" pitchFamily="2" charset="2"/>
              <a:buChar char="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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Computational horsepower for stereo processing available in low SWAP-C package</a:t>
            </a:r>
          </a:p>
          <a:p>
            <a:pPr fontAlgn="auto">
              <a:spcAft>
                <a:spcPts val="0"/>
              </a:spcAft>
            </a:pPr>
            <a:endParaRPr lang="en-US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Resolution of commercial thermal sensors sufficient to support stereo processing 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en-US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Stereo algorithms already exist</a:t>
            </a:r>
          </a:p>
          <a:p>
            <a:pPr lvl="1" fontAlgn="auto">
              <a:spcAft>
                <a:spcPts val="0"/>
              </a:spcAft>
            </a:pPr>
            <a:endParaRPr lang="en-US" dirty="0"/>
          </a:p>
          <a:p>
            <a:pPr lvl="1" fontAlgn="auto">
              <a:spcAft>
                <a:spcPts val="0"/>
              </a:spcAft>
            </a:pP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038600" y="17526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038600" y="3048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5909" y="5481935"/>
            <a:ext cx="64475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Can basic stereo vision technology meet</a:t>
            </a:r>
          </a:p>
          <a:p>
            <a:pPr algn="ctr"/>
            <a:r>
              <a:rPr lang="en-US" dirty="0"/>
              <a:t>ONR requirements?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038600" y="4572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377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Fixed-baseline stereo requires impractically large separation (baseline) to meet ONR metrics: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200" dirty="0"/>
              <a:t>For comparison, a UH-60 Blackhawk is only 20m nose-to-tail!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0000"/>
                </a:solidFill>
              </a:rPr>
              <a:t>Baseline requirement implies that solution needs to use single-camera stereo</a:t>
            </a:r>
          </a:p>
          <a:p>
            <a:pPr marL="2286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fixed-baseline stereo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100502"/>
              </p:ext>
            </p:extLst>
          </p:nvPr>
        </p:nvGraphicFramePr>
        <p:xfrm>
          <a:off x="2895600" y="1981200"/>
          <a:ext cx="3719423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200" imgH="1346040" progId="Equation.3">
                  <p:embed/>
                </p:oleObj>
              </mc:Choice>
              <mc:Fallback>
                <p:oleObj name="Equation" r:id="rId2" imgW="2527200" imgH="1346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95600" y="1981200"/>
                        <a:ext cx="3719423" cy="198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1346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dirty="0"/>
              <a:t>Standard single camera stereo (Fusiello) uses apparent shift of objects due to camera motion (parallax) and knowledge of baseline length to compute object depth via trigonometry</a:t>
            </a:r>
          </a:p>
          <a:p>
            <a:r>
              <a:rPr lang="en-US" dirty="0"/>
              <a:t>Uses platform motion to generate baseline – easy to make long baselines</a:t>
            </a:r>
          </a:p>
          <a:p>
            <a:r>
              <a:rPr lang="en-US" dirty="0"/>
              <a:t>Parallax requires camera motion to be perpendicular line of sight </a:t>
            </a:r>
          </a:p>
          <a:p>
            <a:pPr marL="0" indent="0" algn="ctr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Not useful for ranging in front of UAV!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 of single camera stereo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143000"/>
            <a:ext cx="3219450" cy="195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7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1774" y="1039482"/>
            <a:ext cx="8585655" cy="54931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RIPIR – Range Identification via Passive Infrared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Low-light/no-light monocular stereo ranging system</a:t>
            </a:r>
          </a:p>
          <a:p>
            <a:pPr lvl="1"/>
            <a:r>
              <a:rPr lang="en-US" dirty="0"/>
              <a:t>Low-cost (Vionics AIR64, ~$1500), high frame rate (60fps), forward-looking LWIR sensor</a:t>
            </a:r>
          </a:p>
          <a:p>
            <a:pPr lvl="1"/>
            <a:r>
              <a:rPr lang="en-US" dirty="0"/>
              <a:t>6 DOF position error minimization technique to improve INS telemetry</a:t>
            </a:r>
          </a:p>
          <a:p>
            <a:r>
              <a:rPr lang="en-US" dirty="0"/>
              <a:t>Allows use of small, low-resolution, thermal cameras and inexpensive, COTs-level, IMUs</a:t>
            </a:r>
          </a:p>
          <a:p>
            <a:r>
              <a:rPr lang="en-US"/>
              <a:t>Does </a:t>
            </a:r>
            <a:r>
              <a:rPr lang="en-US" dirty="0"/>
              <a:t>not interfere with normal UAV flight operations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pic>
        <p:nvPicPr>
          <p:cNvPr id="5" name="Content Placeholder 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1371600"/>
            <a:ext cx="5680392" cy="2546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7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of Pollefeys/epipolar warping to airborne stereo</a:t>
            </a:r>
          </a:p>
          <a:p>
            <a:pPr lvl="1"/>
            <a:r>
              <a:rPr lang="en-US" dirty="0"/>
              <a:t>Alternate problem formulation allows for arbitrary platform movements – does not interfere with normal UAV operations</a:t>
            </a:r>
          </a:p>
          <a:p>
            <a:pPr lvl="1"/>
            <a:r>
              <a:rPr lang="en-US" dirty="0"/>
              <a:t>Permits ranging directly ahead of UAV 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6 DOF telemetry correction via </a:t>
            </a:r>
            <a:r>
              <a:rPr lang="en-US" dirty="0" err="1"/>
              <a:t>Levenburg-Marquadt</a:t>
            </a:r>
            <a:endParaRPr lang="en-US" dirty="0"/>
          </a:p>
          <a:p>
            <a:pPr lvl="1"/>
            <a:r>
              <a:rPr lang="en-US" dirty="0"/>
              <a:t>Allows for use of lower-cost IMUs </a:t>
            </a:r>
          </a:p>
          <a:p>
            <a:pPr lvl="1"/>
            <a:r>
              <a:rPr lang="en-US" dirty="0"/>
              <a:t>Theoretically allows for positioning in GPS-denied/degraded areas</a:t>
            </a:r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RIPIR Innovations</a:t>
            </a:r>
          </a:p>
        </p:txBody>
      </p:sp>
    </p:spTree>
    <p:extLst>
      <p:ext uri="{BB962C8B-B14F-4D97-AF65-F5344CB8AC3E}">
        <p14:creationId xmlns:p14="http://schemas.microsoft.com/office/powerpoint/2010/main" val="227944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Alternate formulation of imaging geometry</a:t>
            </a:r>
          </a:p>
          <a:p>
            <a:r>
              <a:rPr lang="en-US" dirty="0"/>
              <a:t>Transforms images from Cartesian (X,Y) to epipolar (R,</a:t>
            </a:r>
            <a:r>
              <a:rPr lang="el-GR" dirty="0"/>
              <a:t>θ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Epipolar/Pollefeys warping</a:t>
            </a:r>
          </a:p>
        </p:txBody>
      </p:sp>
      <p:pic>
        <p:nvPicPr>
          <p:cNvPr id="4" name="Picture 2" descr="C:\dev\ripir\village\jpeg\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81200"/>
            <a:ext cx="3200400" cy="415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dev\ripir\village\rectified\0001.jpg.0002.jpg.tif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2734" y="1981201"/>
            <a:ext cx="348442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 bwMode="auto">
          <a:xfrm flipH="1">
            <a:off x="228601" y="2057400"/>
            <a:ext cx="22224" cy="38941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609600" y="6324600"/>
            <a:ext cx="3124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6200" y="4572000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6324600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5476" y="6324599"/>
            <a:ext cx="399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5067300" y="6309963"/>
            <a:ext cx="340822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4953000" y="2057400"/>
            <a:ext cx="0" cy="42286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764487" y="4510384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θ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733800" y="1981201"/>
            <a:ext cx="4741720" cy="373379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09600" y="1981201"/>
            <a:ext cx="7924800" cy="2529183"/>
          </a:xfrm>
          <a:prstGeom prst="straightConnector1">
            <a:avLst/>
          </a:prstGeom>
          <a:ln w="25400"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11587" y="3657600"/>
            <a:ext cx="7922813" cy="2465426"/>
          </a:xfrm>
          <a:prstGeom prst="straightConnector1">
            <a:avLst/>
          </a:prstGeom>
          <a:ln w="25400">
            <a:solidFill>
              <a:srgbClr val="009900"/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810000" y="2362200"/>
            <a:ext cx="4572000" cy="3760826"/>
          </a:xfrm>
          <a:prstGeom prst="straightConnector1">
            <a:avLst/>
          </a:prstGeom>
          <a:ln w="25400">
            <a:solidFill>
              <a:schemeClr val="accent3"/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318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epipolar space, radial displacement from epipole (i.e. camera line of sight) gets mapped to a horizontal displacement </a:t>
            </a:r>
          </a:p>
          <a:p>
            <a:r>
              <a:rPr lang="en-US" dirty="0"/>
              <a:t>Angular location gets mapped to a vertical displacement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Advantage: Any pair of images with arbitrary 6DOF motion can be warped to a common angular reference through fundamental camera matrix </a:t>
            </a:r>
          </a:p>
          <a:p>
            <a:pPr lvl="1"/>
            <a:r>
              <a:rPr lang="en-US" b="1" dirty="0"/>
              <a:t>Cameras now “looking” parallel</a:t>
            </a:r>
          </a:p>
          <a:p>
            <a:pPr lvl="1"/>
            <a:r>
              <a:rPr lang="en-US" b="1" dirty="0"/>
              <a:t>Camera motion results in horizontal displacement – restores parallax</a:t>
            </a:r>
          </a:p>
          <a:p>
            <a:pPr lvl="1"/>
            <a:r>
              <a:rPr lang="en-US" b="1" dirty="0"/>
              <a:t>Can use COTS tools to generate pixel level disparity maps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Epipolar/Pollefeys warping continued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6200" y="2352048"/>
            <a:ext cx="8560954" cy="1828800"/>
            <a:chOff x="76200" y="1981200"/>
            <a:chExt cx="8560954" cy="4343400"/>
          </a:xfrm>
        </p:grpSpPr>
        <p:pic>
          <p:nvPicPr>
            <p:cNvPr id="20" name="Picture 2" descr="C:\dev\ripir\village\jpeg\000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981200"/>
              <a:ext cx="3200400" cy="4152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3" descr="C:\dev\ripir\village\rectified\0001.jpg.0002.jpg.tif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2734" y="1981201"/>
              <a:ext cx="3484420" cy="419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3" name="Straight Arrow Connector 22"/>
            <p:cNvCxnSpPr/>
            <p:nvPr/>
          </p:nvCxnSpPr>
          <p:spPr bwMode="auto">
            <a:xfrm flipH="1">
              <a:off x="228601" y="2057400"/>
              <a:ext cx="22224" cy="389417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Straight Arrow Connector 23"/>
            <p:cNvCxnSpPr/>
            <p:nvPr/>
          </p:nvCxnSpPr>
          <p:spPr bwMode="auto">
            <a:xfrm>
              <a:off x="609600" y="6324600"/>
              <a:ext cx="31242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5" name="TextBox 24"/>
            <p:cNvSpPr txBox="1"/>
            <p:nvPr/>
          </p:nvSpPr>
          <p:spPr>
            <a:xfrm>
              <a:off x="76200" y="4572000"/>
              <a:ext cx="396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 bwMode="auto">
            <a:xfrm>
              <a:off x="5067300" y="6309963"/>
              <a:ext cx="340822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>
              <a:off x="4953000" y="2057400"/>
              <a:ext cx="0" cy="42286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4764487" y="4510384"/>
              <a:ext cx="3770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θ</a:t>
              </a:r>
              <a:endParaRPr lang="en-US" dirty="0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3733800" y="1981201"/>
              <a:ext cx="4741720" cy="373379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609600" y="1981201"/>
              <a:ext cx="7924800" cy="2529183"/>
            </a:xfrm>
            <a:prstGeom prst="straightConnector1">
              <a:avLst/>
            </a:prstGeom>
            <a:ln w="25400">
              <a:headEnd type="triangl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611587" y="3657600"/>
              <a:ext cx="7922813" cy="2465426"/>
            </a:xfrm>
            <a:prstGeom prst="straightConnector1">
              <a:avLst/>
            </a:prstGeom>
            <a:ln w="25400">
              <a:solidFill>
                <a:srgbClr val="009900"/>
              </a:solidFill>
              <a:headEnd type="triangl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3810000" y="2362200"/>
              <a:ext cx="4572000" cy="3760826"/>
            </a:xfrm>
            <a:prstGeom prst="straightConnector1">
              <a:avLst/>
            </a:prstGeom>
            <a:ln w="25400">
              <a:solidFill>
                <a:schemeClr val="accent3"/>
              </a:solidFill>
              <a:headEnd type="triangl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983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Warping images to common reference</a:t>
            </a:r>
          </a:p>
        </p:txBody>
      </p:sp>
      <p:pic>
        <p:nvPicPr>
          <p:cNvPr id="4" name="Content Placeholder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114425"/>
            <a:ext cx="2133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68490"/>
            <a:ext cx="2209800" cy="2017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352800"/>
            <a:ext cx="7391400" cy="2971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7744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1037664"/>
            <a:ext cx="7010400" cy="569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Pixel-level disparity map</a:t>
            </a:r>
          </a:p>
        </p:txBody>
      </p:sp>
    </p:spTree>
    <p:extLst>
      <p:ext uri="{BB962C8B-B14F-4D97-AF65-F5344CB8AC3E}">
        <p14:creationId xmlns:p14="http://schemas.microsoft.com/office/powerpoint/2010/main" val="221768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774" y="1039483"/>
            <a:ext cx="8531226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Disparity is effectively an angular measurement of pixel displacement between two images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baseline length, depth can be found</a:t>
            </a:r>
          </a:p>
          <a:p>
            <a:pPr marL="0" indent="0">
              <a:buNone/>
            </a:pPr>
            <a:r>
              <a:rPr lang="en-US" dirty="0"/>
              <a:t>via basic trigonometry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Disparity To Depth</a:t>
            </a:r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856199"/>
              </p:ext>
            </p:extLst>
          </p:nvPr>
        </p:nvGraphicFramePr>
        <p:xfrm>
          <a:off x="6081713" y="1371600"/>
          <a:ext cx="5729287" cy="520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993234" imgH="7270020" progId="Visio.Drawing.11">
                  <p:embed/>
                </p:oleObj>
              </mc:Choice>
              <mc:Fallback>
                <p:oleObj name="Visio" r:id="rId2" imgW="7993234" imgH="7270020" progId="Visio.Drawing.11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13" y="1371600"/>
                        <a:ext cx="5729287" cy="5202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90488"/>
              </p:ext>
            </p:extLst>
          </p:nvPr>
        </p:nvGraphicFramePr>
        <p:xfrm>
          <a:off x="990600" y="3733800"/>
          <a:ext cx="3975100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74760" imgH="2006280" progId="Equation.3">
                  <p:embed/>
                </p:oleObj>
              </mc:Choice>
              <mc:Fallback>
                <p:oleObj name="Equation" r:id="rId4" imgW="3974760" imgH="20062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600" y="3733800"/>
                        <a:ext cx="3975100" cy="200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573087" y="5257800"/>
            <a:ext cx="4492626" cy="1447800"/>
          </a:xfrm>
          <a:prstGeom prst="rect">
            <a:avLst/>
          </a:prstGeom>
        </p:spPr>
        <p:txBody>
          <a:bodyPr vert="horz" lIns="0" tIns="45720" rIns="4572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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" pitchFamily="2" charset="2"/>
              <a:buChar char="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200"/>
              </a:spcBef>
              <a:buClr>
                <a:schemeClr val="accent1"/>
              </a:buClr>
              <a:buFont typeface="Wingdings" pitchFamily="2" charset="2"/>
              <a:buChar char="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100"/>
              </a:spcBef>
              <a:buClr>
                <a:schemeClr val="accent1"/>
              </a:buClr>
              <a:buFont typeface="Wingdings" pitchFamily="2" charset="2"/>
              <a:buChar char="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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dirty="0"/>
          </a:p>
          <a:p>
            <a:pPr fontAlgn="auto">
              <a:spcAft>
                <a:spcPts val="0"/>
              </a:spcAft>
            </a:pPr>
            <a:endParaRPr lang="en-US" dirty="0"/>
          </a:p>
          <a:p>
            <a:pPr marL="0" indent="0" fontAlgn="auto"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986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2743200" y="1280886"/>
            <a:ext cx="7099139" cy="5257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Results, “Village”</a:t>
            </a:r>
          </a:p>
        </p:txBody>
      </p:sp>
      <p:pic>
        <p:nvPicPr>
          <p:cNvPr id="5" name="Content Placeholder 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2514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36612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909718" y="1039813"/>
            <a:ext cx="7099139" cy="5257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on “Village”</a:t>
            </a:r>
          </a:p>
        </p:txBody>
      </p:sp>
    </p:spTree>
    <p:extLst>
      <p:ext uri="{BB962C8B-B14F-4D97-AF65-F5344CB8AC3E}">
        <p14:creationId xmlns:p14="http://schemas.microsoft.com/office/powerpoint/2010/main" val="378868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2998788" cy="1811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Results, “Cylinders”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4113" r="16320" b="8442"/>
          <a:stretch/>
        </p:blipFill>
        <p:spPr bwMode="auto">
          <a:xfrm>
            <a:off x="3429000" y="1447800"/>
            <a:ext cx="5486400" cy="48285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22150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909718" y="1039813"/>
            <a:ext cx="7099139" cy="5257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on “Cylinders”</a:t>
            </a:r>
          </a:p>
        </p:txBody>
      </p:sp>
    </p:spTree>
    <p:extLst>
      <p:ext uri="{BB962C8B-B14F-4D97-AF65-F5344CB8AC3E}">
        <p14:creationId xmlns:p14="http://schemas.microsoft.com/office/powerpoint/2010/main" val="1569732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Summary, Simulated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180894"/>
              </p:ext>
            </p:extLst>
          </p:nvPr>
        </p:nvGraphicFramePr>
        <p:xfrm>
          <a:off x="1524000" y="1397000"/>
          <a:ext cx="6705600" cy="141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  <a:r>
                        <a:rPr lang="en-US" baseline="0" dirty="0"/>
                        <a:t> 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Average Depth Error (meters)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Average Percent Error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  <a:sym typeface="Symbol"/>
                        </a:rPr>
                        <a:t></a:t>
                      </a:r>
                      <a:r>
                        <a:rPr lang="en-US" sz="1100" dirty="0">
                          <a:effectLst/>
                        </a:rPr>
                        <a:t> Depth error (meters)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ΔZ, meters (near, far)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Operating Range (meters)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Village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22.8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9%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44.5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(4.15,8.58)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160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Cylinders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2.5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10%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7.5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(0.25, 0.53)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50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645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 map computation requires accurate alignment between the image pairs</a:t>
            </a:r>
          </a:p>
          <a:p>
            <a:endParaRPr lang="en-US" dirty="0"/>
          </a:p>
          <a:p>
            <a:r>
              <a:rPr lang="en-US" dirty="0"/>
              <a:t>If telemetry has errors in position, range measurements will be incorrect but at least they’ll be in the right place in the image</a:t>
            </a:r>
          </a:p>
          <a:p>
            <a:endParaRPr lang="en-US" dirty="0"/>
          </a:p>
          <a:p>
            <a:r>
              <a:rPr lang="en-US" dirty="0"/>
              <a:t>If telemetry has errors in rotation, the images won’t align properly and the disparity maps will be thrown off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Rotation errors far more likely – inexpensive GPS is usually fairly accurate, but inexpensive IMU is quite noisy and drifts rapidly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DOF telemetry correction</a:t>
            </a:r>
          </a:p>
        </p:txBody>
      </p:sp>
    </p:spTree>
    <p:extLst>
      <p:ext uri="{BB962C8B-B14F-4D97-AF65-F5344CB8AC3E}">
        <p14:creationId xmlns:p14="http://schemas.microsoft.com/office/powerpoint/2010/main" val="276905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5" r="7566" b="6190"/>
          <a:stretch/>
        </p:blipFill>
        <p:spPr bwMode="auto">
          <a:xfrm>
            <a:off x="2209800" y="1962131"/>
            <a:ext cx="4578119" cy="37528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telemetry rotation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5862935"/>
            <a:ext cx="6088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Can’t compute a depth map from this!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430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Rotation errors manifest as vertical shift in warped image pairs</a:t>
            </a:r>
          </a:p>
        </p:txBody>
      </p:sp>
    </p:spTree>
    <p:extLst>
      <p:ext uri="{BB962C8B-B14F-4D97-AF65-F5344CB8AC3E}">
        <p14:creationId xmlns:p14="http://schemas.microsoft.com/office/powerpoint/2010/main" val="180854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1774" y="1039482"/>
            <a:ext cx="8319101" cy="4867048"/>
          </a:xfrm>
        </p:spPr>
        <p:txBody>
          <a:bodyPr>
            <a:normAutofit/>
          </a:bodyPr>
          <a:lstStyle/>
          <a:p>
            <a:r>
              <a:rPr lang="en-US" dirty="0"/>
              <a:t>On-board INS has limited accuracy so stereo rectification is always imperfect</a:t>
            </a:r>
          </a:p>
          <a:p>
            <a:r>
              <a:rPr lang="en-US" dirty="0"/>
              <a:t>In epipolar space, angle is along the Y axis, so unmeasured rotations will cause vertical shift in otherwise correctly rectified images</a:t>
            </a:r>
          </a:p>
          <a:p>
            <a:r>
              <a:rPr lang="en-US" dirty="0"/>
              <a:t>Given a set of reference points tracked between frames, can compute an angular correction using the Levenberg-Marquardt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Fine-scale rectification correction</a:t>
            </a: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31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775" y="1039483"/>
            <a:ext cx="7159626" cy="5257800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Given estimated 6DOF parameters for two images, generate initial fundamental camera matrix </a:t>
            </a:r>
            <a:r>
              <a:rPr lang="en-US" i="1" dirty="0"/>
              <a:t>F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Compute epipoles by finding the eigevector associated with the smallest eigenvalue for </a:t>
            </a:r>
            <a:r>
              <a:rPr lang="en-US" i="1" dirty="0"/>
              <a:t>F`F</a:t>
            </a:r>
            <a:r>
              <a:rPr lang="en-US" dirty="0"/>
              <a:t> and </a:t>
            </a:r>
            <a:r>
              <a:rPr lang="en-US" i="1" dirty="0"/>
              <a:t>FF`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Map feature points to epipolar space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Define epipolar error vector ε, which contains the vertical (i.e. angular) errors between each reference data point (in epipolar space) and its location in subsequent epipolar images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Minimize              using </a:t>
            </a:r>
            <a:r>
              <a:rPr lang="en-US" dirty="0" err="1"/>
              <a:t>Levenburg-Marquadt</a:t>
            </a:r>
            <a:endParaRPr lang="en-US" dirty="0"/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Compute Jacobian (J) of system with respect to the 6DOF parameters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Use Gauss-Jordan elimination to solve                                    for </a:t>
            </a:r>
            <a:r>
              <a:rPr lang="en-US" dirty="0">
                <a:sym typeface="Symbol"/>
              </a:rPr>
              <a:t>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>
                <a:sym typeface="Symbol"/>
              </a:rPr>
              <a:t>Test error with adjustment vector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>
                <a:sym typeface="Symbol"/>
              </a:rPr>
              <a:t>If </a:t>
            </a:r>
            <a:r>
              <a:rPr lang="en-US" dirty="0" err="1"/>
              <a:t>E</a:t>
            </a:r>
            <a:r>
              <a:rPr lang="en-US" baseline="-25000" dirty="0" err="1"/>
              <a:t>update</a:t>
            </a:r>
            <a:r>
              <a:rPr lang="en-US" baseline="-25000" dirty="0"/>
              <a:t> </a:t>
            </a:r>
            <a:r>
              <a:rPr lang="en-US" dirty="0"/>
              <a:t>&gt;= </a:t>
            </a:r>
            <a:r>
              <a:rPr lang="en-US" dirty="0" err="1"/>
              <a:t>E</a:t>
            </a:r>
            <a:r>
              <a:rPr lang="en-US" baseline="-25000" dirty="0" err="1"/>
              <a:t>initial</a:t>
            </a:r>
            <a:r>
              <a:rPr lang="en-US" baseline="-25000" dirty="0"/>
              <a:t>  ,</a:t>
            </a:r>
            <a:r>
              <a:rPr lang="en-US" dirty="0">
                <a:sym typeface="Symbol"/>
              </a:rPr>
              <a:t>= *10, repeat step 3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>
                <a:sym typeface="Symbol"/>
              </a:rPr>
              <a:t>If </a:t>
            </a:r>
            <a:r>
              <a:rPr lang="en-US" dirty="0" err="1"/>
              <a:t>E</a:t>
            </a:r>
            <a:r>
              <a:rPr lang="en-US" baseline="-25000" dirty="0" err="1"/>
              <a:t>update</a:t>
            </a:r>
            <a:r>
              <a:rPr lang="en-US" baseline="-25000" dirty="0"/>
              <a:t> </a:t>
            </a:r>
            <a:r>
              <a:rPr lang="en-US" dirty="0"/>
              <a:t>&lt;= </a:t>
            </a:r>
            <a:r>
              <a:rPr lang="en-US" dirty="0" err="1"/>
              <a:t>E</a:t>
            </a:r>
            <a:r>
              <a:rPr lang="en-US" baseline="-25000" dirty="0" err="1"/>
              <a:t>initial</a:t>
            </a:r>
            <a:r>
              <a:rPr lang="en-US" baseline="-25000" dirty="0"/>
              <a:t>  ,</a:t>
            </a:r>
            <a:r>
              <a:rPr lang="en-US" dirty="0">
                <a:sym typeface="Symbol"/>
              </a:rPr>
              <a:t>= /10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>
                <a:sym typeface="Symbol"/>
              </a:rPr>
              <a:t>Repeat until </a:t>
            </a:r>
            <a:r>
              <a:rPr lang="en-US" i="1" dirty="0">
                <a:sym typeface="Symbol"/>
              </a:rPr>
              <a:t>E </a:t>
            </a:r>
            <a:r>
              <a:rPr lang="en-US" dirty="0">
                <a:sym typeface="Symbol"/>
              </a:rPr>
              <a:t>converges</a:t>
            </a:r>
          </a:p>
          <a:p>
            <a:pPr marL="685800" lvl="1" indent="-457200">
              <a:buFont typeface="+mj-lt"/>
              <a:buAutoNum type="arabicPeriod"/>
            </a:pPr>
            <a:endParaRPr lang="en-US" dirty="0"/>
          </a:p>
          <a:p>
            <a:pPr marL="685800" lvl="1" indent="-457200">
              <a:buFont typeface="+mj-lt"/>
              <a:buAutoNum type="arabicPeriod"/>
            </a:pPr>
            <a:endParaRPr lang="en-US" dirty="0"/>
          </a:p>
          <a:p>
            <a:pPr marL="685800" lvl="1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RIPIR Telemetry correction algorithm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034247"/>
              </p:ext>
            </p:extLst>
          </p:nvPr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14318"/>
              </p:ext>
            </p:extLst>
          </p:nvPr>
        </p:nvGraphicFramePr>
        <p:xfrm>
          <a:off x="2743200" y="2209800"/>
          <a:ext cx="4089400" cy="972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720" imgH="1117440" progId="Equation.3">
                  <p:embed/>
                </p:oleObj>
              </mc:Choice>
              <mc:Fallback>
                <p:oleObj name="Equation" r:id="rId4" imgW="4698720" imgH="11174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43200" y="2209800"/>
                        <a:ext cx="4089400" cy="972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446936"/>
              </p:ext>
            </p:extLst>
          </p:nvPr>
        </p:nvGraphicFramePr>
        <p:xfrm>
          <a:off x="3073400" y="4076700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08160" imgH="342720" progId="Equation.3">
                  <p:embed/>
                </p:oleObj>
              </mc:Choice>
              <mc:Fallback>
                <p:oleObj name="Equation" r:id="rId6" imgW="2108160" imgH="3427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73400" y="4076700"/>
                        <a:ext cx="210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463189"/>
              </p:ext>
            </p:extLst>
          </p:nvPr>
        </p:nvGraphicFramePr>
        <p:xfrm>
          <a:off x="1587500" y="4622800"/>
          <a:ext cx="622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253800" progId="Equation.3">
                  <p:embed/>
                </p:oleObj>
              </mc:Choice>
              <mc:Fallback>
                <p:oleObj name="Equation" r:id="rId8" imgW="62208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7500" y="4622800"/>
                        <a:ext cx="622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089904"/>
              </p:ext>
            </p:extLst>
          </p:nvPr>
        </p:nvGraphicFramePr>
        <p:xfrm>
          <a:off x="6280150" y="3575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215640" progId="Equation.3">
                  <p:embed/>
                </p:oleObj>
              </mc:Choice>
              <mc:Fallback>
                <p:oleObj name="Equation" r:id="rId10" imgW="1141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80150" y="3575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779667"/>
              </p:ext>
            </p:extLst>
          </p:nvPr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120" imgH="215640" progId="Equation.3">
                  <p:embed/>
                </p:oleObj>
              </mc:Choice>
              <mc:Fallback>
                <p:oleObj name="Equation" r:id="rId11" imgW="1141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325525"/>
              </p:ext>
            </p:extLst>
          </p:nvPr>
        </p:nvGraphicFramePr>
        <p:xfrm>
          <a:off x="4394200" y="5105400"/>
          <a:ext cx="1549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080" imgH="228600" progId="Equation.3">
                  <p:embed/>
                </p:oleObj>
              </mc:Choice>
              <mc:Fallback>
                <p:oleObj name="Equation" r:id="rId12" imgW="15490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94200" y="5105400"/>
                        <a:ext cx="1549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Brace 8"/>
          <p:cNvSpPr/>
          <p:nvPr/>
        </p:nvSpPr>
        <p:spPr>
          <a:xfrm>
            <a:off x="7696200" y="1066800"/>
            <a:ext cx="228600" cy="609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915275" y="1094601"/>
            <a:ext cx="1085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Needed for</a:t>
            </a:r>
          </a:p>
          <a:p>
            <a:r>
              <a:rPr lang="en-US" sz="1200" dirty="0"/>
              <a:t>Disparity</a:t>
            </a:r>
          </a:p>
          <a:p>
            <a:r>
              <a:rPr lang="en-US" sz="1200" dirty="0"/>
              <a:t>calculations</a:t>
            </a:r>
          </a:p>
        </p:txBody>
      </p:sp>
    </p:spTree>
    <p:extLst>
      <p:ext uri="{BB962C8B-B14F-4D97-AF65-F5344CB8AC3E}">
        <p14:creationId xmlns:p14="http://schemas.microsoft.com/office/powerpoint/2010/main" val="2820346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following </a:t>
            </a:r>
            <a:r>
              <a:rPr lang="en-US" dirty="0" err="1"/>
              <a:t>LevMar</a:t>
            </a:r>
            <a:r>
              <a:rPr lang="en-US" dirty="0"/>
              <a:t>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5862935"/>
            <a:ext cx="2159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Much better!</a:t>
            </a:r>
          </a:p>
        </p:txBody>
      </p:sp>
      <p:pic>
        <p:nvPicPr>
          <p:cNvPr id="7" name="Content Placeholder 3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5" r="7566" b="6190"/>
          <a:stretch/>
        </p:blipFill>
        <p:spPr bwMode="auto">
          <a:xfrm>
            <a:off x="140214" y="1143000"/>
            <a:ext cx="4578119" cy="37528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8" r="6236" b="6190"/>
          <a:stretch/>
        </p:blipFill>
        <p:spPr bwMode="auto">
          <a:xfrm>
            <a:off x="4038600" y="2876531"/>
            <a:ext cx="4615297" cy="37528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1694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 slides generated using Blender</a:t>
            </a:r>
          </a:p>
          <a:p>
            <a:pPr lvl="1"/>
            <a:r>
              <a:rPr lang="en-US" dirty="0"/>
              <a:t>Full ground truth</a:t>
            </a:r>
          </a:p>
          <a:p>
            <a:pPr lvl="1"/>
            <a:r>
              <a:rPr lang="en-US" dirty="0"/>
              <a:t>Perfect telemetry/Objective “truth” to correct towards</a:t>
            </a:r>
          </a:p>
          <a:p>
            <a:r>
              <a:rPr lang="en-US" dirty="0"/>
              <a:t>Real-world data proved much messier</a:t>
            </a:r>
          </a:p>
          <a:p>
            <a:pPr lvl="1"/>
            <a:r>
              <a:rPr lang="en-US" dirty="0"/>
              <a:t>Vionics (thermal camera vendor) provided ground and airborne data collects</a:t>
            </a:r>
          </a:p>
          <a:p>
            <a:pPr lvl="2"/>
            <a:r>
              <a:rPr lang="en-US" dirty="0"/>
              <a:t>~5 hours of ground based thermal video</a:t>
            </a:r>
          </a:p>
          <a:p>
            <a:pPr lvl="2"/>
            <a:r>
              <a:rPr lang="en-US" dirty="0"/>
              <a:t>~15 hours of airborne thermal video</a:t>
            </a:r>
          </a:p>
          <a:p>
            <a:pPr lvl="1"/>
            <a:r>
              <a:rPr lang="en-US" dirty="0"/>
              <a:t>Telemetry generated via homegrown INS system rather than COTS (i.e. </a:t>
            </a:r>
            <a:r>
              <a:rPr lang="en-US" dirty="0" err="1"/>
              <a:t>Microstrain</a:t>
            </a:r>
            <a:r>
              <a:rPr lang="en-US" dirty="0"/>
              <a:t> GX4) solution </a:t>
            </a:r>
          </a:p>
          <a:p>
            <a:pPr lvl="2"/>
            <a:r>
              <a:rPr lang="en-US" dirty="0"/>
              <a:t>.5Hz GPS </a:t>
            </a:r>
          </a:p>
          <a:p>
            <a:pPr lvl="2"/>
            <a:r>
              <a:rPr lang="en-US" dirty="0"/>
              <a:t>Uncompensated Honeywell 3-axis magnetometer</a:t>
            </a:r>
          </a:p>
          <a:p>
            <a:pPr lvl="2"/>
            <a:r>
              <a:rPr lang="en-US" dirty="0"/>
              <a:t>Unfiltered 3-axis accelerometer</a:t>
            </a:r>
          </a:p>
          <a:p>
            <a:pPr lvl="1"/>
            <a:r>
              <a:rPr lang="en-US" dirty="0"/>
              <a:t>No ground truth due to LIDAR flights being very expensive: ~$15K for 3-4 hours!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with real-world data</a:t>
            </a:r>
          </a:p>
        </p:txBody>
      </p:sp>
    </p:spTree>
    <p:extLst>
      <p:ext uri="{BB962C8B-B14F-4D97-AF65-F5344CB8AC3E}">
        <p14:creationId xmlns:p14="http://schemas.microsoft.com/office/powerpoint/2010/main" val="1208713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4" t="1545" r="7554" b="6189"/>
          <a:stretch/>
        </p:blipFill>
        <p:spPr bwMode="auto">
          <a:xfrm>
            <a:off x="228600" y="1254297"/>
            <a:ext cx="4528139" cy="36911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Short-term telemetry correction, real world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3" r="7554" b="5714"/>
          <a:stretch/>
        </p:blipFill>
        <p:spPr bwMode="auto">
          <a:xfrm>
            <a:off x="4038600" y="3080047"/>
            <a:ext cx="4373880" cy="32746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62111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Single frame-to-frame correction</a:t>
            </a:r>
          </a:p>
          <a:p>
            <a:r>
              <a:rPr lang="en-US" dirty="0"/>
              <a:t>Simulated Data had .5 rad added to Roll, pitch, yaw</a:t>
            </a:r>
          </a:p>
          <a:p>
            <a:r>
              <a:rPr lang="en-US" dirty="0"/>
              <a:t>Real-world data used as is</a:t>
            </a:r>
          </a:p>
          <a:p>
            <a:r>
              <a:rPr lang="en-US" dirty="0"/>
              <a:t>Conclusion:</a:t>
            </a:r>
          </a:p>
          <a:p>
            <a:pPr marL="342900" lvl="1" indent="0">
              <a:buNone/>
            </a:pPr>
            <a:r>
              <a:rPr lang="en-US" dirty="0" err="1"/>
              <a:t>LevMar</a:t>
            </a:r>
            <a:r>
              <a:rPr lang="en-US" dirty="0"/>
              <a:t> Correction works short term on real-world thermal data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Telemetry Correction performance, simulated vs real-world, short-term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744905"/>
              </p:ext>
            </p:extLst>
          </p:nvPr>
        </p:nvGraphicFramePr>
        <p:xfrm>
          <a:off x="228600" y="1676400"/>
          <a:ext cx="8435976" cy="670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Average Absolute Vertical Error, Naive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Average Absolute Vertical Error, Corrected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Simulated Data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33.85 pixels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.03 pixels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Real-world Data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>
                          <a:effectLst/>
                        </a:rPr>
                        <a:t>4.32 pixels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100" dirty="0">
                          <a:effectLst/>
                        </a:rPr>
                        <a:t>.58 pixels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30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achieve the necessary depth resolution, need to maintain alignment on baselines of 50-100m</a:t>
            </a:r>
          </a:p>
          <a:p>
            <a:pPr lvl="1"/>
            <a:r>
              <a:rPr lang="en-US" dirty="0"/>
              <a:t>100-300 frames of airborne video</a:t>
            </a:r>
          </a:p>
          <a:p>
            <a:r>
              <a:rPr lang="en-US" dirty="0"/>
              <a:t>Airborne telemetry was stable over 20-30 frames, but beyond was essentially chaotic, with reported roll, pitch, yaw rates &gt;3deg/sec – not realistic for light aircraft!</a:t>
            </a:r>
          </a:p>
          <a:p>
            <a:r>
              <a:rPr lang="en-US" dirty="0" err="1"/>
              <a:t>LevMar</a:t>
            </a:r>
            <a:r>
              <a:rPr lang="en-US" dirty="0"/>
              <a:t> helped, but not enough: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Long-term telemetry correction, real-world</a:t>
            </a:r>
          </a:p>
        </p:txBody>
      </p:sp>
      <p:pic>
        <p:nvPicPr>
          <p:cNvPr id="4" name="Content Placeholder 3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3" t="5446" r="8099" b="2525"/>
          <a:stretch/>
        </p:blipFill>
        <p:spPr bwMode="auto">
          <a:xfrm>
            <a:off x="2133600" y="3581400"/>
            <a:ext cx="4919726" cy="3085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67781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To see if </a:t>
            </a:r>
            <a:r>
              <a:rPr lang="en-US" sz="1800" dirty="0" err="1"/>
              <a:t>LevMar</a:t>
            </a:r>
            <a:r>
              <a:rPr lang="en-US" sz="1800" dirty="0"/>
              <a:t> works for longer baselines, identified sequences where GPS indicated aircraft was flying along fixed heading with constant altitude</a:t>
            </a:r>
          </a:p>
          <a:p>
            <a:r>
              <a:rPr lang="en-US" sz="1800" dirty="0"/>
              <a:t>Replaced roll with median of roll in the sequence, same with pitch</a:t>
            </a:r>
          </a:p>
          <a:p>
            <a:r>
              <a:rPr lang="en-US" sz="1800" dirty="0"/>
              <a:t>Course over ground from GPS used for heading</a:t>
            </a:r>
          </a:p>
          <a:p>
            <a:r>
              <a:rPr lang="en-US" sz="1800" dirty="0"/>
              <a:t>Using smoothed data, able to maintain &lt;5 pixel vertical error for 30m baseline and &lt;10 for 50m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Long-term telemetry correction, continued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6" t="5715" r="7857" b="1905"/>
          <a:stretch/>
        </p:blipFill>
        <p:spPr bwMode="auto">
          <a:xfrm>
            <a:off x="2514600" y="3505200"/>
            <a:ext cx="4162425" cy="3238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45989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8" t="6072" r="7896" b="6072"/>
          <a:stretch/>
        </p:blipFill>
        <p:spPr bwMode="auto">
          <a:xfrm>
            <a:off x="304800" y="1447800"/>
            <a:ext cx="3733800" cy="3657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Results: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0" t="6721" r="5956" b="5710"/>
          <a:stretch/>
        </p:blipFill>
        <p:spPr bwMode="auto">
          <a:xfrm>
            <a:off x="4648200" y="1447800"/>
            <a:ext cx="4191000" cy="3581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" y="5257800"/>
            <a:ext cx="4348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 Color Thermal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5131" y="5250679"/>
            <a:ext cx="4243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Computed Depth Map (m)</a:t>
            </a:r>
          </a:p>
        </p:txBody>
      </p:sp>
    </p:spTree>
    <p:extLst>
      <p:ext uri="{BB962C8B-B14F-4D97-AF65-F5344CB8AC3E}">
        <p14:creationId xmlns:p14="http://schemas.microsoft.com/office/powerpoint/2010/main" val="1569295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Determined that algorithms are very sensitive to bad telemetry so more work is needed to make this a robust solution</a:t>
            </a:r>
          </a:p>
          <a:p>
            <a:endParaRPr lang="en-US" dirty="0"/>
          </a:p>
          <a:p>
            <a:r>
              <a:rPr lang="en-US" dirty="0"/>
              <a:t>However, core algorithms behind RIPIR work:</a:t>
            </a:r>
          </a:p>
          <a:p>
            <a:pPr lvl="1"/>
            <a:r>
              <a:rPr lang="en-US" dirty="0"/>
              <a:t>Can correct small telemetry errors if the telemetry resembles the imagery behavior</a:t>
            </a:r>
          </a:p>
          <a:p>
            <a:pPr lvl="1"/>
            <a:r>
              <a:rPr lang="en-US" dirty="0"/>
              <a:t>Can track points in thermal imagery well enough to compute a correction</a:t>
            </a:r>
          </a:p>
          <a:p>
            <a:pPr lvl="1"/>
            <a:r>
              <a:rPr lang="en-US" dirty="0"/>
              <a:t>Can generate highly accurate depth maps from a forward looking camera using simulated data</a:t>
            </a:r>
          </a:p>
          <a:p>
            <a:pPr lvl="1"/>
            <a:r>
              <a:rPr lang="en-US" dirty="0"/>
              <a:t>Low-cost thermal cameras provide good enough imagery that depth maps with reasonable accuracy are possible (~30% error based on 1</a:t>
            </a:r>
            <a:r>
              <a:rPr lang="en-US" baseline="30000" dirty="0"/>
              <a:t>st</a:t>
            </a:r>
            <a:r>
              <a:rPr lang="en-US" dirty="0"/>
              <a:t> order trig approximation)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	</a:t>
            </a:r>
          </a:p>
        </p:txBody>
      </p:sp>
    </p:spTree>
    <p:extLst>
      <p:ext uri="{BB962C8B-B14F-4D97-AF65-F5344CB8AC3E}">
        <p14:creationId xmlns:p14="http://schemas.microsoft.com/office/powerpoint/2010/main" val="3155016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Repeat data collection efforts with LIDAR for ground truth and better telemetry collection system!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Model uncertainty – how much will obscurants like smoke/haze/fire affect depth measurements?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how to deal with moving objects in the scene – UAVs will have to avoid moving objects like blowing trees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if </a:t>
            </a:r>
            <a:r>
              <a:rPr lang="en-US" dirty="0" err="1"/>
              <a:t>Levenburg-Marquadt</a:t>
            </a:r>
            <a:r>
              <a:rPr lang="en-US" dirty="0"/>
              <a:t> approach supports visual navigation in GPS-denied environments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Next Steps</a:t>
            </a:r>
          </a:p>
        </p:txBody>
      </p:sp>
    </p:spTree>
    <p:extLst>
      <p:ext uri="{BB962C8B-B14F-4D97-AF65-F5344CB8AC3E}">
        <p14:creationId xmlns:p14="http://schemas.microsoft.com/office/powerpoint/2010/main" val="1219668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Questions?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3798"/>
      </p:ext>
    </p:extLst>
  </p:cSld>
  <p:clrMapOvr>
    <a:masterClrMapping/>
  </p:clrMapOvr>
</p:sld>
</file>

<file path=ppt/theme/theme1.xml><?xml version="1.0" encoding="utf-8"?>
<a:theme xmlns:a="http://schemas.openxmlformats.org/drawingml/2006/main" name="CRA_Email">
  <a:themeElements>
    <a:clrScheme name="CRA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5595"/>
      </a:accent1>
      <a:accent2>
        <a:srgbClr val="C1D72E"/>
      </a:accent2>
      <a:accent3>
        <a:srgbClr val="F8981C"/>
      </a:accent3>
      <a:accent4>
        <a:srgbClr val="CEE3F3"/>
      </a:accent4>
      <a:accent5>
        <a:srgbClr val="0B9BDE"/>
      </a:accent5>
      <a:accent6>
        <a:srgbClr val="7D81BE"/>
      </a:accent6>
      <a:hlink>
        <a:srgbClr val="0000FF"/>
      </a:hlink>
      <a:folHlink>
        <a:srgbClr val="800080"/>
      </a:folHlink>
    </a:clrScheme>
    <a:fontScheme name="CRA_Emai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RA_PPT">
  <a:themeElements>
    <a:clrScheme name="CRA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5595"/>
      </a:accent1>
      <a:accent2>
        <a:srgbClr val="C1D72E"/>
      </a:accent2>
      <a:accent3>
        <a:srgbClr val="F8981C"/>
      </a:accent3>
      <a:accent4>
        <a:srgbClr val="CEE3F3"/>
      </a:accent4>
      <a:accent5>
        <a:srgbClr val="0B9BDE"/>
      </a:accent5>
      <a:accent6>
        <a:srgbClr val="7D81BE"/>
      </a:accent6>
      <a:hlink>
        <a:srgbClr val="0000FF"/>
      </a:hlink>
      <a:folHlink>
        <a:srgbClr val="800080"/>
      </a:folHlink>
    </a:clrScheme>
    <a:fontScheme name="CRA_PPT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CRA_Email</Template>
  <TotalTime>31504</TotalTime>
  <Words>1701</Words>
  <Application>Microsoft Office PowerPoint</Application>
  <PresentationFormat>On-screen Show (4:3)</PresentationFormat>
  <Paragraphs>300</Paragraphs>
  <Slides>34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Arial Narrow</vt:lpstr>
      <vt:lpstr>Calibri</vt:lpstr>
      <vt:lpstr>Symbol</vt:lpstr>
      <vt:lpstr>Times New Roman</vt:lpstr>
      <vt:lpstr>Verdana</vt:lpstr>
      <vt:lpstr>Wingdings</vt:lpstr>
      <vt:lpstr>CRA_Email</vt:lpstr>
      <vt:lpstr>CRA_PPT</vt:lpstr>
      <vt:lpstr>Equation</vt:lpstr>
      <vt:lpstr>Visio</vt:lpstr>
      <vt:lpstr>Range Identification via Passive Infrared (RIPIR)</vt:lpstr>
      <vt:lpstr>Presentation Overview</vt:lpstr>
      <vt:lpstr>Office of Naval Research (ONR) SBIR Topic -- 2015 </vt:lpstr>
      <vt:lpstr>Explanation</vt:lpstr>
      <vt:lpstr>Mapping ONR Requirements to Existing Solution Technologies</vt:lpstr>
      <vt:lpstr>Overview of Solution Technologies State of the Art </vt:lpstr>
      <vt:lpstr>Limitations of fixed-baseline stereo</vt:lpstr>
      <vt:lpstr>Limitation of single camera stereo</vt:lpstr>
      <vt:lpstr>Proposed Solution</vt:lpstr>
      <vt:lpstr>RIPIR Innovations</vt:lpstr>
      <vt:lpstr>Epipolar/Pollefeys warping</vt:lpstr>
      <vt:lpstr>Epipolar/Pollefeys warping continued</vt:lpstr>
      <vt:lpstr>Example: Warping images to common reference</vt:lpstr>
      <vt:lpstr>Example: Pixel-level disparity map</vt:lpstr>
      <vt:lpstr>Disparity To Depth</vt:lpstr>
      <vt:lpstr>Example Results, “Village”</vt:lpstr>
      <vt:lpstr>Performance on “Village”</vt:lpstr>
      <vt:lpstr>Example Results, “Cylinders”</vt:lpstr>
      <vt:lpstr>Performance on “Cylinders”</vt:lpstr>
      <vt:lpstr>Performance Summary, Simulated Data</vt:lpstr>
      <vt:lpstr>6 DOF telemetry correction</vt:lpstr>
      <vt:lpstr>Impact of telemetry rotation errors</vt:lpstr>
      <vt:lpstr>Fine-scale rectification correction</vt:lpstr>
      <vt:lpstr>RIPIR Telemetry correction algorithm</vt:lpstr>
      <vt:lpstr>Alignment following LevMar Correction</vt:lpstr>
      <vt:lpstr>Results with real-world data</vt:lpstr>
      <vt:lpstr>Short-term telemetry correction, real world</vt:lpstr>
      <vt:lpstr>Telemetry Correction performance, simulated vs real-world, short-term</vt:lpstr>
      <vt:lpstr>Long-term telemetry correction, real-world</vt:lpstr>
      <vt:lpstr>Long-term telemetry correction, continued</vt:lpstr>
      <vt:lpstr>Final Results:</vt:lpstr>
      <vt:lpstr>Conclusions </vt:lpstr>
      <vt:lpstr>Proposed Next Steps</vt:lpstr>
      <vt:lpstr>PowerPoint Presentation</vt:lpstr>
    </vt:vector>
  </TitlesOfParts>
  <Company>Charles River Analytics,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Management Division Overview</dc:title>
  <dc:creator>snealreilly</dc:creator>
  <cp:lastModifiedBy>Dana Phillips</cp:lastModifiedBy>
  <cp:revision>1495</cp:revision>
  <dcterms:created xsi:type="dcterms:W3CDTF">2010-10-15T15:14:31Z</dcterms:created>
  <dcterms:modified xsi:type="dcterms:W3CDTF">2023-06-07T19:49:26Z</dcterms:modified>
</cp:coreProperties>
</file>