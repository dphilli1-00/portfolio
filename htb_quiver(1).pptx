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7" r:id="rId12"/>
    <p:sldId id="268" r:id="rId13"/>
    <p:sldId id="273" r:id="rId14"/>
    <p:sldId id="274" r:id="rId15"/>
    <p:sldId id="265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2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788B"/>
    <a:srgbClr val="F0F0F0"/>
    <a:srgbClr val="7E00C8"/>
    <a:srgbClr val="FDF9FF"/>
    <a:srgbClr val="0A0B2B"/>
    <a:srgbClr val="7300BF"/>
    <a:srgbClr val="2D0068"/>
    <a:srgbClr val="C20CA9"/>
    <a:srgbClr val="D500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94660"/>
  </p:normalViewPr>
  <p:slideViewPr>
    <p:cSldViewPr snapToGrid="0">
      <p:cViewPr varScale="1">
        <p:scale>
          <a:sx n="177" d="100"/>
          <a:sy n="177" d="100"/>
        </p:scale>
        <p:origin x="446" y="86"/>
      </p:cViewPr>
      <p:guideLst>
        <p:guide orient="horz" pos="82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828800" cy="18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B9F0F-9FAF-4654-81C0-997662984D1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847EF8-58AC-434E-B401-82DF46772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775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0">
              <a:srgbClr val="7300BF"/>
            </a:gs>
            <a:gs pos="50000">
              <a:schemeClr val="accent2"/>
            </a:gs>
            <a:gs pos="100000">
              <a:schemeClr val="accent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81;p19" descr="A colorful logo with black background  AI-generated content may be incorrect.">
            <a:extLst>
              <a:ext uri="{FF2B5EF4-FFF2-40B4-BE49-F238E27FC236}">
                <a16:creationId xmlns:a16="http://schemas.microsoft.com/office/drawing/2014/main" id="{21646EBB-B513-4418-98C2-DDA88E23534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5827" t="5879" r="14538" b="33444"/>
          <a:stretch/>
        </p:blipFill>
        <p:spPr>
          <a:xfrm>
            <a:off x="0" y="0"/>
            <a:ext cx="631937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5324" y="171450"/>
            <a:ext cx="4295776" cy="24610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5324" y="1710928"/>
            <a:ext cx="4295776" cy="4798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Google Shape;84;p19" descr="A white letter on a black background  AI-generated content may be incorrect.">
            <a:extLst>
              <a:ext uri="{FF2B5EF4-FFF2-40B4-BE49-F238E27FC236}">
                <a16:creationId xmlns:a16="http://schemas.microsoft.com/office/drawing/2014/main" id="{C584577B-E6A2-1481-DB58-89C2C97ABD2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75648" y="319642"/>
            <a:ext cx="2444878" cy="21259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199B41F-6BAD-CF05-6289-16A50765007B}"/>
              </a:ext>
            </a:extLst>
          </p:cNvPr>
          <p:cNvSpPr txBox="1">
            <a:spLocks/>
          </p:cNvSpPr>
          <p:nvPr userDrawn="1"/>
        </p:nvSpPr>
        <p:spPr>
          <a:xfrm>
            <a:off x="4712924" y="4714833"/>
            <a:ext cx="1706675" cy="182233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4" name="Google Shape;177;p22">
            <a:extLst>
              <a:ext uri="{FF2B5EF4-FFF2-40B4-BE49-F238E27FC236}">
                <a16:creationId xmlns:a16="http://schemas.microsoft.com/office/drawing/2014/main" id="{164DE7FE-9CA0-60B4-B6BE-1EF47824F0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492842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5544" userDrawn="1">
          <p15:clr>
            <a:srgbClr val="FBAE40"/>
          </p15:clr>
        </p15:guide>
        <p15:guide id="3" orient="horz" pos="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Section Slide">
    <p:bg>
      <p:bgPr>
        <a:gradFill>
          <a:gsLst>
            <a:gs pos="0">
              <a:srgbClr val="F9788B"/>
            </a:gs>
            <a:gs pos="50000">
              <a:srgbClr val="C20CA9"/>
            </a:gs>
            <a:gs pos="100000">
              <a:srgbClr val="2D006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81;p19" descr="A colorful logo with black background  AI-generated content may be incorrect.">
            <a:extLst>
              <a:ext uri="{FF2B5EF4-FFF2-40B4-BE49-F238E27FC236}">
                <a16:creationId xmlns:a16="http://schemas.microsoft.com/office/drawing/2014/main" id="{410AA93B-CCC3-BC1F-0F79-D287214039BC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29000"/>
          </a:blip>
          <a:srcRect l="25827" t="5879" r="14538" b="33444"/>
          <a:stretch/>
        </p:blipFill>
        <p:spPr>
          <a:xfrm>
            <a:off x="0" y="0"/>
            <a:ext cx="631937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078B6F-1BC2-56EC-7966-F66EEF048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70" y="825500"/>
            <a:ext cx="8573246" cy="291806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Google Shape;177;p22">
            <a:extLst>
              <a:ext uri="{FF2B5EF4-FFF2-40B4-BE49-F238E27FC236}">
                <a16:creationId xmlns:a16="http://schemas.microsoft.com/office/drawing/2014/main" id="{026BA60A-8471-BBFA-5641-726CD0B074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sz="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ECD58-051E-0945-0179-DC6C41EAFD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434AFC-8803-F114-774A-802BE06C30B7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02154" y="1377656"/>
            <a:ext cx="8503920" cy="3365794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1450">
              <a:lnSpc>
                <a:spcPct val="110000"/>
              </a:lnSpc>
              <a:spcBef>
                <a:spcPts val="400"/>
              </a:spcBef>
              <a:buClr>
                <a:schemeClr val="tx2"/>
              </a:buClr>
              <a:buFont typeface="Poppins" panose="00000500000000000000" pitchFamily="2" charset="0"/>
              <a:buChar char="&gt;"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tx2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1450">
              <a:lnSpc>
                <a:spcPct val="110000"/>
              </a:lnSpc>
              <a:spcBef>
                <a:spcPts val="400"/>
              </a:spcBef>
              <a:buClr>
                <a:schemeClr val="tx2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tx2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5693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8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Blank White Layou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2" y="252986"/>
            <a:ext cx="4873640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12035" y="742950"/>
            <a:ext cx="8573081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176212" y="260250"/>
            <a:ext cx="907000" cy="3053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D3F85A6-4EA7-2673-E0C3-3779EFDEE6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75F6A8-F7E1-6453-0503-FD7B84F0BDDD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02154" y="1047750"/>
            <a:ext cx="8503920" cy="364050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1450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1450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5015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Freestyle box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3150" y="252986"/>
            <a:ext cx="484672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8AB0B8-6DB8-6976-7B2C-B087CECC11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6212" y="742950"/>
            <a:ext cx="8783637" cy="4000501"/>
          </a:xfrm>
          <a:prstGeom prst="roundRect">
            <a:avLst>
              <a:gd name="adj" fmla="val 433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091F317-F8CF-5DF6-6BE8-7D3F3D09B0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1225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freesty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7547" y="253694"/>
            <a:ext cx="4859704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8AB0B8-6DB8-6976-7B2C-B087CECC11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6213" y="742951"/>
            <a:ext cx="4249532" cy="4000500"/>
          </a:xfrm>
          <a:prstGeom prst="roundRect">
            <a:avLst>
              <a:gd name="adj" fmla="val 433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C584FF4-C367-F16B-6FD5-7C88D138114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07353" y="742951"/>
            <a:ext cx="4249532" cy="4000500"/>
          </a:xfrm>
          <a:prstGeom prst="roundRect">
            <a:avLst>
              <a:gd name="adj" fmla="val 433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7883E-454F-001D-AB73-2703F93E34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7012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880" userDrawn="1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 freesty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4775" y="252986"/>
            <a:ext cx="4858826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8AB0B8-6DB8-6976-7B2C-B087CECC11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2279" y="742949"/>
            <a:ext cx="2849216" cy="4000501"/>
          </a:xfrm>
          <a:prstGeom prst="roundRect">
            <a:avLst>
              <a:gd name="adj" fmla="val 433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C584FF4-C367-F16B-6FD5-7C88D138114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10359" y="742950"/>
            <a:ext cx="2849217" cy="4000501"/>
          </a:xfrm>
          <a:prstGeom prst="roundRect">
            <a:avLst>
              <a:gd name="adj" fmla="val 433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4C99FC20-90F7-311A-8234-2AA65F17970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147391" y="742949"/>
            <a:ext cx="2849217" cy="4000501"/>
          </a:xfrm>
          <a:prstGeom prst="roundRect">
            <a:avLst>
              <a:gd name="adj" fmla="val 433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700106D-1D23-5131-A7D7-970944ADA8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4410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880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One box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D073F04-1418-4550-E3D2-83B61351325D}"/>
              </a:ext>
            </a:extLst>
          </p:cNvPr>
          <p:cNvSpPr/>
          <p:nvPr userDrawn="1"/>
        </p:nvSpPr>
        <p:spPr>
          <a:xfrm>
            <a:off x="176212" y="749300"/>
            <a:ext cx="8783637" cy="39941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463" y="252986"/>
            <a:ext cx="4873389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176212" y="260250"/>
            <a:ext cx="907000" cy="3053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763768-4B02-E837-E0DC-8FCDAE98BBB9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02154" y="1216136"/>
            <a:ext cx="8503920" cy="343407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D76BF75E-0B6C-39F5-CB01-3165BA6FA5A7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12035" y="866432"/>
            <a:ext cx="8573081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7BE7CF0-78E2-DFE6-9947-C22AB446B8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Google Shape;387;p31">
            <a:extLst>
              <a:ext uri="{FF2B5EF4-FFF2-40B4-BE49-F238E27FC236}">
                <a16:creationId xmlns:a16="http://schemas.microsoft.com/office/drawing/2014/main" id="{18DA684B-B59E-6B3F-1CE2-A097189077F6}"/>
              </a:ext>
            </a:extLst>
          </p:cNvPr>
          <p:cNvSpPr/>
          <p:nvPr userDrawn="1"/>
        </p:nvSpPr>
        <p:spPr>
          <a:xfrm flipH="1">
            <a:off x="302154" y="1090668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454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One Box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2" y="749300"/>
            <a:ext cx="8783637" cy="39941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2" y="252986"/>
            <a:ext cx="4867014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ACCFDBE-F468-7F49-B74A-C4F9AB99F2E0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02154" y="852170"/>
            <a:ext cx="8503920" cy="382322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644541-40B9-BAD1-9877-41A156FE618A}"/>
              </a:ext>
            </a:extLst>
          </p:cNvPr>
          <p:cNvSpPr txBox="1">
            <a:spLocks/>
          </p:cNvSpPr>
          <p:nvPr userDrawn="1"/>
        </p:nvSpPr>
        <p:spPr>
          <a:xfrm>
            <a:off x="176212" y="260250"/>
            <a:ext cx="907000" cy="3053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C1A4F52-28A5-6E09-3809-367BFBFE62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4117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One dark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2" y="749300"/>
            <a:ext cx="8783637" cy="399415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02154" y="1101657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bg1"/>
              </a:solidFill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 userDrawn="1">
            <p:ph type="body" idx="14"/>
          </p:nvPr>
        </p:nvSpPr>
        <p:spPr>
          <a:xfrm>
            <a:off x="221974" y="878345"/>
            <a:ext cx="8573081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84A2DB-0B5C-6D48-A66F-E0145714C18C}"/>
              </a:ext>
            </a:extLst>
          </p:cNvPr>
          <p:cNvSpPr txBox="1">
            <a:spLocks/>
          </p:cNvSpPr>
          <p:nvPr userDrawn="1"/>
        </p:nvSpPr>
        <p:spPr>
          <a:xfrm>
            <a:off x="176212" y="260250"/>
            <a:ext cx="907000" cy="3053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E76F8E9-804E-7A10-6E5B-FDEDE6716426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9F9A66B-90AA-FEDC-7ECC-C92736A49BCD}"/>
              </a:ext>
            </a:extLst>
          </p:cNvPr>
          <p:cNvSpPr>
            <a:spLocks noGrp="1" noChangeAspect="1"/>
          </p:cNvSpPr>
          <p:nvPr userDrawn="1">
            <p:ph idx="1"/>
          </p:nvPr>
        </p:nvSpPr>
        <p:spPr>
          <a:xfrm>
            <a:off x="302154" y="1249197"/>
            <a:ext cx="8503920" cy="3398722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6219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One dark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2" y="252986"/>
            <a:ext cx="4866737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2" y="742950"/>
            <a:ext cx="8783637" cy="4002288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58D22-2191-DE43-CF41-3C42B6A7E3F8}"/>
              </a:ext>
            </a:extLst>
          </p:cNvPr>
          <p:cNvSpPr txBox="1">
            <a:spLocks/>
          </p:cNvSpPr>
          <p:nvPr userDrawn="1"/>
        </p:nvSpPr>
        <p:spPr>
          <a:xfrm>
            <a:off x="176212" y="260250"/>
            <a:ext cx="907000" cy="3053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780258C-05B6-1DB1-91AF-2BC519F255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098405-DDA1-1B6E-0AEE-B8BEC8673E16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02154" y="870807"/>
            <a:ext cx="8503920" cy="3817446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9414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744" userDrawn="1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One dark BG w/subtitle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7565" y="252986"/>
            <a:ext cx="487562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2" y="742950"/>
            <a:ext cx="8783637" cy="40005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02154" y="1098168"/>
            <a:ext cx="850392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 userDrawn="1">
            <p:ph type="body" idx="14"/>
          </p:nvPr>
        </p:nvSpPr>
        <p:spPr>
          <a:xfrm>
            <a:off x="212034" y="873385"/>
            <a:ext cx="8573081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575A8-2E5B-FB34-B2E6-69E534935C55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3E200A-1F4E-5BB1-5D52-59A812975F6A}"/>
              </a:ext>
            </a:extLst>
          </p:cNvPr>
          <p:cNvSpPr>
            <a:spLocks noGrp="1" noChangeAspect="1"/>
          </p:cNvSpPr>
          <p:nvPr userDrawn="1">
            <p:ph idx="1"/>
          </p:nvPr>
        </p:nvSpPr>
        <p:spPr>
          <a:xfrm>
            <a:off x="302154" y="1227912"/>
            <a:ext cx="8503920" cy="342011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9686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 userDrawn="1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One dark BG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1215" y="252986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4" y="4847300"/>
            <a:ext cx="2203283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2" y="742950"/>
            <a:ext cx="8783637" cy="40005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3906882-30A6-9701-FEA8-AC118A6316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444B5-B2AF-24A3-9029-18E2896DC364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02154" y="870808"/>
            <a:ext cx="8503920" cy="3817446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7804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boxes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3150" y="252986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83835" y="750564"/>
            <a:ext cx="4304346" cy="3997675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18453" y="1098485"/>
            <a:ext cx="39776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30EA9-8946-D9E3-7B70-C20C67B06213}"/>
              </a:ext>
            </a:extLst>
          </p:cNvPr>
          <p:cNvSpPr/>
          <p:nvPr userDrawn="1"/>
        </p:nvSpPr>
        <p:spPr>
          <a:xfrm>
            <a:off x="4663442" y="749300"/>
            <a:ext cx="4296723" cy="39941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Google Shape;387;p31">
            <a:extLst>
              <a:ext uri="{FF2B5EF4-FFF2-40B4-BE49-F238E27FC236}">
                <a16:creationId xmlns:a16="http://schemas.microsoft.com/office/drawing/2014/main" id="{D5E18D94-A083-16B9-5300-58A65E931F30}"/>
              </a:ext>
            </a:extLst>
          </p:cNvPr>
          <p:cNvSpPr/>
          <p:nvPr userDrawn="1"/>
        </p:nvSpPr>
        <p:spPr>
          <a:xfrm flipH="1">
            <a:off x="4806633" y="1092131"/>
            <a:ext cx="39776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ACCFDBE-F468-7F49-B74A-C4F9AB99F2E0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318453" y="1265981"/>
            <a:ext cx="3977640" cy="3448495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212035" y="879295"/>
            <a:ext cx="4084057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16E64F-AEC3-3E2B-733F-F4B9D1EC4649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4729437" y="875515"/>
            <a:ext cx="4084057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0E2A0-ED58-A017-89D1-F72C92F6487E}"/>
              </a:ext>
            </a:extLst>
          </p:cNvPr>
          <p:cNvSpPr>
            <a:spLocks noGrp="1"/>
          </p:cNvSpPr>
          <p:nvPr userDrawn="1">
            <p:ph idx="16"/>
          </p:nvPr>
        </p:nvSpPr>
        <p:spPr>
          <a:xfrm>
            <a:off x="4800600" y="1259632"/>
            <a:ext cx="3977640" cy="340232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tabLst>
                <a:tab pos="569913" algn="l"/>
              </a:tabLst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69A1E6B-BF7D-3C44-73BE-45BD4D7AAEF0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750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boxes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30EA9-8946-D9E3-7B70-C20C67B06213}"/>
              </a:ext>
            </a:extLst>
          </p:cNvPr>
          <p:cNvSpPr/>
          <p:nvPr userDrawn="1"/>
        </p:nvSpPr>
        <p:spPr>
          <a:xfrm>
            <a:off x="4663442" y="742950"/>
            <a:ext cx="4296723" cy="4002288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2950"/>
            <a:ext cx="4304346" cy="4002288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0016E4-3696-8FDB-6865-0CBA0D0D0BA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18453" y="849859"/>
            <a:ext cx="3977640" cy="3852194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06AF8-14E1-2895-B2C4-779649CDF76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835854" y="849859"/>
            <a:ext cx="3977640" cy="3852194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tabLst>
                <a:tab pos="569913" algn="l"/>
              </a:tabLst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228AA01-B7EF-DF8C-BA95-892D1C03E05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987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dark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3150" y="252986"/>
            <a:ext cx="48603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9300"/>
            <a:ext cx="4304346" cy="399415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18453" y="1134998"/>
            <a:ext cx="3977640" cy="7477"/>
          </a:xfrm>
          <a:prstGeom prst="rect">
            <a:avLst/>
          </a:prstGeom>
          <a:solidFill>
            <a:srgbClr val="0A0B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30EA9-8946-D9E3-7B70-C20C67B06213}"/>
              </a:ext>
            </a:extLst>
          </p:cNvPr>
          <p:cNvSpPr/>
          <p:nvPr userDrawn="1"/>
        </p:nvSpPr>
        <p:spPr>
          <a:xfrm>
            <a:off x="4663442" y="749300"/>
            <a:ext cx="4296723" cy="399415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Google Shape;387;p31">
            <a:extLst>
              <a:ext uri="{FF2B5EF4-FFF2-40B4-BE49-F238E27FC236}">
                <a16:creationId xmlns:a16="http://schemas.microsoft.com/office/drawing/2014/main" id="{D5E18D94-A083-16B9-5300-58A65E931F30}"/>
              </a:ext>
            </a:extLst>
          </p:cNvPr>
          <p:cNvSpPr/>
          <p:nvPr userDrawn="1"/>
        </p:nvSpPr>
        <p:spPr>
          <a:xfrm flipH="1">
            <a:off x="4806633" y="1134998"/>
            <a:ext cx="3977640" cy="7477"/>
          </a:xfrm>
          <a:prstGeom prst="rect">
            <a:avLst/>
          </a:prstGeom>
          <a:solidFill>
            <a:srgbClr val="0A0B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212036" y="873001"/>
            <a:ext cx="4084057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16E64F-AEC3-3E2B-733F-F4B9D1EC4649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4700216" y="873597"/>
            <a:ext cx="4084057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D417F77-B8E7-483A-7473-7FD433E5E65D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85A44-CF20-DF73-DBDA-0D9869D700B9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318453" y="1502493"/>
            <a:ext cx="3977640" cy="3142650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5154E8-4F19-1BF0-7A1A-7A10F0BABD18}"/>
              </a:ext>
            </a:extLst>
          </p:cNvPr>
          <p:cNvSpPr>
            <a:spLocks noGrp="1"/>
          </p:cNvSpPr>
          <p:nvPr userDrawn="1">
            <p:ph idx="16"/>
          </p:nvPr>
        </p:nvSpPr>
        <p:spPr>
          <a:xfrm>
            <a:off x="4835854" y="1502493"/>
            <a:ext cx="3977640" cy="3142650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tabLst>
                <a:tab pos="569913" algn="l"/>
              </a:tabLst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Google Shape;387;p31">
            <a:extLst>
              <a:ext uri="{FF2B5EF4-FFF2-40B4-BE49-F238E27FC236}">
                <a16:creationId xmlns:a16="http://schemas.microsoft.com/office/drawing/2014/main" id="{6AA66ACE-883F-24F5-001A-E61877696BBD}"/>
              </a:ext>
            </a:extLst>
          </p:cNvPr>
          <p:cNvSpPr/>
          <p:nvPr userDrawn="1"/>
        </p:nvSpPr>
        <p:spPr>
          <a:xfrm flipH="1">
            <a:off x="318453" y="1092135"/>
            <a:ext cx="39776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4" name="Google Shape;387;p31">
            <a:extLst>
              <a:ext uri="{FF2B5EF4-FFF2-40B4-BE49-F238E27FC236}">
                <a16:creationId xmlns:a16="http://schemas.microsoft.com/office/drawing/2014/main" id="{1EA811B7-1996-6480-197E-FE59888D3F75}"/>
              </a:ext>
            </a:extLst>
          </p:cNvPr>
          <p:cNvSpPr/>
          <p:nvPr userDrawn="1"/>
        </p:nvSpPr>
        <p:spPr>
          <a:xfrm flipH="1">
            <a:off x="4806633" y="1092131"/>
            <a:ext cx="39776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1193454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dark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8701" y="252986"/>
            <a:ext cx="4864900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2950"/>
            <a:ext cx="4304346" cy="4002288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30EA9-8946-D9E3-7B70-C20C67B06213}"/>
              </a:ext>
            </a:extLst>
          </p:cNvPr>
          <p:cNvSpPr/>
          <p:nvPr userDrawn="1"/>
        </p:nvSpPr>
        <p:spPr>
          <a:xfrm>
            <a:off x="4663442" y="742950"/>
            <a:ext cx="4296723" cy="4002288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54E21D9-F81F-E47C-CA95-B62D62ECDB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37B1A4-F354-F09E-D22B-8D3EB04DC15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18453" y="904646"/>
            <a:ext cx="3977640" cy="3797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69A41D6-9C54-9F19-56B9-2C3433DDBD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835854" y="904646"/>
            <a:ext cx="3977640" cy="3797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tabLst>
                <a:tab pos="569913" algn="l"/>
              </a:tabLst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7720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dark BG w/subtitle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8325" y="252986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36600"/>
            <a:ext cx="4304346" cy="40068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18453" y="1074673"/>
            <a:ext cx="39776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30EA9-8946-D9E3-7B70-C20C67B06213}"/>
              </a:ext>
            </a:extLst>
          </p:cNvPr>
          <p:cNvSpPr/>
          <p:nvPr userDrawn="1"/>
        </p:nvSpPr>
        <p:spPr>
          <a:xfrm>
            <a:off x="4663442" y="736600"/>
            <a:ext cx="4296723" cy="40068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Google Shape;387;p31">
            <a:extLst>
              <a:ext uri="{FF2B5EF4-FFF2-40B4-BE49-F238E27FC236}">
                <a16:creationId xmlns:a16="http://schemas.microsoft.com/office/drawing/2014/main" id="{D5E18D94-A083-16B9-5300-58A65E931F30}"/>
              </a:ext>
            </a:extLst>
          </p:cNvPr>
          <p:cNvSpPr/>
          <p:nvPr userDrawn="1"/>
        </p:nvSpPr>
        <p:spPr>
          <a:xfrm flipH="1">
            <a:off x="4806633" y="1074673"/>
            <a:ext cx="39776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212035" y="859419"/>
            <a:ext cx="4084057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D16E64F-AEC3-3E2B-733F-F4B9D1EC4649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4709559" y="859419"/>
            <a:ext cx="4084057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E4DED3E-FEE4-FBFF-8497-921A72AAC344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C570852-499F-74BF-A5DC-C7098EA1F543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318453" y="1198854"/>
            <a:ext cx="3977640" cy="346470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578C3B-C9D6-A4FF-0747-FE4AEADE4E50}"/>
              </a:ext>
            </a:extLst>
          </p:cNvPr>
          <p:cNvSpPr>
            <a:spLocks noGrp="1"/>
          </p:cNvSpPr>
          <p:nvPr userDrawn="1">
            <p:ph idx="16"/>
          </p:nvPr>
        </p:nvSpPr>
        <p:spPr>
          <a:xfrm>
            <a:off x="4835854" y="1198854"/>
            <a:ext cx="3977640" cy="346470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tabLst>
                <a:tab pos="569913" algn="l"/>
              </a:tabLst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163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dark BG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3150" y="252986"/>
            <a:ext cx="48603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2950"/>
            <a:ext cx="4304346" cy="4002288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30EA9-8946-D9E3-7B70-C20C67B06213}"/>
              </a:ext>
            </a:extLst>
          </p:cNvPr>
          <p:cNvSpPr/>
          <p:nvPr userDrawn="1"/>
        </p:nvSpPr>
        <p:spPr>
          <a:xfrm>
            <a:off x="4663442" y="742950"/>
            <a:ext cx="4296723" cy="4002288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33E3207-5037-7780-9CE9-9CA3A1DB8F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1A1BE6-08B1-B72E-587E-71C66D4FF3A2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18453" y="904646"/>
            <a:ext cx="3977640" cy="3797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73C8D-9EE2-07A6-281E-0C26925D0A0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835854" y="904646"/>
            <a:ext cx="3977640" cy="3797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tabLst>
                <a:tab pos="569913" algn="l"/>
              </a:tabLst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89024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3142366" y="747512"/>
            <a:ext cx="2841307" cy="39941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Google Shape;387;p31">
            <a:extLst>
              <a:ext uri="{FF2B5EF4-FFF2-40B4-BE49-F238E27FC236}">
                <a16:creationId xmlns:a16="http://schemas.microsoft.com/office/drawing/2014/main" id="{BCCAACBF-4AE1-0B46-6D4F-5463D6CAA084}"/>
              </a:ext>
            </a:extLst>
          </p:cNvPr>
          <p:cNvSpPr/>
          <p:nvPr userDrawn="1"/>
        </p:nvSpPr>
        <p:spPr>
          <a:xfrm flipH="1">
            <a:off x="3267212" y="1091935"/>
            <a:ext cx="2625648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1CE802E-24AC-CDC9-E04E-357CB4709CE5}"/>
              </a:ext>
            </a:extLst>
          </p:cNvPr>
          <p:cNvSpPr>
            <a:spLocks noGrp="1" noChangeAspect="1"/>
          </p:cNvSpPr>
          <p:nvPr userDrawn="1">
            <p:ph idx="21"/>
          </p:nvPr>
        </p:nvSpPr>
        <p:spPr>
          <a:xfrm>
            <a:off x="3303543" y="1224721"/>
            <a:ext cx="2552985" cy="343964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8" name="Google Shape;58;p15"/>
          <p:cNvSpPr txBox="1">
            <a:spLocks noGrp="1"/>
          </p:cNvSpPr>
          <p:nvPr userDrawn="1">
            <p:ph type="title"/>
          </p:nvPr>
        </p:nvSpPr>
        <p:spPr>
          <a:xfrm>
            <a:off x="1090246" y="253694"/>
            <a:ext cx="4893427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 userDrawn="1"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 userDrawn="1"/>
        </p:nvSpPr>
        <p:spPr>
          <a:xfrm>
            <a:off x="100225" y="4847300"/>
            <a:ext cx="712712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9300"/>
            <a:ext cx="2841307" cy="39941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01059" y="1093723"/>
            <a:ext cx="2625648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ACCFDBE-F468-7F49-B74A-C4F9AB99F2E0}"/>
              </a:ext>
            </a:extLst>
          </p:cNvPr>
          <p:cNvSpPr>
            <a:spLocks noGrp="1" noChangeAspect="1"/>
          </p:cNvSpPr>
          <p:nvPr userDrawn="1">
            <p:ph idx="1"/>
          </p:nvPr>
        </p:nvSpPr>
        <p:spPr>
          <a:xfrm>
            <a:off x="318453" y="1224721"/>
            <a:ext cx="2552985" cy="343964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 userDrawn="1">
            <p:ph type="body" idx="14"/>
          </p:nvPr>
        </p:nvSpPr>
        <p:spPr>
          <a:xfrm>
            <a:off x="212036" y="874964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3608493-51EB-091B-5B5D-9B2D72B5A4DD}"/>
              </a:ext>
            </a:extLst>
          </p:cNvPr>
          <p:cNvSpPr>
            <a:spLocks noGrp="1" noChangeAspect="1"/>
          </p:cNvSpPr>
          <p:nvPr userDrawn="1">
            <p:ph type="body" idx="16"/>
          </p:nvPr>
        </p:nvSpPr>
        <p:spPr>
          <a:xfrm>
            <a:off x="3178189" y="873176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6118269" y="747512"/>
            <a:ext cx="2841307" cy="39941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Google Shape;387;p31">
            <a:extLst>
              <a:ext uri="{FF2B5EF4-FFF2-40B4-BE49-F238E27FC236}">
                <a16:creationId xmlns:a16="http://schemas.microsoft.com/office/drawing/2014/main" id="{95F5EE2A-EF32-300E-B8FC-4CE4AF70D825}"/>
              </a:ext>
            </a:extLst>
          </p:cNvPr>
          <p:cNvSpPr/>
          <p:nvPr userDrawn="1"/>
        </p:nvSpPr>
        <p:spPr>
          <a:xfrm flipH="1">
            <a:off x="6243115" y="1091935"/>
            <a:ext cx="2625648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5D5C79A-9DB8-6701-AAE1-542B7C2EFAF8}"/>
              </a:ext>
            </a:extLst>
          </p:cNvPr>
          <p:cNvSpPr>
            <a:spLocks noGrp="1" noChangeAspect="1"/>
          </p:cNvSpPr>
          <p:nvPr userDrawn="1">
            <p:ph type="body" idx="18"/>
          </p:nvPr>
        </p:nvSpPr>
        <p:spPr>
          <a:xfrm>
            <a:off x="6154092" y="873176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014B0DC-942D-A092-6680-68ABC7866F3D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D9E22CA-0759-4A26-32E3-FCEBD3D8F63F}"/>
              </a:ext>
            </a:extLst>
          </p:cNvPr>
          <p:cNvSpPr>
            <a:spLocks noGrp="1" noChangeAspect="1"/>
          </p:cNvSpPr>
          <p:nvPr userDrawn="1">
            <p:ph idx="22"/>
          </p:nvPr>
        </p:nvSpPr>
        <p:spPr>
          <a:xfrm>
            <a:off x="6279446" y="1226788"/>
            <a:ext cx="2552985" cy="343964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0223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6118269" y="749300"/>
            <a:ext cx="2841307" cy="37338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FCA27A9-D7F8-C3EC-3DF4-02B31FB70E79}"/>
              </a:ext>
            </a:extLst>
          </p:cNvPr>
          <p:cNvSpPr>
            <a:spLocks noGrp="1" noChangeAspect="1"/>
          </p:cNvSpPr>
          <p:nvPr>
            <p:ph idx="22"/>
          </p:nvPr>
        </p:nvSpPr>
        <p:spPr>
          <a:xfrm>
            <a:off x="6279446" y="886457"/>
            <a:ext cx="2552985" cy="355731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2" y="258774"/>
            <a:ext cx="4900461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5" y="4847300"/>
            <a:ext cx="712712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51088"/>
            <a:ext cx="2841307" cy="37338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3142366" y="749300"/>
            <a:ext cx="2841307" cy="37338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F993C08-F4A2-7C12-EDCB-199EF58358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76AF623-F6CD-E023-519C-A1DCBB449035}"/>
              </a:ext>
            </a:extLst>
          </p:cNvPr>
          <p:cNvSpPr>
            <a:spLocks noGrp="1" noChangeAspect="1"/>
          </p:cNvSpPr>
          <p:nvPr>
            <p:ph idx="21"/>
          </p:nvPr>
        </p:nvSpPr>
        <p:spPr>
          <a:xfrm>
            <a:off x="3303543" y="884390"/>
            <a:ext cx="2552985" cy="355731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6E43FC-1732-FE32-4E4B-2DA7759245A1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18453" y="884390"/>
            <a:ext cx="2552985" cy="355731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6324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 dark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51088"/>
            <a:ext cx="2841307" cy="3992362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2" y="258774"/>
            <a:ext cx="4900461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 userDrawn="1"/>
        </p:nvSpPr>
        <p:spPr>
          <a:xfrm>
            <a:off x="100225" y="4847300"/>
            <a:ext cx="712712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01059" y="1136601"/>
            <a:ext cx="2625648" cy="7473"/>
          </a:xfrm>
          <a:prstGeom prst="rect">
            <a:avLst/>
          </a:prstGeom>
          <a:solidFill>
            <a:srgbClr val="0A0B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 userDrawn="1">
            <p:ph type="body" idx="14"/>
          </p:nvPr>
        </p:nvSpPr>
        <p:spPr>
          <a:xfrm>
            <a:off x="212036" y="874973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3142366" y="749300"/>
            <a:ext cx="2841307" cy="3992362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Google Shape;387;p31">
            <a:extLst>
              <a:ext uri="{FF2B5EF4-FFF2-40B4-BE49-F238E27FC236}">
                <a16:creationId xmlns:a16="http://schemas.microsoft.com/office/drawing/2014/main" id="{BCCAACBF-4AE1-0B46-6D4F-5463D6CAA084}"/>
              </a:ext>
            </a:extLst>
          </p:cNvPr>
          <p:cNvSpPr/>
          <p:nvPr userDrawn="1"/>
        </p:nvSpPr>
        <p:spPr>
          <a:xfrm flipH="1">
            <a:off x="3267212" y="1134813"/>
            <a:ext cx="2625648" cy="7473"/>
          </a:xfrm>
          <a:prstGeom prst="rect">
            <a:avLst/>
          </a:prstGeom>
          <a:solidFill>
            <a:srgbClr val="0A0B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3608493-51EB-091B-5B5D-9B2D72B5A4DD}"/>
              </a:ext>
            </a:extLst>
          </p:cNvPr>
          <p:cNvSpPr>
            <a:spLocks noGrp="1" noChangeAspect="1"/>
          </p:cNvSpPr>
          <p:nvPr userDrawn="1">
            <p:ph type="body" idx="16"/>
          </p:nvPr>
        </p:nvSpPr>
        <p:spPr>
          <a:xfrm>
            <a:off x="3178189" y="877947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6118269" y="749300"/>
            <a:ext cx="2841307" cy="3992362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Google Shape;387;p31">
            <a:extLst>
              <a:ext uri="{FF2B5EF4-FFF2-40B4-BE49-F238E27FC236}">
                <a16:creationId xmlns:a16="http://schemas.microsoft.com/office/drawing/2014/main" id="{95F5EE2A-EF32-300E-B8FC-4CE4AF70D825}"/>
              </a:ext>
            </a:extLst>
          </p:cNvPr>
          <p:cNvSpPr/>
          <p:nvPr userDrawn="1"/>
        </p:nvSpPr>
        <p:spPr>
          <a:xfrm flipH="1">
            <a:off x="6243115" y="1134813"/>
            <a:ext cx="2625648" cy="7473"/>
          </a:xfrm>
          <a:prstGeom prst="rect">
            <a:avLst/>
          </a:prstGeom>
          <a:solidFill>
            <a:srgbClr val="0A0B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5D5C79A-9DB8-6701-AAE1-542B7C2EFAF8}"/>
              </a:ext>
            </a:extLst>
          </p:cNvPr>
          <p:cNvSpPr>
            <a:spLocks noGrp="1" noChangeAspect="1"/>
          </p:cNvSpPr>
          <p:nvPr userDrawn="1">
            <p:ph type="body" idx="18"/>
          </p:nvPr>
        </p:nvSpPr>
        <p:spPr>
          <a:xfrm>
            <a:off x="6154092" y="877947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CBC8DDD-616C-CC31-8644-D69629738D7B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D60E462-98F0-C5BA-3107-A7E2F9CABDC1}"/>
              </a:ext>
            </a:extLst>
          </p:cNvPr>
          <p:cNvSpPr>
            <a:spLocks noGrp="1" noChangeAspect="1"/>
          </p:cNvSpPr>
          <p:nvPr userDrawn="1">
            <p:ph idx="21"/>
          </p:nvPr>
        </p:nvSpPr>
        <p:spPr>
          <a:xfrm>
            <a:off x="3303543" y="1246136"/>
            <a:ext cx="2552985" cy="341685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CA0A603-369A-EE16-6838-75D9CB12855F}"/>
              </a:ext>
            </a:extLst>
          </p:cNvPr>
          <p:cNvSpPr>
            <a:spLocks noGrp="1" noChangeAspect="1"/>
          </p:cNvSpPr>
          <p:nvPr userDrawn="1">
            <p:ph idx="1"/>
          </p:nvPr>
        </p:nvSpPr>
        <p:spPr>
          <a:xfrm>
            <a:off x="318453" y="1246136"/>
            <a:ext cx="2552985" cy="341685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26EB69F-54AA-8D77-44A9-2F237490E634}"/>
              </a:ext>
            </a:extLst>
          </p:cNvPr>
          <p:cNvSpPr>
            <a:spLocks noGrp="1" noChangeAspect="1"/>
          </p:cNvSpPr>
          <p:nvPr userDrawn="1">
            <p:ph idx="22"/>
          </p:nvPr>
        </p:nvSpPr>
        <p:spPr>
          <a:xfrm>
            <a:off x="6279446" y="1248203"/>
            <a:ext cx="2552985" cy="341685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Google Shape;387;p31">
            <a:extLst>
              <a:ext uri="{FF2B5EF4-FFF2-40B4-BE49-F238E27FC236}">
                <a16:creationId xmlns:a16="http://schemas.microsoft.com/office/drawing/2014/main" id="{73AE25A3-322F-7F32-D4ED-A9F3D8694824}"/>
              </a:ext>
            </a:extLst>
          </p:cNvPr>
          <p:cNvSpPr/>
          <p:nvPr userDrawn="1"/>
        </p:nvSpPr>
        <p:spPr>
          <a:xfrm flipH="1">
            <a:off x="318453" y="1092135"/>
            <a:ext cx="26060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5" name="Google Shape;387;p31">
            <a:extLst>
              <a:ext uri="{FF2B5EF4-FFF2-40B4-BE49-F238E27FC236}">
                <a16:creationId xmlns:a16="http://schemas.microsoft.com/office/drawing/2014/main" id="{BC3C9510-45C6-3163-9CF2-A99455907846}"/>
              </a:ext>
            </a:extLst>
          </p:cNvPr>
          <p:cNvSpPr/>
          <p:nvPr userDrawn="1"/>
        </p:nvSpPr>
        <p:spPr>
          <a:xfrm flipH="1">
            <a:off x="3276283" y="1092131"/>
            <a:ext cx="26060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9" name="Google Shape;387;p31">
            <a:extLst>
              <a:ext uri="{FF2B5EF4-FFF2-40B4-BE49-F238E27FC236}">
                <a16:creationId xmlns:a16="http://schemas.microsoft.com/office/drawing/2014/main" id="{47AA82C4-FD5A-528B-4692-D93D82D2E930}"/>
              </a:ext>
            </a:extLst>
          </p:cNvPr>
          <p:cNvSpPr/>
          <p:nvPr userDrawn="1"/>
        </p:nvSpPr>
        <p:spPr>
          <a:xfrm flipH="1">
            <a:off x="6243946" y="1093258"/>
            <a:ext cx="2606040" cy="7477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925675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 dark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2" y="253694"/>
            <a:ext cx="4900461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5" y="4847300"/>
            <a:ext cx="712712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4738"/>
            <a:ext cx="2841307" cy="400050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3142366" y="742950"/>
            <a:ext cx="2841307" cy="400050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6118269" y="742950"/>
            <a:ext cx="2841307" cy="400050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F003C1F-5228-B17F-75F4-29D85656CE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4EC602-6FA7-D89B-712C-9C762F086099}"/>
              </a:ext>
            </a:extLst>
          </p:cNvPr>
          <p:cNvSpPr>
            <a:spLocks noGrp="1" noChangeAspect="1"/>
          </p:cNvSpPr>
          <p:nvPr>
            <p:ph idx="21"/>
          </p:nvPr>
        </p:nvSpPr>
        <p:spPr>
          <a:xfrm>
            <a:off x="3303543" y="890646"/>
            <a:ext cx="2552985" cy="3811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5B7F43-1189-E7F2-DBFC-A5103DC33F4F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18453" y="890646"/>
            <a:ext cx="2552985" cy="3811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DFCFF9E-6953-13D1-910E-AC97DE3D04BE}"/>
              </a:ext>
            </a:extLst>
          </p:cNvPr>
          <p:cNvSpPr>
            <a:spLocks noGrp="1" noChangeAspect="1"/>
          </p:cNvSpPr>
          <p:nvPr>
            <p:ph idx="22"/>
          </p:nvPr>
        </p:nvSpPr>
        <p:spPr>
          <a:xfrm>
            <a:off x="6279446" y="892713"/>
            <a:ext cx="2552985" cy="3811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2588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 dark BG w/subtitle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2" y="253694"/>
            <a:ext cx="4900461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5" y="4847300"/>
            <a:ext cx="712712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38388"/>
            <a:ext cx="2841307" cy="4005062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387;p31">
            <a:extLst>
              <a:ext uri="{FF2B5EF4-FFF2-40B4-BE49-F238E27FC236}">
                <a16:creationId xmlns:a16="http://schemas.microsoft.com/office/drawing/2014/main" id="{FE35385D-7ECF-1974-F4B3-B2A0DA0A545E}"/>
              </a:ext>
            </a:extLst>
          </p:cNvPr>
          <p:cNvSpPr/>
          <p:nvPr userDrawn="1"/>
        </p:nvSpPr>
        <p:spPr>
          <a:xfrm flipH="1">
            <a:off x="301059" y="1079451"/>
            <a:ext cx="2625648" cy="7473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 userDrawn="1">
            <p:ph type="body" idx="14"/>
          </p:nvPr>
        </p:nvSpPr>
        <p:spPr>
          <a:xfrm>
            <a:off x="212036" y="859415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3142366" y="736600"/>
            <a:ext cx="2841307" cy="4005062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Google Shape;387;p31">
            <a:extLst>
              <a:ext uri="{FF2B5EF4-FFF2-40B4-BE49-F238E27FC236}">
                <a16:creationId xmlns:a16="http://schemas.microsoft.com/office/drawing/2014/main" id="{BCCAACBF-4AE1-0B46-6D4F-5463D6CAA084}"/>
              </a:ext>
            </a:extLst>
          </p:cNvPr>
          <p:cNvSpPr/>
          <p:nvPr userDrawn="1"/>
        </p:nvSpPr>
        <p:spPr>
          <a:xfrm flipH="1">
            <a:off x="3267212" y="1077663"/>
            <a:ext cx="2625648" cy="7473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3608493-51EB-091B-5B5D-9B2D72B5A4DD}"/>
              </a:ext>
            </a:extLst>
          </p:cNvPr>
          <p:cNvSpPr>
            <a:spLocks noGrp="1" noChangeAspect="1"/>
          </p:cNvSpPr>
          <p:nvPr userDrawn="1">
            <p:ph type="body" idx="16"/>
          </p:nvPr>
        </p:nvSpPr>
        <p:spPr>
          <a:xfrm>
            <a:off x="3178189" y="857627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6118269" y="736600"/>
            <a:ext cx="2841307" cy="4005062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Google Shape;387;p31">
            <a:extLst>
              <a:ext uri="{FF2B5EF4-FFF2-40B4-BE49-F238E27FC236}">
                <a16:creationId xmlns:a16="http://schemas.microsoft.com/office/drawing/2014/main" id="{95F5EE2A-EF32-300E-B8FC-4CE4AF70D825}"/>
              </a:ext>
            </a:extLst>
          </p:cNvPr>
          <p:cNvSpPr/>
          <p:nvPr userDrawn="1"/>
        </p:nvSpPr>
        <p:spPr>
          <a:xfrm flipH="1">
            <a:off x="6243115" y="1077663"/>
            <a:ext cx="2625648" cy="7473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5D5C79A-9DB8-6701-AAE1-542B7C2EFAF8}"/>
              </a:ext>
            </a:extLst>
          </p:cNvPr>
          <p:cNvSpPr>
            <a:spLocks noGrp="1" noChangeAspect="1"/>
          </p:cNvSpPr>
          <p:nvPr userDrawn="1">
            <p:ph type="body" idx="18"/>
          </p:nvPr>
        </p:nvSpPr>
        <p:spPr>
          <a:xfrm>
            <a:off x="6154092" y="857627"/>
            <a:ext cx="2695894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715C5FF-1EE2-8C41-C48A-F5512436C6A4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E526711-5492-AF5F-C2A5-724D8805C29B}"/>
              </a:ext>
            </a:extLst>
          </p:cNvPr>
          <p:cNvSpPr>
            <a:spLocks noGrp="1" noChangeAspect="1"/>
          </p:cNvSpPr>
          <p:nvPr userDrawn="1">
            <p:ph idx="21"/>
          </p:nvPr>
        </p:nvSpPr>
        <p:spPr>
          <a:xfrm>
            <a:off x="3303543" y="1205902"/>
            <a:ext cx="2552985" cy="345725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26A34FE-326D-ED8F-5453-88DA550C7A45}"/>
              </a:ext>
            </a:extLst>
          </p:cNvPr>
          <p:cNvSpPr>
            <a:spLocks noGrp="1" noChangeAspect="1"/>
          </p:cNvSpPr>
          <p:nvPr userDrawn="1">
            <p:ph idx="1"/>
          </p:nvPr>
        </p:nvSpPr>
        <p:spPr>
          <a:xfrm>
            <a:off x="318453" y="1205902"/>
            <a:ext cx="2552985" cy="345725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AF066AD-E4B3-895F-B4BE-92068BE9E0CC}"/>
              </a:ext>
            </a:extLst>
          </p:cNvPr>
          <p:cNvSpPr>
            <a:spLocks noGrp="1" noChangeAspect="1"/>
          </p:cNvSpPr>
          <p:nvPr userDrawn="1">
            <p:ph idx="22"/>
          </p:nvPr>
        </p:nvSpPr>
        <p:spPr>
          <a:xfrm>
            <a:off x="6279446" y="1207969"/>
            <a:ext cx="2552985" cy="345725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4070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hree dark BG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2" y="253694"/>
            <a:ext cx="4900461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00225" y="4847300"/>
            <a:ext cx="712712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176213" y="744738"/>
            <a:ext cx="2841307" cy="40005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3142366" y="742950"/>
            <a:ext cx="2841307" cy="40005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6118269" y="742950"/>
            <a:ext cx="2841307" cy="40005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CE031DA-A1D0-D9EA-CEF1-B301E56DFC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421CAC5-6E9A-95F7-687F-D1C00AE27E42}"/>
              </a:ext>
            </a:extLst>
          </p:cNvPr>
          <p:cNvSpPr>
            <a:spLocks noGrp="1" noChangeAspect="1"/>
          </p:cNvSpPr>
          <p:nvPr>
            <p:ph idx="21"/>
          </p:nvPr>
        </p:nvSpPr>
        <p:spPr>
          <a:xfrm>
            <a:off x="3303543" y="890646"/>
            <a:ext cx="2552985" cy="3811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2BCDDFB-8D79-6C55-0C4E-37571F438BA4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318453" y="890646"/>
            <a:ext cx="2552985" cy="3811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867B20F-A16E-43BF-CA4B-B58805B7F07B}"/>
              </a:ext>
            </a:extLst>
          </p:cNvPr>
          <p:cNvSpPr>
            <a:spLocks noGrp="1" noChangeAspect="1"/>
          </p:cNvSpPr>
          <p:nvPr>
            <p:ph idx="22"/>
          </p:nvPr>
        </p:nvSpPr>
        <p:spPr>
          <a:xfrm>
            <a:off x="6279446" y="892713"/>
            <a:ext cx="2552985" cy="381140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7113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stack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176212" y="751851"/>
            <a:ext cx="8783637" cy="1933699"/>
          </a:xfrm>
          <a:prstGeom prst="roundRect">
            <a:avLst>
              <a:gd name="adj" fmla="val 635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303213" y="1122069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76212" y="2809263"/>
            <a:ext cx="8776809" cy="1934187"/>
          </a:xfrm>
          <a:prstGeom prst="roundRect">
            <a:avLst>
              <a:gd name="adj" fmla="val 698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01065" y="3165194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92A4A8F-02E4-0113-C912-0BD04DC39F65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318452" y="1231031"/>
            <a:ext cx="8495041" cy="1226366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C9DA548-130C-C2D6-CFF2-6F32EA05F2F8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212035" y="903867"/>
            <a:ext cx="8594316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F2D2BA5-0701-CC25-4094-2D7BB8CD29F5}"/>
              </a:ext>
            </a:extLst>
          </p:cNvPr>
          <p:cNvSpPr>
            <a:spLocks noGrp="1" noChangeAspect="1"/>
          </p:cNvSpPr>
          <p:nvPr userDrawn="1">
            <p:ph type="body" idx="15"/>
          </p:nvPr>
        </p:nvSpPr>
        <p:spPr>
          <a:xfrm>
            <a:off x="212035" y="2940958"/>
            <a:ext cx="8574438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50C3457-840E-F542-273A-FE505D1779C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24479" y="3307844"/>
            <a:ext cx="8495041" cy="1206964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063ACA0-B307-22B6-74D2-51426AAAF8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5125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156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stack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FA69FDC-C8AA-2149-63D2-7A5D0A407AF5}"/>
              </a:ext>
            </a:extLst>
          </p:cNvPr>
          <p:cNvSpPr/>
          <p:nvPr userDrawn="1"/>
        </p:nvSpPr>
        <p:spPr>
          <a:xfrm>
            <a:off x="176212" y="751851"/>
            <a:ext cx="8783637" cy="1933699"/>
          </a:xfrm>
          <a:prstGeom prst="roundRect">
            <a:avLst>
              <a:gd name="adj" fmla="val 635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E2E758-F579-879E-E515-115C8F7476CF}"/>
              </a:ext>
            </a:extLst>
          </p:cNvPr>
          <p:cNvSpPr/>
          <p:nvPr userDrawn="1"/>
        </p:nvSpPr>
        <p:spPr>
          <a:xfrm>
            <a:off x="176212" y="2809263"/>
            <a:ext cx="8776809" cy="1934187"/>
          </a:xfrm>
          <a:prstGeom prst="roundRect">
            <a:avLst>
              <a:gd name="adj" fmla="val 698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8321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249F379-5E0E-3366-51C2-8B9B97D9C4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FBD982D-4FA1-3C68-2308-DBE05751F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95" y="851163"/>
            <a:ext cx="8495041" cy="179628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43660E-1C36-5F02-51E0-28FB1AEB758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7095" y="2920035"/>
            <a:ext cx="8495041" cy="175074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2814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156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Stack dark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A4077F5-879D-72FA-4D35-8B6932F811E3}"/>
              </a:ext>
            </a:extLst>
          </p:cNvPr>
          <p:cNvSpPr/>
          <p:nvPr userDrawn="1"/>
        </p:nvSpPr>
        <p:spPr>
          <a:xfrm>
            <a:off x="176212" y="2809263"/>
            <a:ext cx="8776809" cy="1934187"/>
          </a:xfrm>
          <a:prstGeom prst="roundRect">
            <a:avLst>
              <a:gd name="adj" fmla="val 6989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A970E5D-768D-7F9B-1DFF-15E53B6C5B7A}"/>
              </a:ext>
            </a:extLst>
          </p:cNvPr>
          <p:cNvSpPr/>
          <p:nvPr userDrawn="1"/>
        </p:nvSpPr>
        <p:spPr>
          <a:xfrm>
            <a:off x="176212" y="751851"/>
            <a:ext cx="8783637" cy="1933699"/>
          </a:xfrm>
          <a:prstGeom prst="roundRect">
            <a:avLst>
              <a:gd name="adj" fmla="val 6350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303213" y="1122069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01065" y="3196882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C9DA548-130C-C2D6-CFF2-6F32EA05F2F8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212035" y="897241"/>
            <a:ext cx="8594316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F2D2BA5-0701-CC25-4094-2D7BB8CD29F5}"/>
              </a:ext>
            </a:extLst>
          </p:cNvPr>
          <p:cNvSpPr>
            <a:spLocks noGrp="1" noChangeAspect="1"/>
          </p:cNvSpPr>
          <p:nvPr userDrawn="1">
            <p:ph type="body" idx="15"/>
          </p:nvPr>
        </p:nvSpPr>
        <p:spPr>
          <a:xfrm>
            <a:off x="212035" y="2972646"/>
            <a:ext cx="8574438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C3D1AD7-F538-4862-5099-B6D904F4DC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B7B2D9-702E-78C9-6B7F-767C4CAAD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2" y="1231031"/>
            <a:ext cx="8495041" cy="1395720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A6F391D-65F2-706A-A637-B1ABB51F793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24479" y="3333837"/>
            <a:ext cx="8495041" cy="134327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3124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156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Stack dark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4DF2C6-8FC6-A6CD-AEE2-1E723BCDEC8A}"/>
              </a:ext>
            </a:extLst>
          </p:cNvPr>
          <p:cNvSpPr/>
          <p:nvPr userDrawn="1"/>
        </p:nvSpPr>
        <p:spPr>
          <a:xfrm>
            <a:off x="176212" y="2809263"/>
            <a:ext cx="8776809" cy="1934187"/>
          </a:xfrm>
          <a:prstGeom prst="roundRect">
            <a:avLst>
              <a:gd name="adj" fmla="val 6989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9BA319E-08F6-51D1-5194-45A1C9501084}"/>
              </a:ext>
            </a:extLst>
          </p:cNvPr>
          <p:cNvSpPr/>
          <p:nvPr userDrawn="1"/>
        </p:nvSpPr>
        <p:spPr>
          <a:xfrm>
            <a:off x="176212" y="751851"/>
            <a:ext cx="8783637" cy="1933699"/>
          </a:xfrm>
          <a:prstGeom prst="roundRect">
            <a:avLst>
              <a:gd name="adj" fmla="val 6350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054313F-2F90-0FA0-74E1-057979901A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438A88-8377-82FA-6F45-863D3CAC7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2" y="908050"/>
            <a:ext cx="8495041" cy="173940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0181DC-4555-5626-E73C-A0A51C7F10C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24479" y="2911829"/>
            <a:ext cx="8495041" cy="178717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5018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156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Stack dark BG w/subtitle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6EB2D69-69CB-087F-4D95-D0ECCF70523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24479" y="3619650"/>
            <a:ext cx="8495041" cy="1226366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EF42D3-19B6-DB5E-D6A0-112E9B4B86F4}"/>
              </a:ext>
            </a:extLst>
          </p:cNvPr>
          <p:cNvSpPr/>
          <p:nvPr userDrawn="1"/>
        </p:nvSpPr>
        <p:spPr>
          <a:xfrm>
            <a:off x="176212" y="751851"/>
            <a:ext cx="8783637" cy="1933699"/>
          </a:xfrm>
          <a:prstGeom prst="roundRect">
            <a:avLst>
              <a:gd name="adj" fmla="val 635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387;p31">
            <a:extLst>
              <a:ext uri="{FF2B5EF4-FFF2-40B4-BE49-F238E27FC236}">
                <a16:creationId xmlns:a16="http://schemas.microsoft.com/office/drawing/2014/main" id="{87C8EE08-7614-CF89-352C-11745015F145}"/>
              </a:ext>
            </a:extLst>
          </p:cNvPr>
          <p:cNvSpPr/>
          <p:nvPr userDrawn="1"/>
        </p:nvSpPr>
        <p:spPr>
          <a:xfrm flipH="1">
            <a:off x="303213" y="1122069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3BD5F0-F6C4-669C-740D-8ADD2A147A27}"/>
              </a:ext>
            </a:extLst>
          </p:cNvPr>
          <p:cNvSpPr/>
          <p:nvPr userDrawn="1"/>
        </p:nvSpPr>
        <p:spPr>
          <a:xfrm>
            <a:off x="176212" y="2809263"/>
            <a:ext cx="8776809" cy="1934187"/>
          </a:xfrm>
          <a:prstGeom prst="roundRect">
            <a:avLst>
              <a:gd name="adj" fmla="val 698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Google Shape;387;p31">
            <a:extLst>
              <a:ext uri="{FF2B5EF4-FFF2-40B4-BE49-F238E27FC236}">
                <a16:creationId xmlns:a16="http://schemas.microsoft.com/office/drawing/2014/main" id="{C6A140C4-ED35-65C1-34C4-A2DCC18D0F8A}"/>
              </a:ext>
            </a:extLst>
          </p:cNvPr>
          <p:cNvSpPr/>
          <p:nvPr userDrawn="1"/>
        </p:nvSpPr>
        <p:spPr>
          <a:xfrm flipH="1">
            <a:off x="301065" y="3165194"/>
            <a:ext cx="85039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1083CE3-1D75-9366-1855-D3363B278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2" y="1231031"/>
            <a:ext cx="8495041" cy="1226366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FA4560E-CAFF-05A5-112E-8CD651D30446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2035" y="903867"/>
            <a:ext cx="8594316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9449270-8420-EAA8-C793-18562EE33419}"/>
              </a:ext>
            </a:extLst>
          </p:cNvPr>
          <p:cNvSpPr>
            <a:spLocks noGrp="1" noChangeAspect="1"/>
          </p:cNvSpPr>
          <p:nvPr>
            <p:ph type="body" idx="15"/>
          </p:nvPr>
        </p:nvSpPr>
        <p:spPr>
          <a:xfrm>
            <a:off x="212035" y="2940958"/>
            <a:ext cx="8574438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15DBD7F-9A7B-EF2F-F25E-041D256F07F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4479" y="3307844"/>
            <a:ext cx="8495041" cy="1206964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Google Shape;58;p15">
            <a:extLst>
              <a:ext uri="{FF2B5EF4-FFF2-40B4-BE49-F238E27FC236}">
                <a16:creationId xmlns:a16="http://schemas.microsoft.com/office/drawing/2014/main" id="{56399BB2-149F-61FA-9725-F2D573E2C9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0ABDE02-2B7D-7C6F-2766-E6AEF3DFB1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7310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2772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Stack dark BG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E9BA644-941A-755B-6DD3-63944DE7B6AB}"/>
              </a:ext>
            </a:extLst>
          </p:cNvPr>
          <p:cNvSpPr/>
          <p:nvPr userDrawn="1"/>
        </p:nvSpPr>
        <p:spPr>
          <a:xfrm>
            <a:off x="176212" y="751851"/>
            <a:ext cx="8783637" cy="1933699"/>
          </a:xfrm>
          <a:prstGeom prst="roundRect">
            <a:avLst>
              <a:gd name="adj" fmla="val 635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F259DE0-DFD7-CAD4-84E9-A182D8DCCB58}"/>
              </a:ext>
            </a:extLst>
          </p:cNvPr>
          <p:cNvSpPr/>
          <p:nvPr userDrawn="1"/>
        </p:nvSpPr>
        <p:spPr>
          <a:xfrm>
            <a:off x="176212" y="2809263"/>
            <a:ext cx="8776809" cy="1934187"/>
          </a:xfrm>
          <a:prstGeom prst="roundRect">
            <a:avLst>
              <a:gd name="adj" fmla="val 698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E9572C-AE2C-E8DA-A0D9-D4B74241D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95" y="851163"/>
            <a:ext cx="8495041" cy="179628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8CA08D8-6402-6B8A-42A2-8F3B0F222CC8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7095" y="2920035"/>
            <a:ext cx="8495041" cy="1750741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73038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1450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Google Shape;58;p15">
            <a:extLst>
              <a:ext uri="{FF2B5EF4-FFF2-40B4-BE49-F238E27FC236}">
                <a16:creationId xmlns:a16="http://schemas.microsoft.com/office/drawing/2014/main" id="{00EA4E99-1701-0462-33FD-F0F0167F9E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9C77D2D-97F9-FB31-F485-47B31DBD5A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5619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804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small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176213" y="745500"/>
            <a:ext cx="2803207" cy="3997950"/>
          </a:xfrm>
          <a:prstGeom prst="roundRect">
            <a:avLst>
              <a:gd name="adj" fmla="val 421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306947" y="1101431"/>
            <a:ext cx="25146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3121660" y="745500"/>
            <a:ext cx="5838505" cy="39979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303532" y="1101431"/>
            <a:ext cx="54864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92A4A8F-02E4-0113-C912-0BD04DC39F65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318453" y="1210392"/>
            <a:ext cx="2523807" cy="340871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>
                <a:tab pos="231775" algn="l"/>
                <a:tab pos="1371600" algn="l"/>
              </a:tabLst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D8BF979-EE76-DBEB-F683-85D541FEFB81}"/>
              </a:ext>
            </a:extLst>
          </p:cNvPr>
          <p:cNvSpPr>
            <a:spLocks noGrp="1"/>
          </p:cNvSpPr>
          <p:nvPr userDrawn="1">
            <p:ph idx="13"/>
          </p:nvPr>
        </p:nvSpPr>
        <p:spPr>
          <a:xfrm>
            <a:off x="3316232" y="1210392"/>
            <a:ext cx="5497263" cy="3408713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7525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898405C-E3DB-1A59-ACAC-600B94A34FC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2036" y="878189"/>
            <a:ext cx="2609512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CA8044E-7DCD-8E2A-74D0-5BD928E93FD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212061" y="878189"/>
            <a:ext cx="5601433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24D4E69B-16F9-BE43-8DF4-E683F7F36D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03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DD1773-F947-D381-660B-F2EFFD8EB0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0360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192" userDrawn="1">
          <p15:clr>
            <a:srgbClr val="FBAE40"/>
          </p15:clr>
        </p15:guide>
        <p15:guide id="9" pos="2088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small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C2328A-B222-3398-E85D-482C70E4766D}"/>
              </a:ext>
            </a:extLst>
          </p:cNvPr>
          <p:cNvSpPr/>
          <p:nvPr userDrawn="1"/>
        </p:nvSpPr>
        <p:spPr>
          <a:xfrm>
            <a:off x="176213" y="745500"/>
            <a:ext cx="2803207" cy="3997950"/>
          </a:xfrm>
          <a:prstGeom prst="roundRect">
            <a:avLst>
              <a:gd name="adj" fmla="val 421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BB9A6C-D5F5-6B21-7BCE-F1DEB46D886B}"/>
              </a:ext>
            </a:extLst>
          </p:cNvPr>
          <p:cNvSpPr/>
          <p:nvPr userDrawn="1"/>
        </p:nvSpPr>
        <p:spPr>
          <a:xfrm>
            <a:off x="3121660" y="745500"/>
            <a:ext cx="5838505" cy="399795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Google Shape;61;p15"/>
          <p:cNvSpPr txBox="1"/>
          <p:nvPr userDrawn="1"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" name="Google Shape;60;p15" descr="A colorful logo with black background  AI-generated content may be incorrect.">
            <a:extLst>
              <a:ext uri="{FF2B5EF4-FFF2-40B4-BE49-F238E27FC236}">
                <a16:creationId xmlns:a16="http://schemas.microsoft.com/office/drawing/2014/main" id="{98E5EF62-52FA-FEB7-9F05-A34BB107CD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59;p15">
            <a:extLst>
              <a:ext uri="{FF2B5EF4-FFF2-40B4-BE49-F238E27FC236}">
                <a16:creationId xmlns:a16="http://schemas.microsoft.com/office/drawing/2014/main" id="{941FBEE4-3FC1-628D-E436-C52252C5AA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A82E890-5C94-7E0C-2F53-925D0F78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3" y="914400"/>
            <a:ext cx="2523807" cy="378765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>
                <a:tab pos="231775" algn="l"/>
                <a:tab pos="1371600" algn="l"/>
              </a:tabLst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2A3A8DC-5A74-C70F-4964-05DE1708AFE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16232" y="914400"/>
            <a:ext cx="5497263" cy="3787653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7525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Google Shape;58;p15">
            <a:extLst>
              <a:ext uri="{FF2B5EF4-FFF2-40B4-BE49-F238E27FC236}">
                <a16:creationId xmlns:a16="http://schemas.microsoft.com/office/drawing/2014/main" id="{2D20440A-1C4A-FB94-1B4E-C3B8EA328A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7547" y="253694"/>
            <a:ext cx="4859704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749CD5A-8954-F443-96BB-45DED9753A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1078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276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192">
          <p15:clr>
            <a:srgbClr val="FBAE40"/>
          </p15:clr>
        </p15:guide>
        <p15:guide id="9" pos="2088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small dark w/subtitle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176213" y="751850"/>
            <a:ext cx="2803207" cy="3991600"/>
          </a:xfrm>
          <a:prstGeom prst="roundRect">
            <a:avLst>
              <a:gd name="adj" fmla="val 4219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306947" y="1107781"/>
            <a:ext cx="25146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3121660" y="751850"/>
            <a:ext cx="5838505" cy="399160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303532" y="1107781"/>
            <a:ext cx="54864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898405C-E3DB-1A59-ACAC-600B94A34FC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2036" y="891165"/>
            <a:ext cx="2609512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CA8044E-7DCD-8E2A-74D0-5BD928E93FD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212061" y="891165"/>
            <a:ext cx="5601433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24D4E69B-16F9-BE43-8DF4-E683F7F36D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CFFA16-912F-1AA8-B96A-7490FEDFD2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9BFBE42-3759-BE8B-774B-FA10B7E69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3" y="1216742"/>
            <a:ext cx="2523807" cy="340329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>
                <a:tab pos="231775" algn="l"/>
                <a:tab pos="1371600" algn="l"/>
              </a:tabLst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4721053-6282-67B2-50D0-944408C1CA9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16232" y="1216742"/>
            <a:ext cx="5497263" cy="3403299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7525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5345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156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192">
          <p15:clr>
            <a:srgbClr val="FBAE40"/>
          </p15:clr>
        </p15:guide>
        <p15:guide id="9" pos="208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small dark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 userDrawn="1"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176213" y="742950"/>
            <a:ext cx="2803207" cy="4002288"/>
          </a:xfrm>
          <a:prstGeom prst="roundRect">
            <a:avLst>
              <a:gd name="adj" fmla="val 447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3121660" y="742950"/>
            <a:ext cx="5838505" cy="4002288"/>
          </a:xfrm>
          <a:prstGeom prst="roundRect">
            <a:avLst>
              <a:gd name="adj" fmla="val 3661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80F34E38-A511-67E6-29C1-54ADBA7ABA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321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pic>
        <p:nvPicPr>
          <p:cNvPr id="2" name="Google Shape;60;p15" descr="A colorful logo with black background  AI-generated content may be incorrect.">
            <a:extLst>
              <a:ext uri="{FF2B5EF4-FFF2-40B4-BE49-F238E27FC236}">
                <a16:creationId xmlns:a16="http://schemas.microsoft.com/office/drawing/2014/main" id="{D53F0D45-821D-F830-EFE1-E5F86278B9D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59;p15">
            <a:extLst>
              <a:ext uri="{FF2B5EF4-FFF2-40B4-BE49-F238E27FC236}">
                <a16:creationId xmlns:a16="http://schemas.microsoft.com/office/drawing/2014/main" id="{8A8EF2F5-0BBF-B00F-11F8-A8FD895150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4BBAD04-94B9-9787-D6CE-612A90F675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550F933-CC52-1023-D908-DE92F7A8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3" y="866182"/>
            <a:ext cx="2523807" cy="3835872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>
                <a:tab pos="231775" algn="l"/>
                <a:tab pos="1371600" algn="l"/>
              </a:tabLst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9A6C00E-F998-2177-B9FC-52D2EBC928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16232" y="866182"/>
            <a:ext cx="5497263" cy="3835872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7525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6414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156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192">
          <p15:clr>
            <a:srgbClr val="FBAE40"/>
          </p15:clr>
        </p15:guide>
        <p15:guide id="9" pos="2088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small dark BG w/subtitle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176213" y="739150"/>
            <a:ext cx="2803207" cy="4004300"/>
          </a:xfrm>
          <a:prstGeom prst="roundRect">
            <a:avLst>
              <a:gd name="adj" fmla="val 421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306947" y="1095081"/>
            <a:ext cx="25146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3121660" y="739150"/>
            <a:ext cx="5838505" cy="4004300"/>
          </a:xfrm>
          <a:prstGeom prst="roundRect">
            <a:avLst>
              <a:gd name="adj" fmla="val 345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303532" y="1095081"/>
            <a:ext cx="54864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898405C-E3DB-1A59-ACAC-600B94A34FC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2036" y="878465"/>
            <a:ext cx="2609512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CA8044E-7DCD-8E2A-74D0-5BD928E93FD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212061" y="878465"/>
            <a:ext cx="5601433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24D4E69B-16F9-BE43-8DF4-E683F7F36D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A974A5A-E397-9EDD-EFE8-9D879DAF3D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AD84644-1592-8B2A-06CB-67FC82DBA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3" y="1204042"/>
            <a:ext cx="2523807" cy="341412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>
                <a:tab pos="231775" algn="l"/>
                <a:tab pos="1371600" algn="l"/>
              </a:tabLst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B0866CE-B3E4-B3EB-195C-4FFF214D6DD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16232" y="1204042"/>
            <a:ext cx="5497263" cy="3414127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7525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1268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192">
          <p15:clr>
            <a:srgbClr val="FBAE40"/>
          </p15:clr>
        </p15:guide>
        <p15:guide id="9" pos="2088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small dark BG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 userDrawn="1"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176213" y="742950"/>
            <a:ext cx="2803207" cy="4008638"/>
          </a:xfrm>
          <a:prstGeom prst="roundRect">
            <a:avLst>
              <a:gd name="adj" fmla="val 4474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3121660" y="742950"/>
            <a:ext cx="5838505" cy="4008638"/>
          </a:xfrm>
          <a:prstGeom prst="roundRect">
            <a:avLst>
              <a:gd name="adj" fmla="val 3661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80F34E38-A511-67E6-29C1-54ADBA7ABA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pic>
        <p:nvPicPr>
          <p:cNvPr id="2" name="Google Shape;60;p15" descr="A colorful logo with black background  AI-generated content may be incorrect.">
            <a:extLst>
              <a:ext uri="{FF2B5EF4-FFF2-40B4-BE49-F238E27FC236}">
                <a16:creationId xmlns:a16="http://schemas.microsoft.com/office/drawing/2014/main" id="{44FFE8E4-37BD-E9F2-B8A7-D63D4F607F0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59;p15">
            <a:extLst>
              <a:ext uri="{FF2B5EF4-FFF2-40B4-BE49-F238E27FC236}">
                <a16:creationId xmlns:a16="http://schemas.microsoft.com/office/drawing/2014/main" id="{06D9BC8E-7E07-051F-604F-1C14920622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DC30A3F-B889-FFD9-F269-9A4352F379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0C5F75B-541A-9EC2-EA60-4235266D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53" y="866446"/>
            <a:ext cx="2523807" cy="3841958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73038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tabLst>
                <a:tab pos="231775" algn="l"/>
                <a:tab pos="1371600" algn="l"/>
              </a:tabLst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1450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3C2F418-8045-23F8-1749-788E0BE5C31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16232" y="866446"/>
            <a:ext cx="5497263" cy="3841958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396875" algn="l"/>
              </a:tabLst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17525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754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192">
          <p15:clr>
            <a:srgbClr val="FBAE40"/>
          </p15:clr>
        </p15:guide>
        <p15:guide id="9" pos="208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big w/subtitle">
    <p:bg>
      <p:bgPr>
        <a:solidFill>
          <a:srgbClr val="FDF9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6157913" y="745500"/>
            <a:ext cx="2803207" cy="3997950"/>
          </a:xfrm>
          <a:prstGeom prst="roundRect">
            <a:avLst>
              <a:gd name="adj" fmla="val 4728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6311507" y="1101431"/>
            <a:ext cx="25146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65100" y="745500"/>
            <a:ext cx="5838505" cy="3997950"/>
          </a:xfrm>
          <a:prstGeom prst="roundRect">
            <a:avLst>
              <a:gd name="adj" fmla="val 3661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06332" y="1101431"/>
            <a:ext cx="55321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92A4A8F-02E4-0113-C912-0BD04DC39F65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6315393" y="1210392"/>
            <a:ext cx="2523807" cy="3408713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tabLst>
                <a:tab pos="741363" algn="l"/>
              </a:tabLst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D8BF979-EE76-DBEB-F683-85D541FEFB81}"/>
              </a:ext>
            </a:extLst>
          </p:cNvPr>
          <p:cNvSpPr>
            <a:spLocks noGrp="1"/>
          </p:cNvSpPr>
          <p:nvPr userDrawn="1">
            <p:ph idx="13"/>
          </p:nvPr>
        </p:nvSpPr>
        <p:spPr>
          <a:xfrm>
            <a:off x="313952" y="1210392"/>
            <a:ext cx="5497263" cy="3408713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CF24688-0C3C-B9E9-F666-5F6E68858C7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21902" y="878189"/>
            <a:ext cx="2609512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C258F3E-D3FF-D9EC-B1BD-272EAC8CACB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217064" y="884815"/>
            <a:ext cx="5601433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74F63D16-D4A3-357B-0648-2BE030668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8DDC07F-4829-3817-6A3D-E056853C6F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8245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big">
    <p:bg>
      <p:bgPr>
        <a:solidFill>
          <a:srgbClr val="FDF9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6157913" y="742950"/>
            <a:ext cx="2803207" cy="4002288"/>
          </a:xfrm>
          <a:prstGeom prst="roundRect">
            <a:avLst>
              <a:gd name="adj" fmla="val 4728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65100" y="742950"/>
            <a:ext cx="5838505" cy="4002288"/>
          </a:xfrm>
          <a:prstGeom prst="roundRect">
            <a:avLst>
              <a:gd name="adj" fmla="val 3661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74F63D16-D4A3-357B-0648-2BE030668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D1AF0E9-27DA-011C-2E4C-19976821A7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55E6669-356B-88D0-61EA-506719F4B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393" y="866182"/>
            <a:ext cx="2523807" cy="3835872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tabLst>
                <a:tab pos="741363" algn="l"/>
              </a:tabLst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5A1932-D47B-A661-22A5-88027823DAF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3952" y="866182"/>
            <a:ext cx="5497263" cy="3835872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4860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big dark w/subtitle">
    <p:bg>
      <p:bgPr>
        <a:solidFill>
          <a:srgbClr val="FDF9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6157913" y="751850"/>
            <a:ext cx="2803207" cy="3991600"/>
          </a:xfrm>
          <a:prstGeom prst="roundRect">
            <a:avLst>
              <a:gd name="adj" fmla="val 4728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6311507" y="1107781"/>
            <a:ext cx="25146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65100" y="751850"/>
            <a:ext cx="5838505" cy="3991600"/>
          </a:xfrm>
          <a:prstGeom prst="roundRect">
            <a:avLst>
              <a:gd name="adj" fmla="val 3661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06332" y="1107781"/>
            <a:ext cx="55321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CF24688-0C3C-B9E9-F666-5F6E68858C7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21902" y="884539"/>
            <a:ext cx="2609512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C258F3E-D3FF-D9EC-B1BD-272EAC8CACB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217064" y="884539"/>
            <a:ext cx="5601433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74F63D16-D4A3-357B-0648-2BE030668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03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76E5-AB64-5AA2-1373-F24B76C904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C31A726-23F1-3A52-540A-0B9B3FB7A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393" y="1216742"/>
            <a:ext cx="2523807" cy="3403299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tabLst>
                <a:tab pos="741363" algn="l"/>
              </a:tabLst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88B10F5-C54A-C562-ACE9-05F679CD194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3952" y="1216742"/>
            <a:ext cx="5497263" cy="3403299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9452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big dark">
    <p:bg>
      <p:bgPr>
        <a:solidFill>
          <a:srgbClr val="FDF9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6157913" y="742950"/>
            <a:ext cx="2803207" cy="4002288"/>
          </a:xfrm>
          <a:prstGeom prst="roundRect">
            <a:avLst>
              <a:gd name="adj" fmla="val 4728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65100" y="742950"/>
            <a:ext cx="5838505" cy="4002288"/>
          </a:xfrm>
          <a:prstGeom prst="roundRect">
            <a:avLst>
              <a:gd name="adj" fmla="val 3661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74F63D16-D4A3-357B-0648-2BE030668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321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81EDD10-4B5E-3133-E586-9DC93686E5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7409B2-B37F-4826-92CB-BB9BE9A01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393" y="866182"/>
            <a:ext cx="2523807" cy="3835872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tabLst>
                <a:tab pos="741363" algn="l"/>
              </a:tabLst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0423D7E-C62B-55A6-E44F-0D452AA43CB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3952" y="866182"/>
            <a:ext cx="5497263" cy="3835872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651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big dark BG w/subtitle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6157913" y="739150"/>
            <a:ext cx="2803207" cy="4004300"/>
          </a:xfrm>
          <a:prstGeom prst="roundRect">
            <a:avLst>
              <a:gd name="adj" fmla="val 4728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Google Shape;387;p31">
            <a:extLst>
              <a:ext uri="{FF2B5EF4-FFF2-40B4-BE49-F238E27FC236}">
                <a16:creationId xmlns:a16="http://schemas.microsoft.com/office/drawing/2014/main" id="{95468A94-276B-AAC5-C3E4-F8A9069F6536}"/>
              </a:ext>
            </a:extLst>
          </p:cNvPr>
          <p:cNvSpPr/>
          <p:nvPr userDrawn="1"/>
        </p:nvSpPr>
        <p:spPr>
          <a:xfrm flipH="1">
            <a:off x="6311507" y="1095081"/>
            <a:ext cx="251460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65100" y="739150"/>
            <a:ext cx="5838505" cy="4004300"/>
          </a:xfrm>
          <a:prstGeom prst="roundRect">
            <a:avLst>
              <a:gd name="adj" fmla="val 3661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387;p31">
            <a:extLst>
              <a:ext uri="{FF2B5EF4-FFF2-40B4-BE49-F238E27FC236}">
                <a16:creationId xmlns:a16="http://schemas.microsoft.com/office/drawing/2014/main" id="{964DC8E5-832F-C892-9F43-52877FC37070}"/>
              </a:ext>
            </a:extLst>
          </p:cNvPr>
          <p:cNvSpPr/>
          <p:nvPr userDrawn="1"/>
        </p:nvSpPr>
        <p:spPr>
          <a:xfrm flipH="1">
            <a:off x="306332" y="1095081"/>
            <a:ext cx="5532120" cy="6900"/>
          </a:xfrm>
          <a:prstGeom prst="rect">
            <a:avLst/>
          </a:prstGeom>
          <a:gradFill>
            <a:gsLst>
              <a:gs pos="0">
                <a:srgbClr val="F41D41"/>
              </a:gs>
              <a:gs pos="100000">
                <a:srgbClr val="9C02F9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CF24688-0C3C-B9E9-F666-5F6E68858C7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21902" y="878465"/>
            <a:ext cx="2609512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C258F3E-D3FF-D9EC-B1BD-272EAC8CACB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217064" y="878465"/>
            <a:ext cx="5601433" cy="2166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74F63D16-D4A3-357B-0648-2BE030668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6863" y="253694"/>
            <a:ext cx="486673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4A77A03-5EB8-082A-5DB9-CD2C1605DE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CE455CA-850E-6A9C-AC54-3ADE33047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393" y="1204042"/>
            <a:ext cx="2523807" cy="3414127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tabLst>
                <a:tab pos="741363" algn="l"/>
              </a:tabLst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7C9A586-EB72-856D-C74E-7E93045F32F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3952" y="1204042"/>
            <a:ext cx="5497263" cy="3414127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6232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Two left big dark BG">
    <p:bg>
      <p:bgPr>
        <a:solidFill>
          <a:srgbClr val="0A0B2B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  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3146B3-9351-959D-ADA8-7B33359A7BEB}"/>
              </a:ext>
            </a:extLst>
          </p:cNvPr>
          <p:cNvSpPr/>
          <p:nvPr userDrawn="1"/>
        </p:nvSpPr>
        <p:spPr>
          <a:xfrm>
            <a:off x="6157913" y="742950"/>
            <a:ext cx="2803207" cy="4002288"/>
          </a:xfrm>
          <a:prstGeom prst="roundRect">
            <a:avLst>
              <a:gd name="adj" fmla="val 4728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FEC253-B7C3-5EF3-5AF5-B4F9A789B4C2}"/>
              </a:ext>
            </a:extLst>
          </p:cNvPr>
          <p:cNvSpPr/>
          <p:nvPr userDrawn="1"/>
        </p:nvSpPr>
        <p:spPr>
          <a:xfrm>
            <a:off x="165100" y="742950"/>
            <a:ext cx="5838505" cy="4002288"/>
          </a:xfrm>
          <a:prstGeom prst="roundRect">
            <a:avLst>
              <a:gd name="adj" fmla="val 3661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58;p15">
            <a:extLst>
              <a:ext uri="{FF2B5EF4-FFF2-40B4-BE49-F238E27FC236}">
                <a16:creationId xmlns:a16="http://schemas.microsoft.com/office/drawing/2014/main" id="{74F63D16-D4A3-357B-0648-2BE030668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3213" y="253694"/>
            <a:ext cx="4873088" cy="31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13462E4-BE74-6314-D1F9-D660E58B22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6213" y="260350"/>
            <a:ext cx="896937" cy="3048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540CC55-2BF3-D51D-2C93-8D2B7435F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393" y="866182"/>
            <a:ext cx="2523807" cy="3835872"/>
          </a:xfrm>
          <a:prstGeom prst="rect">
            <a:avLst/>
          </a:prstGeom>
        </p:spPr>
        <p:txBody>
          <a:bodyPr/>
          <a:lstStyle>
            <a:lvl1pPr marL="2286" indent="0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tabLst>
                <a:tab pos="741363" algn="l"/>
              </a:tabLst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DD282D1-2E67-EC24-899C-7883177ADC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3952" y="866182"/>
            <a:ext cx="5497263" cy="3835872"/>
          </a:xfrm>
          <a:prstGeom prst="rect">
            <a:avLst/>
          </a:prstGeom>
        </p:spPr>
        <p:txBody>
          <a:bodyPr/>
          <a:lstStyle>
            <a:lvl1pPr marL="2286" indent="0" algn="just">
              <a:lnSpc>
                <a:spcPct val="110000"/>
              </a:lnSpc>
              <a:spcBef>
                <a:spcPts val="400"/>
              </a:spcBef>
              <a:buClr>
                <a:schemeClr val="bg2"/>
              </a:buClr>
              <a:buFont typeface="Poppins" panose="00000500000000000000" pitchFamily="2" charset="0"/>
              <a:buNone/>
              <a:defRPr sz="10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231775" indent="-168275" algn="just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396875" indent="-174625" algn="just">
              <a:lnSpc>
                <a:spcPct val="110000"/>
              </a:lnSpc>
              <a:spcBef>
                <a:spcPts val="400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569913" indent="-168275" algn="just">
              <a:lnSpc>
                <a:spcPct val="110000"/>
              </a:lnSpc>
              <a:spcBef>
                <a:spcPts val="400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7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741363" indent="-174625" algn="just">
              <a:lnSpc>
                <a:spcPct val="110000"/>
              </a:lnSpc>
              <a:spcBef>
                <a:spcPts val="400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9744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 preserve="1" userDrawn="1">
  <p:cSld name="Closing slide">
    <p:bg>
      <p:bgPr>
        <a:gradFill>
          <a:gsLst>
            <a:gs pos="0">
              <a:srgbClr val="7E00C8"/>
            </a:gs>
            <a:gs pos="100000">
              <a:srgbClr val="D500AE"/>
            </a:gs>
          </a:gsLst>
          <a:lin ang="5400000" scaled="0"/>
        </a:gra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63;p43" descr="A colorful logo with black background  AI-generated content may be incorrect.">
            <a:extLst>
              <a:ext uri="{FF2B5EF4-FFF2-40B4-BE49-F238E27FC236}">
                <a16:creationId xmlns:a16="http://schemas.microsoft.com/office/drawing/2014/main" id="{17343640-7F3C-5387-8379-8DAB932749BD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6000"/>
          </a:blip>
          <a:srcRect l="25827" t="5879" r="14538" b="33444"/>
          <a:stretch/>
        </p:blipFill>
        <p:spPr>
          <a:xfrm>
            <a:off x="0" y="0"/>
            <a:ext cx="631937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7"/>
          <p:cNvSpPr txBox="1"/>
          <p:nvPr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" name="Google Shape;71;p17" descr="A white letter on a black background  AI-generated content may be incorrect."/>
          <p:cNvPicPr preferRelativeResize="0"/>
          <p:nvPr/>
        </p:nvPicPr>
        <p:blipFill rotWithShape="1">
          <a:blip r:embed="rId3">
            <a:alphaModFix/>
          </a:blip>
          <a:srcRect r="89183"/>
          <a:stretch/>
        </p:blipFill>
        <p:spPr>
          <a:xfrm>
            <a:off x="8813499" y="4904978"/>
            <a:ext cx="146077" cy="11743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68;p43">
            <a:extLst>
              <a:ext uri="{FF2B5EF4-FFF2-40B4-BE49-F238E27FC236}">
                <a16:creationId xmlns:a16="http://schemas.microsoft.com/office/drawing/2014/main" id="{5B5C72F0-EF3A-1BF0-FCE9-3881A79BFFFE}"/>
              </a:ext>
            </a:extLst>
          </p:cNvPr>
          <p:cNvSpPr txBox="1"/>
          <p:nvPr userDrawn="1"/>
        </p:nvSpPr>
        <p:spPr>
          <a:xfrm>
            <a:off x="4515225" y="217900"/>
            <a:ext cx="4257000" cy="25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 sz="3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Google Shape;865;p43" descr="A white letter on a black background  AI-generated content may be incorrect.">
            <a:extLst>
              <a:ext uri="{FF2B5EF4-FFF2-40B4-BE49-F238E27FC236}">
                <a16:creationId xmlns:a16="http://schemas.microsoft.com/office/drawing/2014/main" id="{40423B7C-2FFF-E085-8E5A-55210F71F0CF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75648" y="319642"/>
            <a:ext cx="2444878" cy="2125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67;p43">
            <a:extLst>
              <a:ext uri="{FF2B5EF4-FFF2-40B4-BE49-F238E27FC236}">
                <a16:creationId xmlns:a16="http://schemas.microsoft.com/office/drawing/2014/main" id="{ED3B3E03-F5A5-E5FD-8B8E-9DCCC1210830}"/>
              </a:ext>
            </a:extLst>
          </p:cNvPr>
          <p:cNvSpPr txBox="1"/>
          <p:nvPr userDrawn="1"/>
        </p:nvSpPr>
        <p:spPr>
          <a:xfrm>
            <a:off x="100225" y="4847300"/>
            <a:ext cx="1079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May 7, 2025</a:t>
            </a:r>
            <a:endParaRPr sz="6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3D1DB81-AD88-B8FA-C18F-3775E3447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05324" y="1710928"/>
            <a:ext cx="4295776" cy="4798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BD764E4-B75C-C602-A569-7EAFF1A26949}"/>
              </a:ext>
            </a:extLst>
          </p:cNvPr>
          <p:cNvSpPr txBox="1">
            <a:spLocks/>
          </p:cNvSpPr>
          <p:nvPr userDrawn="1"/>
        </p:nvSpPr>
        <p:spPr>
          <a:xfrm>
            <a:off x="4712924" y="4714833"/>
            <a:ext cx="1706675" cy="182233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054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2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43300" y="273844"/>
            <a:ext cx="497205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3D5999-0963-4640-9676-7114E952CA76}" type="datetime1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8" name="Google Shape;71;p17" descr="A white letter on a black background  AI-generated content may be incorrect.">
            <a:extLst>
              <a:ext uri="{FF2B5EF4-FFF2-40B4-BE49-F238E27FC236}">
                <a16:creationId xmlns:a16="http://schemas.microsoft.com/office/drawing/2014/main" id="{456CDAA9-69DA-F36E-BC45-FDD1BD9B9761}"/>
              </a:ext>
            </a:extLst>
          </p:cNvPr>
          <p:cNvPicPr preferRelativeResize="0"/>
          <p:nvPr userDrawn="1"/>
        </p:nvPicPr>
        <p:blipFill rotWithShape="1">
          <a:blip r:embed="rId45">
            <a:alphaModFix/>
          </a:blip>
          <a:srcRect r="89183"/>
          <a:stretch/>
        </p:blipFill>
        <p:spPr>
          <a:xfrm>
            <a:off x="8813499" y="4904978"/>
            <a:ext cx="146077" cy="117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0;p15" descr="A colorful logo with black background  AI-generated content may be incorrect.">
            <a:extLst>
              <a:ext uri="{FF2B5EF4-FFF2-40B4-BE49-F238E27FC236}">
                <a16:creationId xmlns:a16="http://schemas.microsoft.com/office/drawing/2014/main" id="{E42F7E32-8C5F-5BFF-E67F-F3BC4381B84B}"/>
              </a:ext>
            </a:extLst>
          </p:cNvPr>
          <p:cNvPicPr preferRelativeResize="0"/>
          <p:nvPr userDrawn="1"/>
        </p:nvPicPr>
        <p:blipFill rotWithShape="1">
          <a:blip r:embed="rId46">
            <a:alphaModFix/>
          </a:blip>
          <a:srcRect/>
          <a:stretch/>
        </p:blipFill>
        <p:spPr>
          <a:xfrm>
            <a:off x="8813494" y="4905262"/>
            <a:ext cx="146082" cy="1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9;p15">
            <a:extLst>
              <a:ext uri="{FF2B5EF4-FFF2-40B4-BE49-F238E27FC236}">
                <a16:creationId xmlns:a16="http://schemas.microsoft.com/office/drawing/2014/main" id="{B20C1159-17A7-1728-EC63-5D47B1FD4EB1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8213316" y="4847300"/>
            <a:ext cx="571800" cy="2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0451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755" r:id="rId2"/>
    <p:sldLayoutId id="2147483756" r:id="rId3"/>
    <p:sldLayoutId id="2147483770" r:id="rId4"/>
    <p:sldLayoutId id="2147483771" r:id="rId5"/>
    <p:sldLayoutId id="2147483772" r:id="rId6"/>
    <p:sldLayoutId id="2147483692" r:id="rId7"/>
    <p:sldLayoutId id="2147483694" r:id="rId8"/>
    <p:sldLayoutId id="2147483705" r:id="rId9"/>
    <p:sldLayoutId id="2147483707" r:id="rId10"/>
    <p:sldLayoutId id="2147483709" r:id="rId11"/>
    <p:sldLayoutId id="2147483711" r:id="rId12"/>
    <p:sldLayoutId id="2147483757" r:id="rId13"/>
    <p:sldLayoutId id="2147483759" r:id="rId14"/>
    <p:sldLayoutId id="2147483761" r:id="rId15"/>
    <p:sldLayoutId id="2147483763" r:id="rId16"/>
    <p:sldLayoutId id="2147483765" r:id="rId17"/>
    <p:sldLayoutId id="2147483767" r:id="rId18"/>
    <p:sldLayoutId id="2147483690" r:id="rId19"/>
    <p:sldLayoutId id="2147483696" r:id="rId20"/>
    <p:sldLayoutId id="2147483713" r:id="rId21"/>
    <p:sldLayoutId id="2147483715" r:id="rId22"/>
    <p:sldLayoutId id="2147483717" r:id="rId23"/>
    <p:sldLayoutId id="2147483719" r:id="rId24"/>
    <p:sldLayoutId id="2147483678" r:id="rId25"/>
    <p:sldLayoutId id="2147483698" r:id="rId26"/>
    <p:sldLayoutId id="2147483731" r:id="rId27"/>
    <p:sldLayoutId id="2147483733" r:id="rId28"/>
    <p:sldLayoutId id="2147483735" r:id="rId29"/>
    <p:sldLayoutId id="2147483737" r:id="rId30"/>
    <p:sldLayoutId id="2147483680" r:id="rId31"/>
    <p:sldLayoutId id="2147483702" r:id="rId32"/>
    <p:sldLayoutId id="2147483739" r:id="rId33"/>
    <p:sldLayoutId id="2147483741" r:id="rId34"/>
    <p:sldLayoutId id="2147483743" r:id="rId35"/>
    <p:sldLayoutId id="2147483745" r:id="rId36"/>
    <p:sldLayoutId id="2147483747" r:id="rId37"/>
    <p:sldLayoutId id="2147483749" r:id="rId38"/>
    <p:sldLayoutId id="2147483751" r:id="rId39"/>
    <p:sldLayoutId id="2147483753" r:id="rId40"/>
    <p:sldLayoutId id="2147483681" r:id="rId41"/>
    <p:sldLayoutId id="2147483703" r:id="rId42"/>
    <p:sldLayoutId id="2147483674" r:id="rId4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Poppins Medium" panose="00000600000000000000" pitchFamily="2" charset="0"/>
          <a:ea typeface="+mj-ea"/>
          <a:cs typeface="Poppins Medium" panose="00000600000000000000" pitchFamily="2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231775" indent="-173038" algn="l" defTabSz="685800" rtl="0" eaLnBrk="1" latinLnBrk="0" hangingPunct="1">
        <a:lnSpc>
          <a:spcPct val="90000"/>
        </a:lnSpc>
        <a:spcBef>
          <a:spcPts val="375"/>
        </a:spcBef>
        <a:buClr>
          <a:schemeClr val="bg2"/>
        </a:buClr>
        <a:buFont typeface="Poppins" panose="00000500000000000000" pitchFamily="2" charset="0"/>
        <a:buChar char="&gt;"/>
        <a:tabLst>
          <a:tab pos="1371600" algn="l"/>
        </a:tabLst>
        <a:defRPr sz="1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396875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2"/>
        </a:buClr>
        <a:buFont typeface="Poppins" panose="00000500000000000000" pitchFamily="2" charset="0"/>
        <a:buChar char="&gt;"/>
        <a:defRPr sz="9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569913" indent="-173038" algn="l" defTabSz="685800" rtl="0" eaLnBrk="1" latinLnBrk="0" hangingPunct="1">
        <a:lnSpc>
          <a:spcPct val="90000"/>
        </a:lnSpc>
        <a:spcBef>
          <a:spcPts val="375"/>
        </a:spcBef>
        <a:buClr>
          <a:schemeClr val="accent6"/>
        </a:buClr>
        <a:buFont typeface="Poppins" panose="00000500000000000000" pitchFamily="2" charset="0"/>
        <a:buChar char="&gt;"/>
        <a:defRPr sz="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741363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5"/>
        </a:buClr>
        <a:buFont typeface="Poppins" panose="00000500000000000000" pitchFamily="2" charset="0"/>
        <a:buChar char="&gt;"/>
        <a:defRPr sz="7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/>
              <a:t>htb — Connectivity Imaging Toolbox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4505324" y="171449"/>
            <a:ext cx="4295776" cy="3082829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Digital Twining for optogenetic protocol design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1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Protocol choice determines success — not hardware</a:t>
            </a:r>
          </a:p>
        </p:txBody>
      </p:sp>
      <p:sp>
        <p:nvSpPr>
          <p:cNvPr id="4" name="Body 3"/>
          <p:cNvSpPr>
            <a:spLocks noGrp="1"/>
          </p:cNvSpPr>
          <p:nvPr>
            <p:ph idx="1"/>
          </p:nvPr>
        </p:nvSpPr>
        <p:spPr>
          <a:xfrm>
            <a:off x="302154" y="1377656"/>
            <a:ext cx="8503920" cy="2940344"/>
          </a:xfrm>
        </p:spPr>
        <p:txBody>
          <a:bodyPr/>
          <a:lstStyle/>
          <a:p>
            <a:r>
              <a:rPr lang="en-US" sz="2000" b="1" dirty="0"/>
              <a:t>Three coupled problems:</a:t>
            </a:r>
          </a:p>
          <a:p>
            <a:pPr marL="173736" indent="-171450">
              <a:buFont typeface="Arial" panose="020B0604020202020204" pitchFamily="34" charset="0"/>
              <a:buChar char="•"/>
            </a:pPr>
            <a:r>
              <a:rPr lang="en-US" sz="1200" dirty="0"/>
              <a:t>Spatial encoding  —  which cells to stimulate together so individual contributions can be separated</a:t>
            </a:r>
          </a:p>
          <a:p>
            <a:pPr marL="173736" indent="-171450">
              <a:buFont typeface="Arial" panose="020B0604020202020204" pitchFamily="34" charset="0"/>
              <a:buChar char="•"/>
            </a:pPr>
            <a:r>
              <a:rPr lang="en-US" sz="1200" dirty="0"/>
              <a:t>Temporal encoding  —  what waveform shape and duration to use given indicator kinetics</a:t>
            </a:r>
          </a:p>
          <a:p>
            <a:pPr marL="173736" indent="-171450">
              <a:buFont typeface="Arial" panose="020B0604020202020204" pitchFamily="34" charset="0"/>
              <a:buChar char="•"/>
            </a:pPr>
            <a:r>
              <a:rPr lang="en-US" sz="1200" dirty="0"/>
              <a:t>Robustness  —  does the protocol work across different preparations, not just one network?</a:t>
            </a:r>
          </a:p>
          <a:p>
            <a:r>
              <a:rPr lang="en-US" sz="1800" b="1" dirty="0"/>
              <a:t>Poor protocol choice → F1 below 0.3 on perfectly good hardware.</a:t>
            </a:r>
          </a:p>
          <a:p>
            <a:pPr marL="173736" indent="-171450">
              <a:buFont typeface="Arial" panose="020B0604020202020204" pitchFamily="34" charset="0"/>
              <a:buChar char="•"/>
            </a:pPr>
            <a:r>
              <a:rPr lang="en-US" sz="1200" dirty="0"/>
              <a:t>htb solves this by simulating the full measurement chain and searching protocol space with Bayesian optimisation</a:t>
            </a:r>
            <a:r>
              <a:rPr lang="en-US" sz="1800" dirty="0"/>
              <a:t>.</a:t>
            </a:r>
          </a:p>
          <a:p>
            <a:pPr marL="173736" indent="-171450">
              <a:buFont typeface="Arial" panose="020B0604020202020204" pitchFamily="34" charset="0"/>
              <a:buChar char="•"/>
            </a:pPr>
            <a:r>
              <a:rPr lang="en-US" sz="1200" dirty="0"/>
              <a:t>Each trial evaluated on 5 independent networks  —  mean F1 is quality, std F1 is robustness.</a:t>
            </a:r>
          </a:p>
          <a:p>
            <a:pPr marL="173736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3736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27679A-1D1C-9C3E-237F-875E3F4B7511}"/>
              </a:ext>
            </a:extLst>
          </p:cNvPr>
          <p:cNvSpPr txBox="1"/>
          <p:nvPr/>
        </p:nvSpPr>
        <p:spPr>
          <a:xfrm>
            <a:off x="2288646" y="4056303"/>
            <a:ext cx="43116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bg1"/>
                </a:solidFill>
              </a:rPr>
              <a:t>htb</a:t>
            </a:r>
            <a:r>
              <a:rPr lang="en-US" sz="2400" dirty="0">
                <a:solidFill>
                  <a:schemeClr val="bg1"/>
                </a:solidFill>
              </a:rPr>
              <a:t> bootstraps protocol tuning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for better experimental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1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Overview</a:t>
            </a:r>
          </a:p>
        </p:txBody>
      </p:sp>
      <p:sp>
        <p:nvSpPr>
          <p:cNvPr id="4" name="Subtitle 3"/>
          <p:cNvSpPr>
            <a:spLocks noGrp="1"/>
          </p:cNvSpPr>
          <p:nvPr>
            <p:ph idx="14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Six-layer stack — runners delegate down, results surface up</a:t>
            </a:r>
          </a:p>
        </p:txBody>
      </p:sp>
      <p:sp>
        <p:nvSpPr>
          <p:cNvPr id="5" name="Body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Runner Scripts</a:t>
            </a:r>
          </a:p>
          <a:p>
            <a:r>
              <a:rPr lang="en-US" dirty="0"/>
              <a:t>run_sweep  ·  run_balanced_sweep  ·  run_pipeline  ·  run_joint  ·  run_drug_screen  ·  run_variability  ·  run_sensitivity</a:t>
            </a:r>
          </a:p>
          <a:p>
            <a:endParaRPr lang="en-US" dirty="0"/>
          </a:p>
          <a:p>
            <a:r>
              <a:rPr lang="en-US" b="1" dirty="0"/>
              <a:t>Analysis Layer</a:t>
            </a:r>
          </a:p>
          <a:p>
            <a:r>
              <a:rPr lang="en-US" dirty="0"/>
              <a:t>ProtocolOptimizer  ·  BalancedOptimizer  ·  PrepVariability  ·  SensitivityAnalyzer  ·  ConnectivityPipeline  ·  SinglePassOptimizer</a:t>
            </a:r>
          </a:p>
          <a:p>
            <a:endParaRPr lang="en-US" dirty="0"/>
          </a:p>
          <a:p>
            <a:r>
              <a:rPr lang="en-US" b="1" dirty="0"/>
              <a:t>Simulation Layer</a:t>
            </a:r>
          </a:p>
          <a:p>
            <a:r>
              <a:rPr lang="en-US" dirty="0"/>
              <a:t>Simulator — builds E/I network, runs Numba JIT physics, applies neuropil contamination, delegates mask logic</a:t>
            </a:r>
          </a:p>
          <a:p>
            <a:endParaRPr lang="en-US" dirty="0"/>
          </a:p>
          <a:p>
            <a:r>
              <a:rPr lang="en-US" b="1" dirty="0"/>
              <a:t>Mask Layer</a:t>
            </a:r>
          </a:p>
          <a:p>
            <a:r>
              <a:rPr lang="en-US" dirty="0"/>
              <a:t>HadamardMask  ·  SingleCellMask  ·  RandomSubsetMask  ·  MultiScaleHadamardMask  ·  SimplexMask</a:t>
            </a:r>
          </a:p>
          <a:p>
            <a:endParaRPr lang="en-US" dirty="0"/>
          </a:p>
          <a:p>
            <a:r>
              <a:rPr lang="en-US" b="1" dirty="0"/>
              <a:t>Protocol &amp;amp; Parameter Layer</a:t>
            </a:r>
          </a:p>
          <a:p>
            <a:r>
              <a:rPr lang="en-US" dirty="0"/>
              <a:t>BioParams  ·  StimProtocol  ·  HadamardDesign  ·  AnalysisConfig</a:t>
            </a:r>
          </a:p>
          <a:p>
            <a:endParaRPr lang="en-US" dirty="0"/>
          </a:p>
          <a:p>
            <a:r>
              <a:rPr lang="en-US" dirty="0"/>
              <a:t>Numba JIT acceleration: ~50–100× speedup vs NumPy. ~10s warmup on first run, cached thereafter.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1"/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Biophysical Simulation Model</a:t>
            </a:r>
          </a:p>
        </p:txBody>
      </p:sp>
      <p:sp>
        <p:nvSpPr>
          <p:cNvPr id="4" name="Left subtitle"/>
          <p:cNvSpPr>
            <a:spLocks noGrp="1"/>
          </p:cNvSpPr>
          <p:nvPr>
            <p:ph idx="14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What the simulator models</a:t>
            </a:r>
          </a:p>
        </p:txBody>
      </p:sp>
      <p:sp>
        <p:nvSpPr>
          <p:cNvPr id="5" name="Left body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900" b="1" dirty="0"/>
              <a:t>E/I network</a:t>
            </a:r>
          </a:p>
          <a:p>
            <a:r>
              <a:rPr lang="en-US" sz="900" dirty="0"/>
              <a:t>Random cell positions, synaptic weights, conduction delays</a:t>
            </a:r>
          </a:p>
          <a:p>
            <a:endParaRPr lang="en-US" sz="900" dirty="0"/>
          </a:p>
          <a:p>
            <a:r>
              <a:rPr lang="en-US" sz="900" b="1" dirty="0"/>
              <a:t>Indicator dynamics</a:t>
            </a:r>
          </a:p>
          <a:p>
            <a:r>
              <a:rPr lang="en-US" sz="900" dirty="0"/>
              <a:t>Biexponential rise/decay from </a:t>
            </a:r>
            <a:r>
              <a:rPr lang="en-US" sz="900" dirty="0" err="1"/>
              <a:t>BioParams</a:t>
            </a:r>
            <a:endParaRPr lang="en-US" sz="900" dirty="0"/>
          </a:p>
          <a:p>
            <a:endParaRPr lang="en-US" sz="900" dirty="0"/>
          </a:p>
          <a:p>
            <a:r>
              <a:rPr lang="en-US" sz="900" b="1" dirty="0"/>
              <a:t>Neuropil contamination</a:t>
            </a:r>
          </a:p>
          <a:p>
            <a:r>
              <a:rPr lang="en-US" sz="900" dirty="0"/>
              <a:t>F_obs[i] = F_soma[i] + r × Gaussian-avg(neighbors) r ≈ 0.7 for 2-photon</a:t>
            </a:r>
          </a:p>
          <a:p>
            <a:endParaRPr lang="en-US" sz="900" dirty="0"/>
          </a:p>
          <a:p>
            <a:r>
              <a:rPr lang="en-US" sz="900" b="1" dirty="0"/>
              <a:t>Shot + read noise</a:t>
            </a:r>
          </a:p>
          <a:p>
            <a:r>
              <a:rPr lang="en-US" sz="900" dirty="0"/>
              <a:t>noise_sigma  —  calibrate from dark frames</a:t>
            </a:r>
          </a:p>
          <a:p>
            <a:endParaRPr lang="en-US" sz="900" dirty="0"/>
          </a:p>
          <a:p>
            <a:r>
              <a:rPr lang="en-US" sz="900" b="1" dirty="0"/>
              <a:t>Opsin drive</a:t>
            </a:r>
          </a:p>
          <a:p>
            <a:r>
              <a:rPr lang="en-US" sz="900" dirty="0"/>
              <a:t>r_stim = power × opsin_sensitivity  —  calibrate from patch-clamp power series</a:t>
            </a:r>
          </a:p>
        </p:txBody>
      </p:sp>
      <p:sp>
        <p:nvSpPr>
          <p:cNvPr id="6" name="Right subtitle"/>
          <p:cNvSpPr>
            <a:spLocks noGrp="1"/>
          </p:cNvSpPr>
          <p:nvPr>
            <p:ph idx="15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Simulation pipeline</a:t>
            </a:r>
          </a:p>
        </p:txBody>
      </p:sp>
      <p:sp>
        <p:nvSpPr>
          <p:cNvPr id="7" name="Right body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 sz="900" b="1" dirty="0"/>
              <a:t>1.  Build random E/I network</a:t>
            </a:r>
          </a:p>
          <a:p>
            <a:r>
              <a:rPr lang="en-US" sz="900" dirty="0"/>
              <a:t>Cell positions, W matrix, synaptic delays</a:t>
            </a:r>
          </a:p>
          <a:p>
            <a:endParaRPr lang="en-US" sz="900" dirty="0"/>
          </a:p>
          <a:p>
            <a:r>
              <a:rPr lang="en-US" sz="900" b="1" dirty="0"/>
              <a:t>2.  Mask: unit assignment + stim_profile</a:t>
            </a:r>
          </a:p>
          <a:p>
            <a:r>
              <a:rPr lang="en-US" sz="900" dirty="0"/>
              <a:t>Which cells are illuminated in each pattern</a:t>
            </a:r>
          </a:p>
          <a:p>
            <a:endParaRPr lang="en-US" sz="900" dirty="0"/>
          </a:p>
          <a:p>
            <a:r>
              <a:rPr lang="en-US" sz="900" b="1" dirty="0"/>
              <a:t>3.  Build light drive r_light (JIT)</a:t>
            </a:r>
          </a:p>
          <a:p>
            <a:r>
              <a:rPr lang="en-US" sz="900" dirty="0"/>
              <a:t>N_cells × N_t array, waveform-shaped per trial</a:t>
            </a:r>
          </a:p>
          <a:p>
            <a:endParaRPr lang="en-US" sz="900" dirty="0"/>
          </a:p>
          <a:p>
            <a:r>
              <a:rPr lang="en-US" sz="900" b="1" dirty="0"/>
              <a:t>4.  Neural simulation (JIT)</a:t>
            </a:r>
          </a:p>
          <a:p>
            <a:r>
              <a:rPr lang="en-US" sz="900" dirty="0"/>
              <a:t>Spikes → Ca → fluorescence → dF/F</a:t>
            </a:r>
          </a:p>
          <a:p>
            <a:endParaRPr lang="en-US" sz="900" dirty="0"/>
          </a:p>
          <a:p>
            <a:r>
              <a:rPr lang="en-US" sz="900" b="1" dirty="0"/>
              <a:t>5.  Extract responses + reconstruct C</a:t>
            </a:r>
          </a:p>
          <a:p>
            <a:r>
              <a:rPr lang="en-US" sz="900" dirty="0"/>
              <a:t>Mask matched filter or least-squares</a:t>
            </a:r>
          </a:p>
          <a:p>
            <a:endParaRPr lang="en-US" sz="900" dirty="0"/>
          </a:p>
          <a:p>
            <a:r>
              <a:rPr lang="en-US" sz="900" b="1" dirty="0"/>
              <a:t>6.  Score vs W_unit_weights</a:t>
            </a:r>
          </a:p>
          <a:p>
            <a:r>
              <a:rPr lang="en-US" sz="900" dirty="0"/>
              <a:t>weight_corr + E_f1 + I_f1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1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Masks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Spatial Encoding Strategies</a:t>
            </a:r>
          </a:p>
        </p:txBody>
      </p:sp>
      <p:sp>
        <p:nvSpPr>
          <p:cNvPr id="4" name="Left body"/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en-US" sz="1200" b="1" dirty="0"/>
              <a:t>Hadamard  (recommended for E/I)</a:t>
            </a:r>
          </a:p>
          <a:p>
            <a:r>
              <a:rPr lang="en-US" sz="1200" dirty="0"/>
              <a:t>Cells → spatial blocks. Binary S-matrix patterns. Matched filter reconstruction. N patterns for N blocks. Use finest block size from recommended_block_sizes() for best E/I separation.</a:t>
            </a:r>
          </a:p>
          <a:p>
            <a:endParaRPr lang="en-US" sz="1200" dirty="0"/>
          </a:p>
          <a:p>
            <a:r>
              <a:rPr lang="en-US" sz="1200" b="1" dirty="0"/>
              <a:t>Single Cell</a:t>
            </a:r>
          </a:p>
          <a:p>
            <a:r>
              <a:rPr lang="en-US" sz="1200" dirty="0"/>
              <a:t>One pattern per cell — cleanest E/I separation, direct readout. Cost: N_cells patterns per rep. Best for validation and small networks (N ≤ 80).</a:t>
            </a:r>
          </a:p>
          <a:p>
            <a:endParaRPr lang="en-US" sz="1200" dirty="0"/>
          </a:p>
          <a:p>
            <a:r>
              <a:rPr lang="en-US" sz="1200" b="1" dirty="0"/>
              <a:t>Mask selection rule:</a:t>
            </a:r>
          </a:p>
          <a:p>
            <a:r>
              <a:rPr lang="en-US" sz="1200" dirty="0"/>
              <a:t>Balanced sweep → fine-scale HadamardMask</a:t>
            </a:r>
          </a:p>
          <a:p>
            <a:r>
              <a:rPr lang="en-US" sz="1200" dirty="0"/>
              <a:t>Validation → SingleCellMask</a:t>
            </a:r>
          </a:p>
        </p:txBody>
      </p:sp>
      <p:sp>
        <p:nvSpPr>
          <p:cNvPr id="5" name="Right body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r>
              <a:rPr lang="en-US" sz="1200" b="1" dirty="0"/>
              <a:t>Random Subset</a:t>
            </a:r>
          </a:p>
          <a:p>
            <a:r>
              <a:rPr lang="en-US" sz="1200" dirty="0"/>
              <a:t>~50% of cells ON per pattern. Least-squares reconstruction. Separates E/I without spatial structure. Requires n_patterns ≥ 4 × N_cells and short ISI.</a:t>
            </a:r>
          </a:p>
          <a:p>
            <a:endParaRPr lang="en-US" sz="1200" dirty="0"/>
          </a:p>
          <a:p>
            <a:r>
              <a:rPr lang="en-US" sz="1200" b="1" dirty="0"/>
              <a:t>Simplex  (real data)</a:t>
            </a:r>
          </a:p>
          <a:p>
            <a:r>
              <a:rPr lang="en-US" sz="1200" dirty="0"/>
              <a:t>Blob-based patterns from widefield pre-movie. Simplex vertex design minimises pairwise overlap. Run run_premovie.py first to detect cell positions, then load blobs.npz.</a:t>
            </a:r>
          </a:p>
          <a:p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1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Balanced E/I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Balanced E/I Recovery</a:t>
            </a:r>
          </a:p>
        </p:txBody>
      </p:sp>
      <p:sp>
        <p:nvSpPr>
          <p:cNvPr id="4" name="Left sub"/>
          <p:cNvSpPr>
            <a:spLocks noGrp="1"/>
          </p:cNvSpPr>
          <p:nvPr>
            <p:ph idx="14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asymmetry problem</a:t>
            </a:r>
          </a:p>
        </p:txBody>
      </p:sp>
      <p:sp>
        <p:nvSpPr>
          <p:cNvPr id="5" name="Left body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200" dirty="0"/>
              <a:t>Inhibitory cells are ~20% of neurons — their signal is diluted when grouped into spatial blocks.</a:t>
            </a:r>
          </a:p>
          <a:p>
            <a:endParaRPr lang="en-US" sz="1200" dirty="0"/>
          </a:p>
          <a:p>
            <a:r>
              <a:rPr lang="en-US" sz="1200" dirty="0"/>
              <a:t>A threshold tuned to detect the majority E class systematically misses smaller I signals.</a:t>
            </a:r>
          </a:p>
          <a:p>
            <a:endParaRPr lang="en-US" sz="1200" dirty="0"/>
          </a:p>
          <a:p>
            <a:r>
              <a:rPr lang="en-US" sz="1200" dirty="0"/>
              <a:t>Standard composite score weights I_f1 at only 15%, reinforcing the asymmetry.</a:t>
            </a:r>
          </a:p>
        </p:txBody>
      </p:sp>
      <p:sp>
        <p:nvSpPr>
          <p:cNvPr id="6" name="Center sub"/>
          <p:cNvSpPr>
            <a:spLocks noGrp="1"/>
          </p:cNvSpPr>
          <p:nvPr>
            <p:ph idx="16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solution: balanced_ei_f1</a:t>
            </a:r>
          </a:p>
        </p:txBody>
      </p:sp>
      <p:sp>
        <p:nvSpPr>
          <p:cNvPr id="7" name="Center body"/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r>
              <a:rPr lang="en-US" sz="1100" dirty="0"/>
              <a:t>Independent threshold sweeps per class — E and I each find their own best threshold from quantiles of |C|.</a:t>
            </a:r>
          </a:p>
          <a:p>
            <a:endParaRPr lang="en-US" sz="1100" dirty="0"/>
          </a:p>
          <a:p>
            <a:r>
              <a:rPr lang="en-US" sz="1100" b="1" dirty="0"/>
              <a:t>Macro averaging:</a:t>
            </a:r>
          </a:p>
          <a:p>
            <a:r>
              <a:rPr lang="en-US" sz="1100" dirty="0"/>
              <a:t>balanced_F1 = 0.5 × E_F1 + 0.5 × I_F1</a:t>
            </a:r>
          </a:p>
          <a:p>
            <a:r>
              <a:rPr lang="en-US" sz="1100" dirty="0"/>
              <a:t>Equal weight regardless of class size.</a:t>
            </a:r>
          </a:p>
          <a:p>
            <a:endParaRPr lang="en-US" sz="1100" dirty="0"/>
          </a:p>
          <a:p>
            <a:r>
              <a:rPr lang="en-US" sz="1100" dirty="0"/>
              <a:t>Fine-scale HadamardMask minimises E/I mixing within blocks — use recommended_block_sizes()[-1].</a:t>
            </a:r>
          </a:p>
        </p:txBody>
      </p:sp>
      <p:sp>
        <p:nvSpPr>
          <p:cNvPr id="8" name="Right sub"/>
          <p:cNvSpPr>
            <a:spLocks noGrp="1"/>
          </p:cNvSpPr>
          <p:nvPr>
            <p:ph idx="18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Objective</a:t>
            </a:r>
          </a:p>
        </p:txBody>
      </p:sp>
      <p:sp>
        <p:nvSpPr>
          <p:cNvPr id="9" name="Right body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en-US" sz="1050" b="1" dirty="0"/>
              <a:t>final_score =</a:t>
            </a:r>
          </a:p>
          <a:p>
            <a:r>
              <a:rPr lang="en-US" sz="1050" dirty="0"/>
              <a:t>  balanced_F1 × (1 − w × t_norm)</a:t>
            </a:r>
          </a:p>
          <a:p>
            <a:endParaRPr lang="en-US" sz="1050" dirty="0"/>
          </a:p>
          <a:p>
            <a:r>
              <a:rPr lang="en-US" sz="1050" dirty="0"/>
              <a:t>t_norm = experiment_time / budget</a:t>
            </a:r>
          </a:p>
          <a:p>
            <a:endParaRPr lang="en-US" sz="1050" dirty="0"/>
          </a:p>
          <a:p>
            <a:r>
              <a:rPr lang="en-US" sz="1050" b="1" dirty="0"/>
              <a:t>duration_weight:</a:t>
            </a:r>
          </a:p>
          <a:p>
            <a:r>
              <a:rPr lang="en-US" sz="1050" dirty="0"/>
              <a:t>0.0 → maximise F1 regardless of time</a:t>
            </a:r>
          </a:p>
          <a:p>
            <a:r>
              <a:rPr lang="en-US" sz="1050" dirty="0"/>
              <a:t>0.3 → mild efficiency pressure (default)</a:t>
            </a:r>
          </a:p>
          <a:p>
            <a:r>
              <a:rPr lang="en-US" sz="1050" dirty="0"/>
              <a:t>1.0 → maximise F1 per unit time</a:t>
            </a:r>
          </a:p>
          <a:p>
            <a:endParaRPr lang="en-US" sz="1050" dirty="0"/>
          </a:p>
          <a:p>
            <a:r>
              <a:rPr lang="en-US" sz="1050" dirty="0"/>
              <a:t>Output: Pareto frontier of time vs balanced F1, E vs I scatter, robustness panel.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1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Workflows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Pipeline Workflows</a:t>
            </a:r>
          </a:p>
        </p:txBody>
      </p:sp>
      <p:sp>
        <p:nvSpPr>
          <p:cNvPr id="4" name="Left body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200" b="1" dirty="0"/>
              <a:t>run_sweep</a:t>
            </a:r>
          </a:p>
          <a:p>
            <a:r>
              <a:rPr lang="en-US" sz="1200" b="1" dirty="0"/>
              <a:t>+ run_variability</a:t>
            </a:r>
          </a:p>
          <a:p>
            <a:r>
              <a:rPr lang="en-US" sz="1200" dirty="0"/>
              <a:t>Connectivity only</a:t>
            </a:r>
          </a:p>
          <a:p>
            <a:endParaRPr lang="en-US" sz="1200" dirty="0"/>
          </a:p>
          <a:p>
            <a:r>
              <a:rPr lang="en-US" sz="1200" dirty="0"/>
              <a:t>1. Bayesian protocol search (Optuna TPE, 8 parameters)</a:t>
            </a:r>
          </a:p>
          <a:p>
            <a:r>
              <a:rPr lang="en-US" sz="1200" dirty="0"/>
              <a:t>2. Validate F1 across 50+ simulated preps</a:t>
            </a:r>
          </a:p>
          <a:p>
            <a:r>
              <a:rPr lang="en-US" sz="1200" dirty="0"/>
              <a:t>3. Sensitivity analysis — rank which BioParams matter</a:t>
            </a:r>
          </a:p>
          <a:p>
            <a:endParaRPr lang="en-US" sz="1200" dirty="0"/>
          </a:p>
          <a:p>
            <a:r>
              <a:rPr lang="en-US" sz="1200" b="1" dirty="0"/>
              <a:t>Typical time: 5–15 min</a:t>
            </a:r>
          </a:p>
          <a:p>
            <a:r>
              <a:rPr lang="en-US" sz="1200" dirty="0"/>
              <a:t>Output: best StimProtocol</a:t>
            </a:r>
          </a:p>
        </p:txBody>
      </p:sp>
      <p:sp>
        <p:nvSpPr>
          <p:cNvPr id="5" name="Center body"/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r>
              <a:rPr lang="en-US" sz="1200" b="1" dirty="0"/>
              <a:t>run_balanced_sweep</a:t>
            </a:r>
          </a:p>
          <a:p>
            <a:r>
              <a:rPr lang="en-US" sz="1200" dirty="0"/>
              <a:t>Balanced E &amp; I recovery</a:t>
            </a:r>
          </a:p>
          <a:p>
            <a:endParaRPr lang="en-US" sz="1200" dirty="0"/>
          </a:p>
          <a:p>
            <a:r>
              <a:rPr lang="en-US" sz="1200" dirty="0"/>
              <a:t>1. Fine-scale HadamardMask</a:t>
            </a:r>
          </a:p>
          <a:p>
            <a:r>
              <a:rPr lang="en-US" sz="1200" dirty="0"/>
              <a:t>2. Cross-network eval on 5 networks per trial</a:t>
            </a:r>
          </a:p>
          <a:p>
            <a:r>
              <a:rPr lang="en-US" sz="1200" dirty="0"/>
              <a:t>3. Duration-efficiency tradeoff (duration_weight)</a:t>
            </a:r>
          </a:p>
          <a:p>
            <a:r>
              <a:rPr lang="en-US" sz="1200" dirty="0"/>
              <a:t>4. Pareto frontier output</a:t>
            </a:r>
          </a:p>
          <a:p>
            <a:endParaRPr lang="en-US" sz="1200" dirty="0"/>
          </a:p>
          <a:p>
            <a:r>
              <a:rPr lang="en-US" sz="1200" b="1" dirty="0"/>
              <a:t>Typical time: 30–60 min</a:t>
            </a:r>
          </a:p>
          <a:p>
            <a:r>
              <a:rPr lang="en-US" sz="1200" dirty="0"/>
              <a:t>Output: Pareto plot + best protocol</a:t>
            </a:r>
          </a:p>
        </p:txBody>
      </p:sp>
      <p:sp>
        <p:nvSpPr>
          <p:cNvPr id="6" name="Right body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en-US" sz="1400" b="1" dirty="0"/>
              <a:t>run_pipeline</a:t>
            </a:r>
          </a:p>
          <a:p>
            <a:r>
              <a:rPr lang="en-US" sz="1400" b="1" dirty="0"/>
              <a:t>/ run_joint</a:t>
            </a:r>
          </a:p>
          <a:p>
            <a:r>
              <a:rPr lang="en-US" sz="1400" dirty="0"/>
              <a:t>Connectivity + PSP shapes</a:t>
            </a:r>
          </a:p>
          <a:p>
            <a:endParaRPr lang="en-US" sz="1400" dirty="0"/>
          </a:p>
          <a:p>
            <a:r>
              <a:rPr lang="en-US" sz="1400" dirty="0"/>
              <a:t>Stage 1: Hadamard sweep → connectivity matrix C</a:t>
            </a:r>
          </a:p>
          <a:p>
            <a:r>
              <a:rPr lang="en-US" sz="1400" dirty="0"/>
              <a:t>Stage 2: prior-informed targeted PSP — stimulate only known sources per target (5–10× fewer trials)</a:t>
            </a:r>
          </a:p>
          <a:p>
            <a:r>
              <a:rPr lang="en-US" sz="1600" b="1" dirty="0"/>
              <a:t>Typical time: 10–60 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1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 dirty="0"/>
              <a:t>Validation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Cross-Network Evaluation</a:t>
            </a:r>
          </a:p>
        </p:txBody>
      </p:sp>
      <p:sp>
        <p:nvSpPr>
          <p:cNvPr id="4" name="Left subtitle"/>
          <p:cNvSpPr>
            <a:spLocks noGrp="1"/>
          </p:cNvSpPr>
          <p:nvPr>
            <p:ph idx="15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Why cross-network, not cross-validation?</a:t>
            </a:r>
          </a:p>
        </p:txBody>
      </p:sp>
      <p:sp>
        <p:nvSpPr>
          <p:cNvPr id="5" name="Left body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sz="1100" dirty="0"/>
              <a:t>5-fold CV on a single simulation splits trials from one fixed network.</a:t>
            </a:r>
          </a:p>
          <a:p>
            <a:r>
              <a:rPr lang="en-US" sz="1100" dirty="0"/>
              <a:t>It tests data efficiency — how many reps you need — but not generalisation.</a:t>
            </a:r>
          </a:p>
          <a:p>
            <a:r>
              <a:rPr lang="en-US" sz="1100" dirty="0"/>
              <a:t>Every fold trains and evaluates on the same cells with the same weights.</a:t>
            </a:r>
          </a:p>
          <a:p>
            <a:endParaRPr lang="en-US" sz="1100" dirty="0"/>
          </a:p>
          <a:p>
            <a:r>
              <a:rPr lang="en-US" sz="1100" dirty="0"/>
              <a:t>Cross-network evaluation runs each candidate protocol on 5 independently sampled networks: different cell positions, different synaptic weights, different random seeds.</a:t>
            </a:r>
          </a:p>
          <a:p>
            <a:endParaRPr lang="en-US" sz="1100" dirty="0"/>
          </a:p>
          <a:p>
            <a:r>
              <a:rPr lang="en-US" sz="1100" b="1" dirty="0"/>
              <a:t>This directly answers: will this protocol work on a new animal or slice?</a:t>
            </a:r>
          </a:p>
          <a:p>
            <a:endParaRPr lang="en-US" sz="1100" b="1" dirty="0"/>
          </a:p>
          <a:p>
            <a:r>
              <a:rPr lang="en-US" sz="1100" b="1" dirty="0"/>
              <a:t>Mean F1 across networks = protocol quality</a:t>
            </a:r>
          </a:p>
          <a:p>
            <a:r>
              <a:rPr lang="en-US" sz="1100" b="1" dirty="0"/>
              <a:t>Std F1 across networks = prep-to-prep robustness</a:t>
            </a:r>
          </a:p>
          <a:p>
            <a:endParaRPr lang="en-US" sz="1100" b="1" dirty="0"/>
          </a:p>
          <a:p>
            <a:r>
              <a:rPr lang="en-US" sz="1100" dirty="0"/>
              <a:t>A protocol scoring 0.80 ± 0.03 is far more deployable than one scoring 0.85 ± 0.18.</a:t>
            </a:r>
          </a:p>
        </p:txBody>
      </p:sp>
      <p:sp>
        <p:nvSpPr>
          <p:cNvPr id="6" name="Right subtitle"/>
          <p:cNvSpPr>
            <a:spLocks noGrp="1"/>
          </p:cNvSpPr>
          <p:nvPr>
            <p:ph idx="14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Design properties</a:t>
            </a:r>
          </a:p>
        </p:txBody>
      </p:sp>
      <p:sp>
        <p:nvSpPr>
          <p:cNvPr id="7" name="Right body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Fixed eval seeds:</a:t>
            </a:r>
          </a:p>
          <a:p>
            <a:r>
              <a:rPr lang="en-US" dirty="0"/>
              <a:t>Seeds 100–107 are fixed across all Optuna trials so every candidate protocol is scored on exactly the same networks. Prevents lucky network draws inflating scores.</a:t>
            </a:r>
          </a:p>
          <a:p>
            <a:endParaRPr lang="en-US" dirty="0"/>
          </a:p>
          <a:p>
            <a:r>
              <a:rPr lang="en-US" b="1" dirty="0"/>
              <a:t>Separate from TPE seeds:</a:t>
            </a:r>
          </a:p>
          <a:p>
            <a:r>
              <a:rPr lang="en-US" dirty="0"/>
              <a:t>rng_seeds [7, 42, 123...] drive the Optuna sampler, not the evaluation. The sampler never sees the networks it is scored on.</a:t>
            </a:r>
          </a:p>
          <a:p>
            <a:endParaRPr lang="en-US" dirty="0"/>
          </a:p>
          <a:p>
            <a:r>
              <a:rPr lang="en-US" b="1" dirty="0"/>
              <a:t>n_eval_seeds:</a:t>
            </a:r>
          </a:p>
          <a:p>
            <a:r>
              <a:rPr lang="en-US" dirty="0"/>
              <a:t>3 — fast, catches failures</a:t>
            </a:r>
          </a:p>
          <a:p>
            <a:r>
              <a:rPr lang="en-US" dirty="0"/>
              <a:t>5 — recommended default</a:t>
            </a:r>
          </a:p>
          <a:p>
            <a:r>
              <a:rPr lang="en-US" dirty="0"/>
              <a:t>8 — final validation runs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7777A5E-39D4-BFF3-4BEC-44A49CA62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Poppins Medium" panose="00000600000000000000" pitchFamily="2" charset="0"/>
                <a:ea typeface="Georgia" pitchFamily="34" charset="-122"/>
                <a:cs typeface="Poppins Medium" panose="00000600000000000000" pitchFamily="2" charset="0"/>
              </a:rPr>
              <a:t>Cross-Network Evaluation</a:t>
            </a:r>
            <a:endParaRPr lang="en-US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4BA863-7610-CFFE-C590-2C028C35E5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9D531-64E4-A116-B440-9A0F613986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Validation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3A5EA89-C3E7-0657-4F42-6B3A00E5E200}"/>
              </a:ext>
            </a:extLst>
          </p:cNvPr>
          <p:cNvSpPr/>
          <p:nvPr/>
        </p:nvSpPr>
        <p:spPr>
          <a:xfrm>
            <a:off x="230129" y="870812"/>
            <a:ext cx="21497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4E"/>
                </a:solidFill>
                <a:latin typeface="Poppins Medium" panose="00000600000000000000" pitchFamily="2" charset="0"/>
                <a:ea typeface="Georgia" pitchFamily="34" charset="-122"/>
                <a:cs typeface="Poppins Medium" panose="00000600000000000000" pitchFamily="2" charset="0"/>
              </a:rPr>
              <a:t>Candidate protocol is evaluated on 5 independently sampled networks</a:t>
            </a:r>
            <a:endParaRPr lang="en-US" sz="1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3A84E33-E4FA-B6C1-7CC0-D3973B56A3F6}"/>
              </a:ext>
            </a:extLst>
          </p:cNvPr>
          <p:cNvSpPr/>
          <p:nvPr/>
        </p:nvSpPr>
        <p:spPr>
          <a:xfrm>
            <a:off x="201168" y="1905896"/>
            <a:ext cx="1828800" cy="109728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F5FFBDE-E9C2-8043-4960-62FB9D6126C9}"/>
              </a:ext>
            </a:extLst>
          </p:cNvPr>
          <p:cNvSpPr/>
          <p:nvPr/>
        </p:nvSpPr>
        <p:spPr>
          <a:xfrm>
            <a:off x="155448" y="1905896"/>
            <a:ext cx="1828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 Medium" panose="00000600000000000000" pitchFamily="2" charset="0"/>
                <a:ea typeface="Calibri" pitchFamily="34" charset="-122"/>
                <a:cs typeface="Poppins Medium" panose="00000600000000000000" pitchFamily="2" charset="0"/>
              </a:rPr>
              <a:t>StimProtocol</a:t>
            </a:r>
            <a:endParaRPr lang="en-US" sz="12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 Medium" panose="00000600000000000000" pitchFamily="2" charset="0"/>
                <a:ea typeface="Calibri" pitchFamily="34" charset="-122"/>
                <a:cs typeface="Poppins Medium" panose="00000600000000000000" pitchFamily="2" charset="0"/>
              </a:rPr>
              <a:t>candidate</a:t>
            </a:r>
            <a:endParaRPr lang="en-US" sz="12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64066962-87C2-33A1-5444-F759A81321F0}"/>
              </a:ext>
            </a:extLst>
          </p:cNvPr>
          <p:cNvSpPr/>
          <p:nvPr/>
        </p:nvSpPr>
        <p:spPr>
          <a:xfrm flipV="1">
            <a:off x="2024273" y="1170432"/>
            <a:ext cx="739688" cy="1151164"/>
          </a:xfrm>
          <a:prstGeom prst="line">
            <a:avLst/>
          </a:prstGeom>
          <a:noFill/>
          <a:ln w="1270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96052489-8940-72AA-7B95-32D8EF725329}"/>
              </a:ext>
            </a:extLst>
          </p:cNvPr>
          <p:cNvSpPr/>
          <p:nvPr/>
        </p:nvSpPr>
        <p:spPr>
          <a:xfrm>
            <a:off x="2743200" y="841248"/>
            <a:ext cx="228600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90F7B95-3B48-DF48-2220-0FD17D6D6C73}"/>
              </a:ext>
            </a:extLst>
          </p:cNvPr>
          <p:cNvSpPr/>
          <p:nvPr/>
        </p:nvSpPr>
        <p:spPr>
          <a:xfrm>
            <a:off x="2834640" y="8412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seed=100  (new cells, new W)</a:t>
            </a:r>
            <a:endParaRPr lang="en-US" sz="95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CE2FB616-DD3D-6901-35E8-F3AF8C4FB2D5}"/>
              </a:ext>
            </a:extLst>
          </p:cNvPr>
          <p:cNvSpPr/>
          <p:nvPr/>
        </p:nvSpPr>
        <p:spPr>
          <a:xfrm>
            <a:off x="5029200" y="1170432"/>
            <a:ext cx="4572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AC699FD3-C0DD-1175-093D-8D498F26D937}"/>
              </a:ext>
            </a:extLst>
          </p:cNvPr>
          <p:cNvSpPr/>
          <p:nvPr/>
        </p:nvSpPr>
        <p:spPr>
          <a:xfrm>
            <a:off x="5486400" y="841248"/>
            <a:ext cx="109728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D7D8EB0-02A4-2549-9EA0-21C7162B942E}"/>
              </a:ext>
            </a:extLst>
          </p:cNvPr>
          <p:cNvSpPr/>
          <p:nvPr/>
        </p:nvSpPr>
        <p:spPr>
          <a:xfrm>
            <a:off x="5486400" y="84124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= X.XX</a:t>
            </a:r>
            <a:endParaRPr lang="en-US" sz="10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DD53C417-E8BF-B981-2DD9-2D3551C6256B}"/>
              </a:ext>
            </a:extLst>
          </p:cNvPr>
          <p:cNvSpPr/>
          <p:nvPr/>
        </p:nvSpPr>
        <p:spPr>
          <a:xfrm flipV="1">
            <a:off x="2024272" y="1883664"/>
            <a:ext cx="718928" cy="411480"/>
          </a:xfrm>
          <a:prstGeom prst="line">
            <a:avLst/>
          </a:prstGeom>
          <a:noFill/>
          <a:ln w="1270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4D9C1508-4B46-AF87-517E-0D7446378003}"/>
              </a:ext>
            </a:extLst>
          </p:cNvPr>
          <p:cNvSpPr/>
          <p:nvPr/>
        </p:nvSpPr>
        <p:spPr>
          <a:xfrm>
            <a:off x="2743200" y="1591056"/>
            <a:ext cx="2286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0A4140D5-B8C3-533F-5B31-03C5AB55E727}"/>
              </a:ext>
            </a:extLst>
          </p:cNvPr>
          <p:cNvSpPr/>
          <p:nvPr/>
        </p:nvSpPr>
        <p:spPr>
          <a:xfrm>
            <a:off x="2834640" y="159105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seed=101  (new cells, new W)</a:t>
            </a:r>
            <a:endParaRPr lang="en-US" sz="95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5ED60243-032B-098A-1B43-9EF944A3B246}"/>
              </a:ext>
            </a:extLst>
          </p:cNvPr>
          <p:cNvSpPr/>
          <p:nvPr/>
        </p:nvSpPr>
        <p:spPr>
          <a:xfrm>
            <a:off x="5029200" y="1920240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1498A71D-F726-7841-871C-622671A35153}"/>
              </a:ext>
            </a:extLst>
          </p:cNvPr>
          <p:cNvSpPr/>
          <p:nvPr/>
        </p:nvSpPr>
        <p:spPr>
          <a:xfrm>
            <a:off x="5486400" y="1591056"/>
            <a:ext cx="109728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4C4A113C-CD40-8EED-1029-B78182CA27A7}"/>
              </a:ext>
            </a:extLst>
          </p:cNvPr>
          <p:cNvSpPr/>
          <p:nvPr/>
        </p:nvSpPr>
        <p:spPr>
          <a:xfrm>
            <a:off x="5486400" y="1591056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= X.XX</a:t>
            </a:r>
            <a:endParaRPr lang="en-US" sz="1000" dirty="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794A6D9A-6215-0C6C-7032-8C82D39A60A7}"/>
              </a:ext>
            </a:extLst>
          </p:cNvPr>
          <p:cNvSpPr/>
          <p:nvPr/>
        </p:nvSpPr>
        <p:spPr>
          <a:xfrm>
            <a:off x="2035662" y="2295144"/>
            <a:ext cx="707537" cy="338328"/>
          </a:xfrm>
          <a:prstGeom prst="line">
            <a:avLst/>
          </a:prstGeom>
          <a:noFill/>
          <a:ln w="1270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07666735-ADEE-5D1D-D509-ED51382E5D60}"/>
              </a:ext>
            </a:extLst>
          </p:cNvPr>
          <p:cNvSpPr/>
          <p:nvPr/>
        </p:nvSpPr>
        <p:spPr>
          <a:xfrm>
            <a:off x="2743200" y="2340864"/>
            <a:ext cx="2286000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9731B708-6F95-A9FD-839A-A083EDD072BD}"/>
              </a:ext>
            </a:extLst>
          </p:cNvPr>
          <p:cNvSpPr/>
          <p:nvPr/>
        </p:nvSpPr>
        <p:spPr>
          <a:xfrm>
            <a:off x="2834640" y="23408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seed=102  (new cells, new W)</a:t>
            </a:r>
            <a:endParaRPr lang="en-US" sz="950" dirty="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FA7CF540-EA5C-5BF4-3309-012791873109}"/>
              </a:ext>
            </a:extLst>
          </p:cNvPr>
          <p:cNvSpPr/>
          <p:nvPr/>
        </p:nvSpPr>
        <p:spPr>
          <a:xfrm>
            <a:off x="5029200" y="2670048"/>
            <a:ext cx="457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344C09E1-DC36-95A3-A0D2-FF175E8E7B22}"/>
              </a:ext>
            </a:extLst>
          </p:cNvPr>
          <p:cNvSpPr/>
          <p:nvPr/>
        </p:nvSpPr>
        <p:spPr>
          <a:xfrm>
            <a:off x="5486400" y="2340864"/>
            <a:ext cx="1097280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2EF841C9-E158-C408-DF08-03941640C6AA}"/>
              </a:ext>
            </a:extLst>
          </p:cNvPr>
          <p:cNvSpPr/>
          <p:nvPr/>
        </p:nvSpPr>
        <p:spPr>
          <a:xfrm>
            <a:off x="5486400" y="2340864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= X.XX</a:t>
            </a:r>
            <a:endParaRPr lang="en-US" sz="1000" dirty="0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66DABF18-996C-27EB-8CA2-6AC971F7E09E}"/>
              </a:ext>
            </a:extLst>
          </p:cNvPr>
          <p:cNvSpPr/>
          <p:nvPr/>
        </p:nvSpPr>
        <p:spPr>
          <a:xfrm>
            <a:off x="2050732" y="2295144"/>
            <a:ext cx="692468" cy="1088136"/>
          </a:xfrm>
          <a:prstGeom prst="line">
            <a:avLst/>
          </a:prstGeom>
          <a:noFill/>
          <a:ln w="1270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F4678366-4809-9880-8650-F849137A0768}"/>
              </a:ext>
            </a:extLst>
          </p:cNvPr>
          <p:cNvSpPr/>
          <p:nvPr/>
        </p:nvSpPr>
        <p:spPr>
          <a:xfrm>
            <a:off x="2743200" y="3090672"/>
            <a:ext cx="22860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411FCE38-1F8B-25BA-DD92-032001DA425A}"/>
              </a:ext>
            </a:extLst>
          </p:cNvPr>
          <p:cNvSpPr/>
          <p:nvPr/>
        </p:nvSpPr>
        <p:spPr>
          <a:xfrm>
            <a:off x="2834640" y="309067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seed=103  (new cells, new W)</a:t>
            </a:r>
            <a:endParaRPr lang="en-US" sz="950" dirty="0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B93BABCD-9EF7-2635-BA6C-48049621D4C1}"/>
              </a:ext>
            </a:extLst>
          </p:cNvPr>
          <p:cNvSpPr/>
          <p:nvPr/>
        </p:nvSpPr>
        <p:spPr>
          <a:xfrm>
            <a:off x="5029200" y="3419856"/>
            <a:ext cx="457200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4F04085C-320A-6812-5330-CD30FA0C06C4}"/>
              </a:ext>
            </a:extLst>
          </p:cNvPr>
          <p:cNvSpPr/>
          <p:nvPr/>
        </p:nvSpPr>
        <p:spPr>
          <a:xfrm>
            <a:off x="5486400" y="3090672"/>
            <a:ext cx="109728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5415362E-D016-F2A8-109E-BF6017243297}"/>
              </a:ext>
            </a:extLst>
          </p:cNvPr>
          <p:cNvSpPr/>
          <p:nvPr/>
        </p:nvSpPr>
        <p:spPr>
          <a:xfrm>
            <a:off x="5486400" y="3090672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= X.XX</a:t>
            </a:r>
            <a:endParaRPr lang="en-US" sz="1000" dirty="0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50197D78-134C-136B-7367-28FE9B2DCB46}"/>
              </a:ext>
            </a:extLst>
          </p:cNvPr>
          <p:cNvSpPr/>
          <p:nvPr/>
        </p:nvSpPr>
        <p:spPr>
          <a:xfrm>
            <a:off x="2035662" y="2313432"/>
            <a:ext cx="707538" cy="1819656"/>
          </a:xfrm>
          <a:prstGeom prst="line">
            <a:avLst/>
          </a:prstGeom>
          <a:noFill/>
          <a:ln w="1270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3">
            <a:extLst>
              <a:ext uri="{FF2B5EF4-FFF2-40B4-BE49-F238E27FC236}">
                <a16:creationId xmlns:a16="http://schemas.microsoft.com/office/drawing/2014/main" id="{DAFD77FB-0C28-520A-64DA-EB94FBB6C737}"/>
              </a:ext>
            </a:extLst>
          </p:cNvPr>
          <p:cNvSpPr/>
          <p:nvPr/>
        </p:nvSpPr>
        <p:spPr>
          <a:xfrm>
            <a:off x="2743200" y="3840480"/>
            <a:ext cx="2286000" cy="6583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72CDC672-42AA-7AA8-FD2C-A11D19395BDF}"/>
              </a:ext>
            </a:extLst>
          </p:cNvPr>
          <p:cNvSpPr/>
          <p:nvPr/>
        </p:nvSpPr>
        <p:spPr>
          <a:xfrm>
            <a:off x="2834640" y="38404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seed=104  (new cells, new W)</a:t>
            </a:r>
            <a:endParaRPr lang="en-US" sz="950" dirty="0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C222C5C1-F32C-E470-BAB4-269CEE6066E7}"/>
              </a:ext>
            </a:extLst>
          </p:cNvPr>
          <p:cNvSpPr/>
          <p:nvPr/>
        </p:nvSpPr>
        <p:spPr>
          <a:xfrm>
            <a:off x="5029200" y="4169664"/>
            <a:ext cx="457200" cy="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6">
            <a:extLst>
              <a:ext uri="{FF2B5EF4-FFF2-40B4-BE49-F238E27FC236}">
                <a16:creationId xmlns:a16="http://schemas.microsoft.com/office/drawing/2014/main" id="{EBBB7DC1-F77B-998B-9A93-24FE9A70DC75}"/>
              </a:ext>
            </a:extLst>
          </p:cNvPr>
          <p:cNvSpPr/>
          <p:nvPr/>
        </p:nvSpPr>
        <p:spPr>
          <a:xfrm>
            <a:off x="5486400" y="3840480"/>
            <a:ext cx="1097280" cy="6583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7CD378FF-68D6-0601-759D-5877A6A390C9}"/>
              </a:ext>
            </a:extLst>
          </p:cNvPr>
          <p:cNvSpPr/>
          <p:nvPr/>
        </p:nvSpPr>
        <p:spPr>
          <a:xfrm>
            <a:off x="5486400" y="384048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= X.XX</a:t>
            </a:r>
            <a:endParaRPr lang="en-US" sz="1000" dirty="0"/>
          </a:p>
        </p:txBody>
      </p:sp>
      <p:sp>
        <p:nvSpPr>
          <p:cNvPr id="42" name="Shape 38">
            <a:extLst>
              <a:ext uri="{FF2B5EF4-FFF2-40B4-BE49-F238E27FC236}">
                <a16:creationId xmlns:a16="http://schemas.microsoft.com/office/drawing/2014/main" id="{08DDC350-EFEB-4A65-E236-7EF4222FCFDD}"/>
              </a:ext>
            </a:extLst>
          </p:cNvPr>
          <p:cNvSpPr/>
          <p:nvPr/>
        </p:nvSpPr>
        <p:spPr>
          <a:xfrm>
            <a:off x="6583680" y="1188720"/>
            <a:ext cx="0" cy="3108960"/>
          </a:xfrm>
          <a:prstGeom prst="line">
            <a:avLst/>
          </a:prstGeom>
          <a:noFill/>
          <a:ln w="12700">
            <a:solidFill>
              <a:srgbClr val="D0DF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9">
            <a:extLst>
              <a:ext uri="{FF2B5EF4-FFF2-40B4-BE49-F238E27FC236}">
                <a16:creationId xmlns:a16="http://schemas.microsoft.com/office/drawing/2014/main" id="{FCC564E3-3E99-454D-D49C-E2833A8F09BF}"/>
              </a:ext>
            </a:extLst>
          </p:cNvPr>
          <p:cNvSpPr/>
          <p:nvPr/>
        </p:nvSpPr>
        <p:spPr>
          <a:xfrm>
            <a:off x="6675120" y="1463040"/>
            <a:ext cx="2148840" cy="1280160"/>
          </a:xfrm>
          <a:prstGeom prst="rect">
            <a:avLst/>
          </a:prstGeom>
          <a:solidFill>
            <a:srgbClr val="1A2C4E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673C5C13-23D7-0DA2-BAC1-AEDED9A027FA}"/>
              </a:ext>
            </a:extLst>
          </p:cNvPr>
          <p:cNvSpPr/>
          <p:nvPr/>
        </p:nvSpPr>
        <p:spPr>
          <a:xfrm>
            <a:off x="6766560" y="15544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mean F1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= std F1</a:t>
            </a:r>
            <a:endParaRPr lang="en-US" sz="1200" dirty="0"/>
          </a:p>
        </p:txBody>
      </p:sp>
      <p:sp>
        <p:nvSpPr>
          <p:cNvPr id="45" name="Shape 41">
            <a:extLst>
              <a:ext uri="{FF2B5EF4-FFF2-40B4-BE49-F238E27FC236}">
                <a16:creationId xmlns:a16="http://schemas.microsoft.com/office/drawing/2014/main" id="{54DB81F5-7C25-65CA-BC08-0CC6B22AB236}"/>
              </a:ext>
            </a:extLst>
          </p:cNvPr>
          <p:cNvSpPr/>
          <p:nvPr/>
        </p:nvSpPr>
        <p:spPr>
          <a:xfrm>
            <a:off x="201168" y="4455413"/>
            <a:ext cx="8641080" cy="272035"/>
          </a:xfrm>
          <a:prstGeom prst="rect">
            <a:avLst/>
          </a:prstGeom>
          <a:solidFill>
            <a:srgbClr val="F2F7FA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E214C5FF-A198-D756-954F-E57FF8F04538}"/>
              </a:ext>
            </a:extLst>
          </p:cNvPr>
          <p:cNvSpPr/>
          <p:nvPr/>
        </p:nvSpPr>
        <p:spPr>
          <a:xfrm>
            <a:off x="347472" y="436168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std = protocol generalises to new animals.  Eval seeds (100–107) are fixed across all Optuna trials — every protocol is scored on the same set of networks.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60201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1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 dirty="0"/>
              <a:t>Metrics,  Roadmap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Scoring Metrics &amp; Roadmap</a:t>
            </a:r>
          </a:p>
        </p:txBody>
      </p:sp>
      <p:sp>
        <p:nvSpPr>
          <p:cNvPr id="4" name="Left body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b="1" dirty="0"/>
              <a:t>Standard composite score</a:t>
            </a:r>
          </a:p>
          <a:p>
            <a:r>
              <a:rPr lang="en-US" dirty="0"/>
              <a:t>score = 0.50 × weight_corr + 0.35 × E_f1 + 0.15 × I_f1</a:t>
            </a:r>
          </a:p>
          <a:p>
            <a:r>
              <a:rPr lang="en-US" dirty="0"/>
              <a:t>Used by run_sweep, run_pipeline, run_joint.</a:t>
            </a:r>
          </a:p>
          <a:p>
            <a:endParaRPr lang="en-US" dirty="0"/>
          </a:p>
          <a:p>
            <a:r>
              <a:rPr lang="en-US" b="1" dirty="0"/>
              <a:t>Balanced E/I F1</a:t>
            </a:r>
          </a:p>
          <a:p>
            <a:r>
              <a:rPr lang="en-US" dirty="0"/>
              <a:t>balanced_f1 = 0.5 × E_f1 + 0.5 × I_f1</a:t>
            </a:r>
          </a:p>
          <a:p>
            <a:r>
              <a:rPr lang="en-US" dirty="0"/>
              <a:t>Independent threshold sweeps per class. Used by run_balanced_sweep.</a:t>
            </a:r>
          </a:p>
          <a:p>
            <a:endParaRPr lang="en-US" dirty="0"/>
          </a:p>
          <a:p>
            <a:r>
              <a:rPr lang="en-US" b="1" dirty="0"/>
              <a:t>Score interpretation:</a:t>
            </a:r>
          </a:p>
          <a:p>
            <a:r>
              <a:rPr lang="en-US" dirty="0"/>
              <a:t>&gt; 0.8  —  Excellent: reliable for drug screens and comparisons</a:t>
            </a:r>
          </a:p>
          <a:p>
            <a:r>
              <a:rPr lang="en-US" dirty="0"/>
              <a:t>0.6–0.8  —  Good: suitable for most connectivity analyses</a:t>
            </a:r>
          </a:p>
          <a:p>
            <a:r>
              <a:rPr lang="en-US" dirty="0"/>
              <a:t>0.4–0.6  —  Marginal: increase reps or recalibrate BioParams</a:t>
            </a:r>
          </a:p>
          <a:p>
            <a:r>
              <a:rPr lang="en-US" dirty="0"/>
              <a:t>&amp;lt; 0.4  —  Poor: check opsin sensitivity, noise, or protocol bounds</a:t>
            </a:r>
          </a:p>
          <a:p>
            <a:endParaRPr lang="en-US" sz="1600" dirty="0"/>
          </a:p>
          <a:p>
            <a:r>
              <a:rPr lang="en-US" dirty="0"/>
              <a:t>Note: F1 values reported are oracle estimates (best threshold over ground truth). They are upper bounds on deployment performance.</a:t>
            </a:r>
          </a:p>
        </p:txBody>
      </p:sp>
      <p:sp>
        <p:nvSpPr>
          <p:cNvPr id="5" name="Right body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Next 1–3 months:</a:t>
            </a:r>
          </a:p>
          <a:p>
            <a:endParaRPr lang="en-US" b="1" dirty="0"/>
          </a:p>
          <a:p>
            <a:r>
              <a:rPr lang="en-US" b="1" dirty="0"/>
              <a:t>Biological variability model</a:t>
            </a:r>
          </a:p>
          <a:p>
            <a:r>
              <a:rPr lang="en-US" dirty="0"/>
              <a:t>Sample BioParams from a prior distribution per eval seed so cross-network eval also covers parametric uncertainty.</a:t>
            </a:r>
          </a:p>
          <a:p>
            <a:endParaRPr lang="en-US" dirty="0"/>
          </a:p>
          <a:p>
            <a:r>
              <a:rPr lang="en-US" b="1" dirty="0"/>
              <a:t>PSP protocol optimiser</a:t>
            </a:r>
          </a:p>
          <a:p>
            <a:r>
              <a:rPr lang="en-US" dirty="0"/>
              <a:t>Dedicated run_psp_sweep.py — search stim_dur, ISI, power for Stage 2 given a fixed Stage 1 result.</a:t>
            </a:r>
          </a:p>
          <a:p>
            <a:endParaRPr lang="en-US" sz="1600" dirty="0"/>
          </a:p>
          <a:p>
            <a:r>
              <a:rPr lang="en-US" b="1" dirty="0"/>
              <a:t>LASSO reconstruction</a:t>
            </a:r>
          </a:p>
          <a:p>
            <a:r>
              <a:rPr lang="en-US" dirty="0"/>
              <a:t>AnalysisConfig.use_lasso already stubbed. Sparse reconstruction improves I recovery in low-SNR conditions.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E42C65-DD1F-A79C-BFAE-BF50840E7A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BE4439-7D0F-47AB-4341-A3DF6326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862" y="253694"/>
            <a:ext cx="6690919" cy="319528"/>
          </a:xfrm>
        </p:spPr>
        <p:txBody>
          <a:bodyPr/>
          <a:lstStyle/>
          <a:p>
            <a:r>
              <a:rPr lang="en-US" dirty="0"/>
              <a:t>Protocol Design for Maximal E/I Network Recovery – </a:t>
            </a:r>
            <a:r>
              <a:rPr lang="en-US" i="1" dirty="0"/>
              <a:t>One protocol to rule them all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0DE49-B334-8667-3EE6-8AA2F37E4F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83B9ACD-435D-33CD-E08F-E49950E275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78" y="874254"/>
            <a:ext cx="5487738" cy="1938823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E470EF4-F927-24F4-D584-F93611B9985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3952" y="2857114"/>
            <a:ext cx="5497263" cy="1844939"/>
          </a:xfrm>
        </p:spPr>
        <p:txBody>
          <a:bodyPr/>
          <a:lstStyle/>
          <a:p>
            <a:r>
              <a:rPr lang="en-US" sz="800" dirty="0"/>
              <a:t>BALANCED SWEEP — RESULT</a:t>
            </a:r>
          </a:p>
          <a:p>
            <a:r>
              <a:rPr lang="en-US" sz="800" dirty="0"/>
              <a:t>Final score:     0.2746  (</a:t>
            </a:r>
            <a:r>
              <a:rPr lang="en-US" sz="800" dirty="0" err="1"/>
              <a:t>duration_weight</a:t>
            </a:r>
            <a:r>
              <a:rPr lang="en-US" sz="800" dirty="0"/>
              <a:t>=0.30)</a:t>
            </a:r>
          </a:p>
          <a:p>
            <a:r>
              <a:rPr lang="en-US" sz="800" dirty="0"/>
              <a:t>  Balanced F1:     0.392 ± 0.033  (5 networks)</a:t>
            </a:r>
          </a:p>
          <a:p>
            <a:r>
              <a:rPr lang="en-US" sz="800" dirty="0"/>
              <a:t>  E F1:            0.684  (~301 true E connections)</a:t>
            </a:r>
          </a:p>
          <a:p>
            <a:r>
              <a:rPr lang="en-US" sz="800" dirty="0"/>
              <a:t>  I F1:            0.295  (~67 true I connections)</a:t>
            </a:r>
          </a:p>
          <a:p>
            <a:r>
              <a:rPr lang="en-US" sz="800" dirty="0"/>
              <a:t>  Experiment time: 859s  (100% of 100s budget)</a:t>
            </a:r>
          </a:p>
          <a:p>
            <a:r>
              <a:rPr lang="en-US" sz="800" dirty="0"/>
              <a:t>  N patterns:      127  ×  3 reps</a:t>
            </a:r>
          </a:p>
          <a:p>
            <a:r>
              <a:rPr lang="en-US" sz="800" dirty="0"/>
              <a:t>  Protocol:        </a:t>
            </a:r>
            <a:r>
              <a:rPr lang="en-US" sz="800" dirty="0" err="1"/>
              <a:t>ramp_down</a:t>
            </a:r>
            <a:r>
              <a:rPr lang="en-US" sz="800" dirty="0"/>
              <a:t>  n=5  duty=0.34  amp=0.64→0.02  pre=0.27s  dur=1.80s  </a:t>
            </a:r>
            <a:r>
              <a:rPr lang="en-US" sz="800" dirty="0" err="1"/>
              <a:t>isi</a:t>
            </a:r>
            <a:r>
              <a:rPr lang="en-US" sz="800" dirty="0"/>
              <a:t>=2.25s  </a:t>
            </a:r>
            <a:r>
              <a:rPr lang="en-US" sz="800" dirty="0" err="1"/>
              <a:t>pwr</a:t>
            </a:r>
            <a:r>
              <a:rPr lang="en-US" sz="800" dirty="0"/>
              <a:t>=1.74mW/mm²</a:t>
            </a:r>
          </a:p>
          <a:p>
            <a:r>
              <a:rPr lang="en-US" sz="800" dirty="0"/>
              <a:t>════════════════════════════════════════════════════════════════════</a:t>
            </a:r>
          </a:p>
          <a:p>
            <a:endParaRPr lang="en-US" sz="800" dirty="0"/>
          </a:p>
          <a:p>
            <a:endParaRPr lang="en-US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5E6F56-765B-BD74-CB04-9DE8B1054B40}"/>
              </a:ext>
            </a:extLst>
          </p:cNvPr>
          <p:cNvSpPr txBox="1"/>
          <p:nvPr/>
        </p:nvSpPr>
        <p:spPr>
          <a:xfrm>
            <a:off x="6088303" y="833287"/>
            <a:ext cx="281143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Best protocol (paste into run_drug_screen.py / run_variability.py):</a:t>
            </a:r>
          </a:p>
          <a:p>
            <a:r>
              <a:rPr lang="en-US" sz="1000" dirty="0"/>
              <a:t>  </a:t>
            </a:r>
            <a:r>
              <a:rPr lang="en-US" sz="1000" dirty="0" err="1"/>
              <a:t>best_protocol</a:t>
            </a:r>
            <a:r>
              <a:rPr lang="en-US" sz="1000" dirty="0"/>
              <a:t> = </a:t>
            </a:r>
            <a:r>
              <a:rPr lang="en-US" sz="1000" dirty="0" err="1"/>
              <a:t>StimProtocol</a:t>
            </a:r>
            <a:r>
              <a:rPr lang="en-US" sz="1000" dirty="0"/>
              <a:t>(</a:t>
            </a:r>
          </a:p>
          <a:p>
            <a:r>
              <a:rPr lang="en-US" sz="1000" dirty="0"/>
              <a:t>      </a:t>
            </a:r>
            <a:r>
              <a:rPr lang="en-US" sz="1000" dirty="0" err="1"/>
              <a:t>stim_dur</a:t>
            </a:r>
            <a:r>
              <a:rPr lang="en-US" sz="1000" dirty="0"/>
              <a:t>=1.8038, </a:t>
            </a:r>
            <a:r>
              <a:rPr lang="en-US" sz="1000" dirty="0" err="1"/>
              <a:t>stim_min_isi</a:t>
            </a:r>
            <a:r>
              <a:rPr lang="en-US" sz="1000" dirty="0"/>
              <a:t>=2.2538,</a:t>
            </a:r>
          </a:p>
          <a:p>
            <a:r>
              <a:rPr lang="en-US" sz="1000" dirty="0"/>
              <a:t>      </a:t>
            </a:r>
            <a:r>
              <a:rPr lang="en-US" sz="1000" dirty="0" err="1"/>
              <a:t>illumination_power_mw</a:t>
            </a:r>
            <a:r>
              <a:rPr lang="en-US" sz="1000" dirty="0"/>
              <a:t>=1.7398,</a:t>
            </a:r>
          </a:p>
          <a:p>
            <a:r>
              <a:rPr lang="en-US" sz="1000" dirty="0"/>
              <a:t>      </a:t>
            </a:r>
            <a:r>
              <a:rPr lang="en-US" sz="1000" dirty="0" err="1"/>
              <a:t>n_pulses</a:t>
            </a:r>
            <a:r>
              <a:rPr lang="en-US" sz="1000" dirty="0"/>
              <a:t>=5, </a:t>
            </a:r>
            <a:r>
              <a:rPr lang="en-US" sz="1000" dirty="0" err="1"/>
              <a:t>pulse_width_frac</a:t>
            </a:r>
            <a:r>
              <a:rPr lang="en-US" sz="1000" dirty="0"/>
              <a:t>=0.3415,</a:t>
            </a:r>
          </a:p>
          <a:p>
            <a:r>
              <a:rPr lang="en-US" sz="1000" dirty="0"/>
              <a:t>      </a:t>
            </a:r>
            <a:r>
              <a:rPr lang="en-US" sz="1000" dirty="0" err="1"/>
              <a:t>intensity_start</a:t>
            </a:r>
            <a:r>
              <a:rPr lang="en-US" sz="1000" dirty="0"/>
              <a:t>=0.6379,</a:t>
            </a:r>
          </a:p>
          <a:p>
            <a:r>
              <a:rPr lang="en-US" sz="1000" dirty="0"/>
              <a:t>      </a:t>
            </a:r>
            <a:r>
              <a:rPr lang="en-US" sz="1000" dirty="0" err="1"/>
              <a:t>intensity_end</a:t>
            </a:r>
            <a:r>
              <a:rPr lang="en-US" sz="1000" dirty="0"/>
              <a:t>=0.0192,</a:t>
            </a:r>
          </a:p>
          <a:p>
            <a:r>
              <a:rPr lang="en-US" sz="1000" dirty="0"/>
              <a:t>      </a:t>
            </a:r>
            <a:r>
              <a:rPr lang="en-US" sz="1000" dirty="0" err="1"/>
              <a:t>pre_stim_quiet_s</a:t>
            </a:r>
            <a:r>
              <a:rPr lang="en-US" sz="1000" dirty="0"/>
              <a:t>=0.2729,</a:t>
            </a:r>
          </a:p>
          <a:p>
            <a:r>
              <a:rPr lang="en-US" sz="1000" dirty="0"/>
              <a:t>  )</a:t>
            </a:r>
          </a:p>
        </p:txBody>
      </p:sp>
    </p:spTree>
    <p:extLst>
      <p:ext uri="{BB962C8B-B14F-4D97-AF65-F5344CB8AC3E}">
        <p14:creationId xmlns:p14="http://schemas.microsoft.com/office/powerpoint/2010/main" val="1692845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C1BA02-94EB-1A5E-B81E-84049DA25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Waveform Design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258513-2376-EB1A-037B-7D7ECC65DA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12</a:t>
            </a:fld>
            <a:endParaRPr lang="e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C82159F-B0FE-64EA-BDC7-89AE654E3D9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Goal was to maximize network recovery with some weighting for experiment duration. Other goals may have different shapes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496B015-1050-9B7C-195C-122DF59EC1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60741D3-9AFF-22E2-5314-892B2E33EA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899" y="1047750"/>
            <a:ext cx="6357689" cy="364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426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2E150B-B2C3-8970-2ABD-C06866A70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Parameters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08D269-B958-0B10-93D2-32C2CDDD71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BDE66A12-579F-5933-3510-23BDC88E2A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0181" y="751395"/>
            <a:ext cx="8783637" cy="4000501"/>
          </a:xfrm>
        </p:spPr>
        <p:txBody>
          <a:bodyPr/>
          <a:lstStyle/>
          <a:p>
            <a:r>
              <a:rPr lang="en-US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only as good as the calibration.</a:t>
            </a:r>
            <a:endParaRPr lang="en-US" dirty="0"/>
          </a:p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5DF8EBF-C3F7-B032-9C08-A47A55DE8E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C8798235-0038-35C6-6CA3-CEEF9F27B78E}"/>
              </a:ext>
            </a:extLst>
          </p:cNvPr>
          <p:cNvSpPr/>
          <p:nvPr/>
        </p:nvSpPr>
        <p:spPr>
          <a:xfrm>
            <a:off x="283094" y="107938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71E688C6-F31A-35B1-5A1A-1DBBB0F82301}"/>
              </a:ext>
            </a:extLst>
          </p:cNvPr>
          <p:cNvSpPr/>
          <p:nvPr/>
        </p:nvSpPr>
        <p:spPr>
          <a:xfrm>
            <a:off x="283094" y="128473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23C052EF-6516-BCB1-C69A-2986C63A1875}"/>
              </a:ext>
            </a:extLst>
          </p:cNvPr>
          <p:cNvSpPr/>
          <p:nvPr/>
        </p:nvSpPr>
        <p:spPr>
          <a:xfrm>
            <a:off x="283094" y="15041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5107D71F-D25D-FD64-5636-10A467E56BDA}"/>
              </a:ext>
            </a:extLst>
          </p:cNvPr>
          <p:cNvSpPr/>
          <p:nvPr/>
        </p:nvSpPr>
        <p:spPr>
          <a:xfrm>
            <a:off x="283094" y="1702417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66668033-402C-B59C-86DF-5564B0ADADA2}"/>
              </a:ext>
            </a:extLst>
          </p:cNvPr>
          <p:cNvSpPr/>
          <p:nvPr/>
        </p:nvSpPr>
        <p:spPr>
          <a:xfrm>
            <a:off x="2971800" y="334670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or EM reconstruction for brain region</a:t>
            </a:r>
            <a:endParaRPr lang="en-US" sz="1000" dirty="0"/>
          </a:p>
        </p:txBody>
      </p:sp>
      <p:sp>
        <p:nvSpPr>
          <p:cNvPr id="16" name="Text 22">
            <a:extLst>
              <a:ext uri="{FF2B5EF4-FFF2-40B4-BE49-F238E27FC236}">
                <a16:creationId xmlns:a16="http://schemas.microsoft.com/office/drawing/2014/main" id="{FA0D8949-1D8A-57A4-CD49-EC4BBCA04DF4}"/>
              </a:ext>
            </a:extLst>
          </p:cNvPr>
          <p:cNvSpPr/>
          <p:nvPr/>
        </p:nvSpPr>
        <p:spPr>
          <a:xfrm>
            <a:off x="320040" y="3749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23">
            <a:extLst>
              <a:ext uri="{FF2B5EF4-FFF2-40B4-BE49-F238E27FC236}">
                <a16:creationId xmlns:a16="http://schemas.microsoft.com/office/drawing/2014/main" id="{76953E4B-42F6-16E4-1030-A7D7C965D70A}"/>
              </a:ext>
            </a:extLst>
          </p:cNvPr>
          <p:cNvSpPr/>
          <p:nvPr/>
        </p:nvSpPr>
        <p:spPr>
          <a:xfrm>
            <a:off x="2971800" y="37490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patch-clamp recordings if available</a:t>
            </a:r>
            <a:endParaRPr lang="en-US" sz="1000" dirty="0"/>
          </a:p>
        </p:txBody>
      </p:sp>
      <p:sp>
        <p:nvSpPr>
          <p:cNvPr id="18" name="Text 25">
            <a:extLst>
              <a:ext uri="{FF2B5EF4-FFF2-40B4-BE49-F238E27FC236}">
                <a16:creationId xmlns:a16="http://schemas.microsoft.com/office/drawing/2014/main" id="{058E89FB-E9DF-80D1-7A6D-30313FCD7190}"/>
              </a:ext>
            </a:extLst>
          </p:cNvPr>
          <p:cNvSpPr/>
          <p:nvPr/>
        </p:nvSpPr>
        <p:spPr>
          <a:xfrm>
            <a:off x="320040" y="41513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26">
            <a:extLst>
              <a:ext uri="{FF2B5EF4-FFF2-40B4-BE49-F238E27FC236}">
                <a16:creationId xmlns:a16="http://schemas.microsoft.com/office/drawing/2014/main" id="{3A579587-8134-8606-2A99-E3BCE98E397C}"/>
              </a:ext>
            </a:extLst>
          </p:cNvPr>
          <p:cNvSpPr/>
          <p:nvPr/>
        </p:nvSpPr>
        <p:spPr>
          <a:xfrm>
            <a:off x="2971800" y="415137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Spontaneous activity recording</a:t>
            </a:r>
            <a:endParaRPr lang="en-US" sz="1000" dirty="0"/>
          </a:p>
        </p:txBody>
      </p:sp>
      <p:sp>
        <p:nvSpPr>
          <p:cNvPr id="20" name="Text 29">
            <a:extLst>
              <a:ext uri="{FF2B5EF4-FFF2-40B4-BE49-F238E27FC236}">
                <a16:creationId xmlns:a16="http://schemas.microsoft.com/office/drawing/2014/main" id="{AD3AD03E-478B-8BB1-B786-DBABDBDC87F8}"/>
              </a:ext>
            </a:extLst>
          </p:cNvPr>
          <p:cNvSpPr/>
          <p:nvPr/>
        </p:nvSpPr>
        <p:spPr>
          <a:xfrm>
            <a:off x="320040" y="48828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9B5EF41-636D-4F24-10F7-4CF3939E8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628683"/>
              </p:ext>
            </p:extLst>
          </p:nvPr>
        </p:nvGraphicFramePr>
        <p:xfrm>
          <a:off x="480291" y="993140"/>
          <a:ext cx="7671569" cy="351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4278">
                  <a:extLst>
                    <a:ext uri="{9D8B030D-6E8A-4147-A177-3AD203B41FA5}">
                      <a16:colId xmlns:a16="http://schemas.microsoft.com/office/drawing/2014/main" val="594780034"/>
                    </a:ext>
                  </a:extLst>
                </a:gridCol>
                <a:gridCol w="3997291">
                  <a:extLst>
                    <a:ext uri="{9D8B030D-6E8A-4147-A177-3AD203B41FA5}">
                      <a16:colId xmlns:a16="http://schemas.microsoft.com/office/drawing/2014/main" val="28434406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001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2E75B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tau_ca_rise</a:t>
                      </a:r>
                      <a:r>
                        <a:rPr lang="en-US" sz="1200" b="1" dirty="0">
                          <a:solidFill>
                            <a:srgbClr val="2E75B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/ </a:t>
                      </a:r>
                      <a:r>
                        <a:rPr lang="en-US" sz="1200" b="1" dirty="0" err="1">
                          <a:solidFill>
                            <a:srgbClr val="2E75B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tau_ca_decay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 spec sheet or fit to step data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548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2E75B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dF_F_max</a:t>
                      </a:r>
                      <a:r>
                        <a:rPr lang="en-US" sz="1200" b="1" dirty="0">
                          <a:solidFill>
                            <a:srgbClr val="2E75B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/ </a:t>
                      </a:r>
                      <a:r>
                        <a:rPr lang="en-US" sz="1200" b="1" dirty="0" err="1">
                          <a:solidFill>
                            <a:srgbClr val="2E75B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noise_sigma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</a:t>
                      </a:r>
                      <a:r>
                        <a:rPr lang="en-US" sz="1200" dirty="0" err="1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r>
                        <a:rPr lang="en-US" sz="12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 from spec sheet; noise from dark frames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37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2E75B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opsin_sensitivity_hz_per_mw</a:t>
                      </a:r>
                      <a:endParaRPr lang="en-US" sz="1200" dirty="0"/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Patch-clamp power series.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598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2E75B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conn_prob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or EM reconstruction for brain region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510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2E75B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w_excit_mean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Paired patch-clamp recordings if available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905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2E75B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r_spont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Spontaneous activity recording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385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2E75B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neuropil_r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 from blank-shutter frames 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367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rgbClr val="2E75B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N_cells</a:t>
                      </a:r>
                      <a:r>
                        <a:rPr lang="en-US" sz="1200" b="1" dirty="0">
                          <a:solidFill>
                            <a:srgbClr val="2E75B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, </a:t>
                      </a:r>
                      <a:r>
                        <a:rPr lang="en-US" sz="1200" b="1" dirty="0" err="1">
                          <a:solidFill>
                            <a:srgbClr val="2E75B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N_px_x</a:t>
                      </a:r>
                      <a:r>
                        <a:rPr lang="en-US" sz="1200" b="1" dirty="0">
                          <a:solidFill>
                            <a:srgbClr val="2E75B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/y</a:t>
                      </a:r>
                      <a:endParaRPr lang="en-US" sz="1200" dirty="0"/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 system settings and ROI detection count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8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9025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FF63F-6D15-5187-57C8-BBA24298B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 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47C03B-DC70-09FE-DC59-92D99A771B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FE33D-4B47-0F49-18E3-C66705567EC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 err="1"/>
              <a:t>htb</a:t>
            </a:r>
            <a:r>
              <a:rPr lang="en-US" sz="2400" dirty="0"/>
              <a:t> enables informed trades between protocol duration and anticipated experimental 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24030E-E15D-7E81-0FD5-86479808ED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78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en-US" sz="2000" b="1" dirty="0"/>
              <a:t>htb — Connectivity Imaging Toolbox</a:t>
            </a:r>
          </a:p>
          <a:p>
            <a:endParaRPr lang="en-US" sz="2000" b="1" dirty="0"/>
          </a:p>
          <a:p>
            <a:r>
              <a:rPr lang="en-US" sz="1700" dirty="0"/>
              <a:t>Six capabilities in one framework:</a:t>
            </a:r>
          </a:p>
          <a:p>
            <a:r>
              <a:rPr lang="en-US" sz="1700" dirty="0"/>
              <a:t>Full biophysical simulation · Bayesian protocol search · Balanced E/I recovery</a:t>
            </a:r>
          </a:p>
          <a:p>
            <a:r>
              <a:rPr lang="en-US" sz="1700" dirty="0"/>
              <a:t>Cross-network robustness evaluation · PSP fitting · Drug screen simulation</a:t>
            </a:r>
          </a:p>
          <a:p>
            <a:endParaRPr lang="en-US" sz="1700" dirty="0"/>
          </a:p>
          <a:p>
            <a:r>
              <a:rPr lang="en-US" sz="1600" dirty="0"/>
              <a:t>For questions and collaboration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7300BF"/>
      </a:dk2>
      <a:lt2>
        <a:srgbClr val="9C02FA"/>
      </a:lt2>
      <a:accent1>
        <a:srgbClr val="CAA1FF"/>
      </a:accent1>
      <a:accent2>
        <a:srgbClr val="C20CA9"/>
      </a:accent2>
      <a:accent3>
        <a:srgbClr val="FF85FF"/>
      </a:accent3>
      <a:accent4>
        <a:srgbClr val="FEEBFF"/>
      </a:accent4>
      <a:accent5>
        <a:srgbClr val="F51D3F"/>
      </a:accent5>
      <a:accent6>
        <a:srgbClr val="F9788B"/>
      </a:accent6>
      <a:hlink>
        <a:srgbClr val="0097A7"/>
      </a:hlink>
      <a:folHlink>
        <a:srgbClr val="0097A7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implex imaging.pptx" id="{B4A41C8D-7E85-4E6C-B761-64254108FE5C}" vid="{78713D1D-FB25-4E55-B56D-57FB58C636F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30123</TotalTime>
  <Words>1938</Words>
  <Application>Microsoft Office PowerPoint</Application>
  <PresentationFormat>On-screen Show (16:9)</PresentationFormat>
  <Paragraphs>278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Calibri</vt:lpstr>
      <vt:lpstr>Courier New</vt:lpstr>
      <vt:lpstr>Poppins</vt:lpstr>
      <vt:lpstr>Poppins Medium</vt:lpstr>
      <vt:lpstr>Poppins SemiBold</vt:lpstr>
      <vt:lpstr>Office Theme</vt:lpstr>
      <vt:lpstr>htb — Connectivity Imaging Toolbox</vt:lpstr>
      <vt:lpstr>Protocol choice determines success — not hardware</vt:lpstr>
      <vt:lpstr>System Overview</vt:lpstr>
      <vt:lpstr>Biophysical Simulation Model</vt:lpstr>
      <vt:lpstr>Spatial Encoding Strategies</vt:lpstr>
      <vt:lpstr>Balanced E/I Recovery</vt:lpstr>
      <vt:lpstr>Pipeline Workflows</vt:lpstr>
      <vt:lpstr>Cross-Network Evaluation</vt:lpstr>
      <vt:lpstr>Cross-Network Evaluation</vt:lpstr>
      <vt:lpstr>Scoring Metrics &amp; Roadmap</vt:lpstr>
      <vt:lpstr>Protocol Design for Maximal E/I Network Recovery – One protocol to rule them all</vt:lpstr>
      <vt:lpstr>Waveform Design</vt:lpstr>
      <vt:lpstr>Key Parameters</vt:lpstr>
      <vt:lpstr>Wrap Up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Jennifer Grooms</dc:creator>
  <cp:lastModifiedBy>Dana Phillips</cp:lastModifiedBy>
  <cp:revision>137</cp:revision>
  <dcterms:created xsi:type="dcterms:W3CDTF">2025-04-22T21:23:48Z</dcterms:created>
  <dcterms:modified xsi:type="dcterms:W3CDTF">2026-04-08T11:15:56Z</dcterms:modified>
</cp:coreProperties>
</file>