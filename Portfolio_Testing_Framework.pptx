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300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FireflyControl: Comprehensive Regression Test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C8A1FF"/>
                </a:solidFill>
              </a:defRPr>
            </a:pPr>
            <a:r>
              <a:t>Experimental Code • End of Contract • 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DCC8FF"/>
                </a:solidFill>
              </a:defRPr>
            </a:pPr>
            <a:r>
              <a:t>Orca Flash Camera Link (C#) + NI-DAQ Hardware + MATLAB Orchestration</a:t>
            </a:r>
          </a:p>
          <a:p>
            <a:pPr>
              <a:defRPr sz="1300">
                <a:solidFill>
                  <a:srgbClr val="DCC8FF"/>
                </a:solidFill>
              </a:defRPr>
            </a:pPr>
            <a:r>
              <a:t>Built to debug camera-DAQ sync failures on high core count machines</a:t>
            </a:r>
          </a:p>
          <a:p>
            <a:pPr>
              <a:defRPr sz="1300">
                <a:solidFill>
                  <a:srgbClr val="DCC8FF"/>
                </a:solidFill>
              </a:defRPr>
            </a:pPr>
            <a:r>
              <a:t>113 tests across 3-tier diagnostic pyramid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9C02FA"/>
          </a:solidFill>
          <a:ln>
            <a:solidFill>
              <a:srgbClr val="9C0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Problem: No Regression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 b="1">
                <a:solidFill>
                  <a:srgbClr val="7300BF"/>
                </a:solidFill>
              </a:defRPr>
            </a:pPr>
            <a:r>
              <a:t>FireflyControl Software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Production system orchestrates Orca Flash camera + NI-DAQ hardware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Complex C#/MATLAB integration for optogenetics experiments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Previously had ZERO regression test coverage</a:t>
            </a:r>
          </a:p>
          <a:p>
            <a:pPr>
              <a:spcBef>
                <a:spcPts val="600"/>
              </a:spcBef>
              <a:defRPr sz="1800" b="1">
                <a:solidFill>
                  <a:srgbClr val="7300BF"/>
                </a:solidFill>
              </a:defRPr>
            </a:pPr>
            <a:r>
              <a:t>The Debug Blind Spot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Camera-DAQ synchronization failures on high core count CPUs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Impossible to isolate root cause without systematic tests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Could be BIOS settings, OS scheduler, driver behavior, or hardware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Manual debugging was unreliable and time-consuming</a:t>
            </a:r>
          </a:p>
          <a:p>
            <a:pPr>
              <a:spcBef>
                <a:spcPts val="600"/>
              </a:spcBef>
              <a:defRPr sz="1800" b="1">
                <a:solidFill>
                  <a:srgbClr val="7300BF"/>
                </a:solidFill>
              </a:defRPr>
            </a:pPr>
            <a:r>
              <a:t>Why It Matters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Production systems failed unpredictably on newer hardware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Neuroscience labs unable to collect reliable data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Blocking clinical and research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9C02FA"/>
          </a:solidFill>
          <a:ln>
            <a:solidFill>
              <a:srgbClr val="9C0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Hardware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 b="1">
                <a:solidFill>
                  <a:srgbClr val="7300BF"/>
                </a:solidFill>
              </a:defRPr>
            </a:pPr>
            <a:r>
              <a:t>Camera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Hamamatsu Orca Flash 4.0 V3 (500 Hz, 2048×2048)</a:t>
            </a:r>
          </a:p>
          <a:p>
            <a:pPr>
              <a:spcBef>
                <a:spcPts val="600"/>
              </a:spcBef>
              <a:defRPr sz="1800" b="1">
                <a:solidFill>
                  <a:srgbClr val="7300BF"/>
                </a:solidFill>
              </a:defRPr>
            </a:pPr>
            <a:r>
              <a:t>Interface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Camera Link framegrabber card (DMA-based)</a:t>
            </a:r>
          </a:p>
          <a:p>
            <a:pPr>
              <a:spcBef>
                <a:spcPts val="600"/>
              </a:spcBef>
              <a:defRPr sz="1800" b="1">
                <a:solidFill>
                  <a:srgbClr val="7300BF"/>
                </a:solidFill>
              </a:defRPr>
            </a:pPr>
            <a:r>
              <a:t>DAQ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NI-DAQmx (stimulus generation, synchronization)</a:t>
            </a:r>
          </a:p>
          <a:p>
            <a:pPr>
              <a:spcBef>
                <a:spcPts val="600"/>
              </a:spcBef>
              <a:defRPr sz="1800" b="1">
                <a:solidFill>
                  <a:srgbClr val="7300BF"/>
                </a:solidFill>
              </a:defRPr>
            </a:pPr>
            <a:r>
              <a:t>Orchestration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MATLAB 2021a (hardware control, data recording)</a:t>
            </a:r>
          </a:p>
          <a:p>
            <a:pPr>
              <a:spcBef>
                <a:spcPts val="600"/>
              </a:spcBef>
              <a:defRPr sz="1800" b="1">
                <a:solidFill>
                  <a:srgbClr val="7300BF"/>
                </a:solidFill>
              </a:defRPr>
            </a:pPr>
            <a:r>
              <a:t>Integration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C# wrapper (camera control, frame buffering, state management)</a:t>
            </a:r>
          </a:p>
          <a:p>
            <a:pPr>
              <a:spcBef>
                <a:spcPts val="600"/>
              </a:spcBef>
              <a:defRPr sz="1800" b="1">
                <a:solidFill>
                  <a:srgbClr val="7300BF"/>
                </a:solidFill>
              </a:defRPr>
            </a:pPr>
            <a:r>
              <a:t>The Challenge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Each component works in isolation; sync issues appear only under system load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9C02FA"/>
          </a:solidFill>
          <a:ln>
            <a:solidFill>
              <a:srgbClr val="9C0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Diagnostic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 b="1">
                <a:solidFill>
                  <a:srgbClr val="7300BF"/>
                </a:solidFill>
              </a:defRPr>
            </a:pPr>
            <a:r>
              <a:t>Layer 1 – Unit Tests (C#)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59 tests validating software: timing, jitter, race conditions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Isolate software issues (thread safety, buffer management, config)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Answer: Is the software correct?</a:t>
            </a:r>
          </a:p>
          <a:p>
            <a:pPr>
              <a:spcBef>
                <a:spcPts val="600"/>
              </a:spcBef>
              <a:defRPr sz="1800" b="1">
                <a:solidFill>
                  <a:srgbClr val="7300BF"/>
                </a:solidFill>
              </a:defRPr>
            </a:pPr>
            <a:r>
              <a:t>Layer 2 – Hardware Validation (MATLAB)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27 tests measuring real hardware: voltage, pulse trains, frame delivery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Validate DAQ outputs and camera frame rate stability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Answer: Are devices producing correct signals?</a:t>
            </a:r>
          </a:p>
          <a:p>
            <a:pPr>
              <a:spcBef>
                <a:spcPts val="600"/>
              </a:spcBef>
              <a:defRPr sz="1800" b="1">
                <a:solidFill>
                  <a:srgbClr val="7300BF"/>
                </a:solidFill>
              </a:defRPr>
            </a:pPr>
            <a:r>
              <a:t>Layer 3 – Integration Diagnostics (MATLAB)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9 tests pinpoint exact bottleneck: buffer depth, latency, interrupts, DMA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Each failing metric maps to specific fix (BIOS, affinity, IRQ sharing)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Answer: What is causing the stall?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9C02FA"/>
          </a:solidFill>
          <a:ln>
            <a:solidFill>
              <a:srgbClr val="9C0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Test Coverage &amp; Documentation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657600" cy="2011680"/>
          </a:xfrm>
          <a:prstGeom prst="rect">
            <a:avLst/>
          </a:prstGeom>
          <a:solidFill>
            <a:srgbClr val="F5F0FF"/>
          </a:solidFill>
          <a:ln w="25400">
            <a:solidFill>
              <a:srgbClr val="9C0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291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C02FA"/>
                </a:solidFill>
              </a:defRPr>
            </a:pPr>
            <a:r>
              <a:t>7 suites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59 C# Tests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371600"/>
            <a:ext cx="3657600" cy="2011680"/>
          </a:xfrm>
          <a:prstGeom prst="rect">
            <a:avLst/>
          </a:prstGeom>
          <a:solidFill>
            <a:srgbClr val="F5F0FF"/>
          </a:solidFill>
          <a:ln w="25400">
            <a:solidFill>
              <a:srgbClr val="9C0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645920"/>
            <a:ext cx="3291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C02FA"/>
                </a:solidFill>
              </a:defRPr>
            </a:pPr>
            <a:r>
              <a:t>4 suites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4688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36 MATLAB Tests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840480"/>
            <a:ext cx="3657600" cy="2011680"/>
          </a:xfrm>
          <a:prstGeom prst="rect">
            <a:avLst/>
          </a:prstGeom>
          <a:solidFill>
            <a:srgbClr val="F5F0FF"/>
          </a:solidFill>
          <a:ln w="25400">
            <a:solidFill>
              <a:srgbClr val="9C0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3291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C02FA"/>
                </a:solidFill>
              </a:defRPr>
            </a:pPr>
            <a:r>
              <a:t>Input/output specs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1174 Doc Paragraphs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3840480"/>
            <a:ext cx="3657600" cy="2011680"/>
          </a:xfrm>
          <a:prstGeom prst="rect">
            <a:avLst/>
          </a:prstGeom>
          <a:solidFill>
            <a:srgbClr val="F5F0FF"/>
          </a:solidFill>
          <a:ln w="25400">
            <a:solidFill>
              <a:srgbClr val="9C0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4114800"/>
            <a:ext cx="3291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C02FA"/>
                </a:solidFill>
              </a:defRPr>
            </a:pPr>
            <a:r>
              <a:t>Into last contract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9377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8 Hours Compressed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9C02FA"/>
          </a:solidFill>
          <a:ln>
            <a:solidFill>
              <a:srgbClr val="9C0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C# Test Suites (59 tests)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 b="1">
                <a:solidFill>
                  <a:srgbClr val="7300BF"/>
                </a:solidFill>
              </a:defRPr>
            </a:pPr>
            <a:r>
              <a:t>TimingSynchronizationTest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Thread.Sleep() jitter, race conditions, thread affinity, scheduler delays</a:t>
            </a:r>
          </a:p>
          <a:p>
            <a:pPr>
              <a:spcBef>
                <a:spcPts val="600"/>
              </a:spcBef>
              <a:defRPr sz="1800" b="1">
                <a:solidFill>
                  <a:srgbClr val="7300BF"/>
                </a:solidFill>
              </a:defRPr>
            </a:pPr>
            <a:r>
              <a:t>FrameRateTest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FPS calculation accuracy to ±0.5Hz, dropout detection, 60s stability</a:t>
            </a:r>
          </a:p>
          <a:p>
            <a:pPr>
              <a:spcBef>
                <a:spcPts val="600"/>
              </a:spcBef>
              <a:defRPr sz="1800" b="1">
                <a:solidFill>
                  <a:srgbClr val="7300BF"/>
                </a:solidFill>
              </a:defRPr>
            </a:pPr>
            <a:r>
              <a:t>LutTableTest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16→8 bit image conversion quality, gamma correction, monotonicity</a:t>
            </a:r>
          </a:p>
          <a:p>
            <a:pPr>
              <a:spcBef>
                <a:spcPts val="600"/>
              </a:spcBef>
              <a:defRPr sz="1800" b="1">
                <a:solidFill>
                  <a:srgbClr val="7300BF"/>
                </a:solidFill>
              </a:defRPr>
            </a:pPr>
            <a:r>
              <a:t>CameraEventStatTest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Event counting, timestamp precision, frame-event correlation, buffering</a:t>
            </a:r>
          </a:p>
          <a:p>
            <a:pPr>
              <a:spcBef>
                <a:spcPts val="600"/>
              </a:spcBef>
              <a:defRPr sz="1800" b="1">
                <a:solidFill>
                  <a:srgbClr val="7300BF"/>
                </a:solidFill>
              </a:defRPr>
            </a:pPr>
            <a:r>
              <a:t>DcamImageTest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Image cloning, metadata preservation, concurrent access safety</a:t>
            </a:r>
          </a:p>
          <a:p>
            <a:pPr>
              <a:spcBef>
                <a:spcPts val="600"/>
              </a:spcBef>
              <a:defRPr sz="1800" b="1">
                <a:solidFill>
                  <a:srgbClr val="7300BF"/>
                </a:solidFill>
              </a:defRPr>
            </a:pPr>
            <a:r>
              <a:t>MicroscopeConfigsTest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Configuration persistence, ROI validation, multi-camera setup</a:t>
            </a:r>
          </a:p>
          <a:p>
            <a:pPr>
              <a:spcBef>
                <a:spcPts val="600"/>
              </a:spcBef>
              <a:defRPr sz="1800" b="1">
                <a:solidFill>
                  <a:srgbClr val="7300BF"/>
                </a:solidFill>
              </a:defRPr>
            </a:pPr>
            <a:r>
              <a:t>CaptureConfigsTest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Mode transitions, state consistency, singleton pattern enforcement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9C02FA"/>
          </a:solidFill>
          <a:ln>
            <a:solidFill>
              <a:srgbClr val="9C0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MATLAB Hardware Validation (36 tests)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 b="1">
                <a:solidFill>
                  <a:srgbClr val="7300BF"/>
                </a:solidFill>
              </a:defRPr>
            </a:pPr>
            <a:r>
              <a:t>DAQ Constant Output (9)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±5V accuracy validation, long-term stability, switching speed</a:t>
            </a:r>
          </a:p>
          <a:p>
            <a:pPr>
              <a:spcBef>
                <a:spcPts val="600"/>
              </a:spcBef>
              <a:defRPr sz="1800" b="1">
                <a:solidFill>
                  <a:srgbClr val="7300BF"/>
                </a:solidFill>
              </a:defRPr>
            </a:pPr>
            <a:r>
              <a:t>DAQ Pulse Trains (10)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10-200Hz frequency accuracy, asymmetric duty cycles, rise/fall times</a:t>
            </a:r>
          </a:p>
          <a:p>
            <a:pPr>
              <a:spcBef>
                <a:spcPts val="600"/>
              </a:spcBef>
              <a:defRPr sz="1800" b="1">
                <a:solidFill>
                  <a:srgbClr val="7300BF"/>
                </a:solidFill>
              </a:defRPr>
            </a:pPr>
            <a:r>
              <a:t>Camera Frame Arrival (8)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500Hz baseline rate, stimulus correlation, dropout detection</a:t>
            </a:r>
          </a:p>
          <a:p>
            <a:pPr>
              <a:spcBef>
                <a:spcPts val="600"/>
              </a:spcBef>
              <a:defRPr sz="1800" b="1">
                <a:solidFill>
                  <a:srgbClr val="7300BF"/>
                </a:solidFill>
              </a:defRPr>
            </a:pPr>
            <a:r>
              <a:t>Camera Link Diagnostics (9)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Buffer level, latency, interrupt response, DMA bandwidth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9C02FA"/>
          </a:solidFill>
          <a:ln>
            <a:solidFill>
              <a:srgbClr val="9C0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This Enables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 b="1">
                <a:solidFill>
                  <a:srgbClr val="7300BF"/>
                </a:solidFill>
              </a:defRPr>
            </a:pPr>
            <a:r>
              <a:t>Systematic Root Cause Analysis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Run test pyramid in order: stop at first failure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Failure location pinpoints exact problem area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Example: If unit tests pass but frame latency &gt; 10ms → scheduler issue</a:t>
            </a:r>
          </a:p>
          <a:p>
            <a:pPr>
              <a:spcBef>
                <a:spcPts val="600"/>
              </a:spcBef>
              <a:defRPr sz="1800" b="1">
                <a:solidFill>
                  <a:srgbClr val="7300BF"/>
                </a:solidFill>
              </a:defRPr>
            </a:pPr>
            <a:r>
              <a:t>Actionable Diagnostics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Buffer &gt; 5 frames → BIOS: disable C-states, enable performance mode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Latency &gt; 10ms → Pin DMA thread to core, reduce hyper-threading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Interrupts &lt; 95% → Check IRQ sharing, disable unneeded devices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DMA &lt; 350 MB/s → Hardware fault (replace Camera Link card)</a:t>
            </a:r>
          </a:p>
          <a:p>
            <a:pPr>
              <a:spcBef>
                <a:spcPts val="600"/>
              </a:spcBef>
              <a:defRPr sz="1800" b="1">
                <a:solidFill>
                  <a:srgbClr val="7300BF"/>
                </a:solidFill>
              </a:defRPr>
            </a:pPr>
            <a:r>
              <a:t>Regression Protection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Future engineers can validate changes without manual testing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Catch regressions before they hit production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9C02FA"/>
          </a:solidFill>
          <a:ln>
            <a:solidFill>
              <a:srgbClr val="9C0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Technical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 b="1">
                <a:solidFill>
                  <a:srgbClr val="7300BF"/>
                </a:solidFill>
              </a:defRPr>
            </a:pPr>
            <a:r>
              <a:t>Non-Parametric Statistics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Median/MAD for jitter analysis (robust to outliers)</a:t>
            </a:r>
          </a:p>
          <a:p>
            <a:pPr>
              <a:spcBef>
                <a:spcPts val="600"/>
              </a:spcBef>
              <a:defRPr sz="1800" b="1">
                <a:solidFill>
                  <a:srgbClr val="7300BF"/>
                </a:solidFill>
              </a:defRPr>
            </a:pPr>
            <a:r>
              <a:t>Hardware-in-Loop Testing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MATLAB can connect oscilloscope for ground truth</a:t>
            </a:r>
          </a:p>
          <a:p>
            <a:pPr>
              <a:spcBef>
                <a:spcPts val="600"/>
              </a:spcBef>
              <a:defRPr sz="1800" b="1">
                <a:solidFill>
                  <a:srgbClr val="7300BF"/>
                </a:solidFill>
              </a:defRPr>
            </a:pPr>
            <a:r>
              <a:t>Graceful Degradation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Tests pass/skip when hardware offline (useful for CI/CD)</a:t>
            </a:r>
          </a:p>
          <a:p>
            <a:pPr>
              <a:spcBef>
                <a:spcPts val="600"/>
              </a:spcBef>
              <a:defRPr sz="1800" b="1">
                <a:solidFill>
                  <a:srgbClr val="7300BF"/>
                </a:solidFill>
              </a:defRPr>
            </a:pPr>
            <a:r>
              <a:t>Three-Tier Architecture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Tests at each abstraction level isolate issues cleanly</a:t>
            </a:r>
          </a:p>
          <a:p>
            <a:pPr>
              <a:spcBef>
                <a:spcPts val="600"/>
              </a:spcBef>
              <a:defRPr sz="1800" b="1">
                <a:solidFill>
                  <a:srgbClr val="7300BF"/>
                </a:solidFill>
              </a:defRPr>
            </a:pPr>
            <a:r>
              <a:t>Production-Ready Code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95+ tests discoverable in Visual Studio + MATLAB</a:t>
            </a:r>
          </a:p>
          <a:p>
            <a:pPr>
              <a:spcBef>
                <a:spcPts val="600"/>
              </a:spcBef>
              <a:defRPr sz="1800" b="1">
                <a:solidFill>
                  <a:srgbClr val="7300BF"/>
                </a:solidFill>
              </a:defRPr>
            </a:pPr>
            <a:r>
              <a:t>Documentation at Scale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58 KB Word doc with inputs/outputs/diagnosis per test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9C02FA"/>
          </a:solidFill>
          <a:ln>
            <a:solidFill>
              <a:srgbClr val="9C0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Experimental Code • End of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 b="1">
                <a:solidFill>
                  <a:srgbClr val="7300BF"/>
                </a:solidFill>
              </a:defRPr>
            </a:pPr>
            <a:r>
              <a:t>Timeline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Entire framework built in final contract week (May 2026)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113 tests written, documented, and packaged for handoff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Experimental code—prioritized completeness over polish</a:t>
            </a:r>
          </a:p>
          <a:p>
            <a:pPr>
              <a:spcBef>
                <a:spcPts val="600"/>
              </a:spcBef>
              <a:defRPr sz="1800" b="1">
                <a:solidFill>
                  <a:srgbClr val="7300BF"/>
                </a:solidFill>
              </a:defRPr>
            </a:pPr>
            <a:r>
              <a:t>What Was Skipped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Some tests need hardware-specific threshold tuning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Full CI/CD integration (test discovery works, but pipeline TBD)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Performance optimization (code is correct, not yet optimized)</a:t>
            </a:r>
          </a:p>
          <a:p>
            <a:pPr>
              <a:spcBef>
                <a:spcPts val="600"/>
              </a:spcBef>
              <a:defRPr sz="1800" b="1">
                <a:solidFill>
                  <a:srgbClr val="7300BF"/>
                </a:solidFill>
              </a:defRPr>
            </a:pPr>
            <a:r>
              <a:t>What Was Delivered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✓ Complete test framework (all 113 tests functional)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✓ Comprehensive documentation (1174 paragraphs)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✓ Professional handoff package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✓ Clear diagnostic flowcharts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9C02FA"/>
          </a:solidFill>
          <a:ln>
            <a:solidFill>
              <a:srgbClr val="9C0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Portfolio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 b="1">
                <a:solidFill>
                  <a:srgbClr val="7300BF"/>
                </a:solidFill>
              </a:defRPr>
            </a:pPr>
            <a:r>
              <a:t>Problem Solving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Identified root cause: no regression tests → impossible to debug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Designed 3-tier pyramid to isolate failures at correct level</a:t>
            </a:r>
          </a:p>
          <a:p>
            <a:pPr>
              <a:spcBef>
                <a:spcPts val="600"/>
              </a:spcBef>
              <a:defRPr sz="1800" b="1">
                <a:solidFill>
                  <a:srgbClr val="7300BF"/>
                </a:solidFill>
              </a:defRPr>
            </a:pPr>
            <a:r>
              <a:t>Full-Stack Engineering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C# unit testing expertise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MATLAB hardware orchestration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Camera Link / NI-DAQ integration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Oscilloscope-based ground truth validation</a:t>
            </a:r>
          </a:p>
          <a:p>
            <a:pPr>
              <a:spcBef>
                <a:spcPts val="600"/>
              </a:spcBef>
              <a:defRPr sz="1800" b="1">
                <a:solidFill>
                  <a:srgbClr val="7300BF"/>
                </a:solidFill>
              </a:defRPr>
            </a:pPr>
            <a:r>
              <a:t>Pressure &amp; Delivery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113 tests designed, implemented, documented in 1 week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Professional handoff despite time constraints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Honest about experimental status without underselling scope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300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FireflyControl Test Framework: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C8A1FF"/>
                </a:solidFill>
              </a:defRPr>
            </a:pPr>
            <a:r>
              <a:t>From Debug Blind Spot to Systematic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DCC8FF"/>
                </a:solidFill>
              </a:defRPr>
            </a:pPr>
            <a:r>
              <a:t>113 tests • 3-tier pyramid • Orca Flash + NI-DAQ integration</a:t>
            </a:r>
          </a:p>
          <a:p>
            <a:pPr>
              <a:defRPr sz="1300">
                <a:solidFill>
                  <a:srgbClr val="DCC8FF"/>
                </a:solidFill>
              </a:defRPr>
            </a:pPr>
            <a:r>
              <a:t>Experimental code ready for next engineer to validate and deploy</a:t>
            </a:r>
          </a:p>
          <a:p>
            <a:pPr>
              <a:defRPr sz="1300">
                <a:solidFill>
                  <a:srgbClr val="DCC8FF"/>
                </a:solidFill>
              </a:defRPr>
            </a:pPr>
            <a:r>
              <a:t>Solves: camera stall debugging on high core count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